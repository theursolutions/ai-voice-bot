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692640" y="4114800"/>
            <a:ext cx="3291840" cy="329184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195560" y="4617720"/>
            <a:ext cx="2286000" cy="228600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52760" y="5074920"/>
            <a:ext cx="1371600" cy="1371600"/>
          </a:xfrm>
          <a:prstGeom prst="ellipse">
            <a:avLst/>
          </a:prstGeom>
          <a:noFill/>
          <a:ln w="12700">
            <a:solidFill>
              <a:srgbClr val="141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841248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768096"/>
            <a:ext cx="91440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spc="300">
                <a:solidFill>
                  <a:srgbClr val="8A97C2"/>
                </a:solidFill>
                <a:latin typeface="Consolas"/>
              </a:rPr>
              <a:t>SELF-HOSTED  ·  MULTILINGUAL  ·  OMNICHANNEL VOICE 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3364" y="2123831"/>
            <a:ext cx="60995" cy="37005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28592" y="2041811"/>
            <a:ext cx="60995" cy="534097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173820" y="2019107"/>
            <a:ext cx="60995" cy="57950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319048" y="2050196"/>
            <a:ext cx="60995" cy="517326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64277" y="2101543"/>
            <a:ext cx="60995" cy="414632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609505" y="2116302"/>
            <a:ext cx="60995" cy="385114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754733" y="2113371"/>
            <a:ext cx="60995" cy="390977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899961" y="2051934"/>
            <a:ext cx="60995" cy="513850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045190" y="1980404"/>
            <a:ext cx="60995" cy="656911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190418" y="1943528"/>
            <a:ext cx="60995" cy="73066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2335646" y="1973105"/>
            <a:ext cx="60995" cy="671509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480874" y="2069745"/>
            <a:ext cx="60995" cy="47822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26103" y="2047172"/>
            <a:ext cx="60995" cy="5233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71331" y="1933865"/>
            <a:ext cx="60995" cy="749989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916559" y="1883322"/>
            <a:ext cx="60995" cy="85107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061787" y="1912733"/>
            <a:ext cx="60995" cy="792253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207015" y="2003344"/>
            <a:ext cx="60995" cy="61103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352244" y="2110700"/>
            <a:ext cx="60995" cy="39631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497472" y="2060141"/>
            <a:ext cx="60995" cy="4974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642700" y="2040370"/>
            <a:ext cx="60995" cy="536979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787928" y="2071277"/>
            <a:ext cx="60995" cy="475164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933157" y="2119085"/>
            <a:ext cx="60995" cy="37954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78385" y="2105129"/>
            <a:ext cx="60995" cy="407461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223613" y="2116541"/>
            <a:ext cx="60995" cy="38463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368841" y="2046977"/>
            <a:ext cx="60995" cy="5237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514070" y="1968574"/>
            <a:ext cx="60995" cy="68057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659298" y="1926973"/>
            <a:ext cx="60995" cy="76377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804526" y="1954262"/>
            <a:ext cx="60995" cy="709194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949754" y="2050862"/>
            <a:ext cx="60995" cy="51599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94983" y="2064236"/>
            <a:ext cx="60995" cy="48924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5240211" y="1947584"/>
            <a:ext cx="60995" cy="72255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385439" y="1892354"/>
            <a:ext cx="60995" cy="833011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5530667" y="1915872"/>
            <a:ext cx="60995" cy="78597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75895" y="1999701"/>
            <a:ext cx="60995" cy="618317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278892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7400" b="1">
                <a:solidFill>
                  <a:srgbClr val="EAF0FF"/>
                </a:solidFill>
                <a:latin typeface="Segoe UI Semibold"/>
              </a:rPr>
              <a:t>AI </a:t>
            </a:r>
            <a:r>
              <a:rPr sz="7400" b="1">
                <a:solidFill>
                  <a:srgbClr val="34E0FF"/>
                </a:solidFill>
                <a:latin typeface="Segoe UI Semibold"/>
              </a:rPr>
              <a:t>VOICE</a:t>
            </a:r>
            <a:r>
              <a:rPr sz="7400" b="1">
                <a:solidFill>
                  <a:srgbClr val="EAF0FF"/>
                </a:solidFill>
                <a:latin typeface="Segoe UI Semibold"/>
              </a:rPr>
              <a:t> CRM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" y="411480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0">
                <a:solidFill>
                  <a:srgbClr val="EAF0FF"/>
                </a:solidFill>
                <a:latin typeface="Segoe UI"/>
              </a:rPr>
              <a:t>The multi-tenant voice agent that </a:t>
            </a:r>
            <a:r>
              <a:rPr sz="2100" b="0">
                <a:solidFill>
                  <a:srgbClr val="EAF0FF"/>
                </a:solidFill>
                <a:latin typeface="Segoe UI"/>
              </a:rPr>
              <a:t>listens, reasons on your data, and turns </a:t>
            </a:r>
            <a:r>
              <a:rPr sz="2100" b="1">
                <a:solidFill>
                  <a:srgbClr val="34E0FF"/>
                </a:solidFill>
                <a:latin typeface="Segoe UI"/>
              </a:rPr>
              <a:t>conversations into CRM leads</a:t>
            </a:r>
            <a:r>
              <a:rPr sz="2100" b="0">
                <a:solidFill>
                  <a:srgbClr val="EAF0FF"/>
                </a:solidFill>
                <a:latin typeface="Segoe UI"/>
              </a:rPr>
              <a:t>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59536" y="5074920"/>
            <a:ext cx="1276502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5074920"/>
            <a:ext cx="127650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E0FF"/>
                </a:solidFill>
                <a:latin typeface="Consolas"/>
              </a:rPr>
              <a:t>VOICE + CHAT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37206" y="5074920"/>
            <a:ext cx="2531059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37206" y="5074920"/>
            <a:ext cx="2531059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A78BFA"/>
                </a:solidFill>
                <a:latin typeface="Consolas"/>
              </a:rPr>
              <a:t>WHATSAPP · IG · FB · PHONE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069433" y="5074920"/>
            <a:ext cx="1276502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69433" y="5074920"/>
            <a:ext cx="127650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6366F1"/>
                </a:solidFill>
                <a:latin typeface="Consolas"/>
              </a:rPr>
              <a:t>RAG-GROUNDED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47104" y="5074920"/>
            <a:ext cx="1455724" cy="329184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47104" y="5074920"/>
            <a:ext cx="145572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 spc="100">
                <a:solidFill>
                  <a:srgbClr val="34D399"/>
                </a:solidFill>
                <a:latin typeface="Consolas"/>
              </a:rPr>
              <a:t>100% LOCAL LLM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spc="150">
                <a:solidFill>
                  <a:srgbClr val="3A4680"/>
                </a:solidFill>
                <a:latin typeface="Consolas"/>
              </a:rPr>
              <a:t>PRODUCT · PITCH · TECHNICAL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THE PROBLEM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Conversations happen. </a:t>
            </a:r>
            <a:r>
              <a:rPr sz="3400" b="1">
                <a:solidFill>
                  <a:srgbClr val="8A97C2"/>
                </a:solidFill>
                <a:latin typeface="Segoe UI Semibold"/>
              </a:rPr>
              <a:t>Data doesn't follow.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68880"/>
            <a:ext cx="2542032" cy="306324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" y="2468880"/>
            <a:ext cx="2249424" cy="45720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Leads slip through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202996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Website chats, DMs and calls go unlogged. High-intent buyers are lost between channels.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5" y="2468880"/>
            <a:ext cx="2542032" cy="306324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2468880"/>
            <a:ext cx="2249424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⌨️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Manual CRM entry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858768"/>
            <a:ext cx="202996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Reps retype what customers already said. Slow, inconsistent, and it never scales.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3" y="2468880"/>
            <a:ext cx="2542032" cy="306324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0527" y="2468880"/>
            <a:ext cx="2249424" cy="4572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20255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0255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5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Generic bots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5" y="3858768"/>
            <a:ext cx="202996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Off-the-shelf assistants answer from thin air — not from your catalogue, pricing or docs.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1" y="2468880"/>
            <a:ext cx="2542032" cy="306324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5" y="2468880"/>
            <a:ext cx="2249424" cy="457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81743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3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☁️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3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Cloud AI tax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3" y="3858768"/>
            <a:ext cx="202996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Per-token bills and data leaving your walls. A non-starter for regulated or cost-sensitive teams.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" y="57150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The result: </a:t>
            </a:r>
            <a:r>
              <a:rPr sz="1400" b="1">
                <a:solidFill>
                  <a:srgbClr val="EAF0FF"/>
                </a:solidFill>
                <a:latin typeface="Segoe UI"/>
              </a:rPr>
              <a:t>teams pay more for AI that captures less.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03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PRODUCT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02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One agent that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talks, thinks, and captures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2140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8A97C2"/>
                </a:solidFill>
                <a:latin typeface="Segoe UI"/>
              </a:rPr>
              <a:t>Drop a voice + chat agent onto any site or channel. It understands the customer, answers from </a:t>
            </a:r>
            <a:r>
              <a:rPr sz="1400" b="1">
                <a:solidFill>
                  <a:srgbClr val="EAF0FF"/>
                </a:solidFill>
                <a:latin typeface="Segoe UI"/>
              </a:rPr>
              <a:t>your</a:t>
            </a:r>
            <a:r>
              <a:rPr sz="1400" b="0">
                <a:solidFill>
                  <a:srgbClr val="8A97C2"/>
                </a:solidFill>
                <a:latin typeface="Segoe UI"/>
              </a:rPr>
              <a:t> data, and writes structured leads straight into the CRM.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28803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697480"/>
            <a:ext cx="64008" cy="288036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52144" y="2999232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298094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2144" y="384048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34E0FF"/>
                </a:solidFill>
                <a:latin typeface="Consolas"/>
              </a:rPr>
              <a:t>01 / TALK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F0FF"/>
                </a:solidFill>
                <a:latin typeface="Segoe UI Semibold"/>
              </a:rPr>
              <a:t>Talk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4590288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Real-time voice + chat with a cloned, multilingual voice — on web, WhatsApp, Instagram, Facebook and phone.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98848" y="2697480"/>
            <a:ext cx="3383280" cy="28803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98848" y="2697480"/>
            <a:ext cx="64008" cy="28803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809744" y="2999232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9744" y="298094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🧠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384048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6366F1"/>
                </a:solidFill>
                <a:latin typeface="Consolas"/>
              </a:rPr>
              <a:t>02 / UNDERSTAND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F0FF"/>
                </a:solidFill>
                <a:latin typeface="Segoe UI Semibold"/>
              </a:rPr>
              <a:t>Understand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4590288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Every reply is grounded on your data via a local RAG layer — website, documents, databases and snapshots.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56448" y="2697480"/>
            <a:ext cx="3383280" cy="288036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56448" y="2697480"/>
            <a:ext cx="64008" cy="288036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467344" y="2999232"/>
            <a:ext cx="658368" cy="658368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67344" y="2980944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🧲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7344" y="384048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8B5CF6"/>
                </a:solidFill>
                <a:latin typeface="Consolas"/>
              </a:rPr>
              <a:t>03 / CAPTURE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41148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EAF0FF"/>
                </a:solidFill>
                <a:latin typeface="Segoe UI Semibold"/>
              </a:rPr>
              <a:t>Capture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67344" y="4590288"/>
            <a:ext cx="277977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The agent extracts name, intent and contact details as structured JSON and pushes clean leads to your CRM.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04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HOW IT WORKS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03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Two planes,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cleanly separated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606040"/>
            <a:ext cx="2148840" cy="137160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5875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606040"/>
            <a:ext cx="214884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2752344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" y="3136392"/>
            <a:ext cx="1856232" cy="7680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A97C2"/>
                </a:solidFill>
                <a:latin typeface="Consolas"/>
              </a:rPr>
              <a:t>Web widget
WhatsApp · IG · FB
Phone (Twilio)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2331720"/>
            <a:ext cx="3063240" cy="15087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77639" y="2331720"/>
            <a:ext cx="306324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60520" y="2478024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ADMIN — CONTROL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23944" y="2862072"/>
            <a:ext cx="2770632" cy="905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A97C2"/>
                </a:solidFill>
                <a:latin typeface="Consolas"/>
              </a:rPr>
              <a:t>Laravel 10 · sessions, auth,
multi-tenant routing,
lead persistence, mints JWT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4160520"/>
            <a:ext cx="3063240" cy="146304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5875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977639" y="4160520"/>
            <a:ext cx="306324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60520" y="4306824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VOICE-ENGINE — DATA PLANE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23944" y="4690872"/>
            <a:ext cx="277063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A97C2"/>
                </a:solidFill>
                <a:latin typeface="Consolas"/>
              </a:rPr>
              <a:t>FastAPI · stateless
STT → LLM → TTS
JWT-authenticated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01000" y="2331720"/>
            <a:ext cx="2788920" cy="15087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001000" y="2331720"/>
            <a:ext cx="27889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79" y="2478024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AI RUNTIME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47304" y="2862072"/>
            <a:ext cx="2496312" cy="90525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A97C2"/>
                </a:solidFill>
                <a:latin typeface="Consolas"/>
              </a:rPr>
              <a:t>Ollama (local LLMs)
faster-whisper · Coqui XTTS
Groq / Gemini (opt-in)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001000" y="4160520"/>
            <a:ext cx="2788920" cy="146304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01000" y="4160520"/>
            <a:ext cx="278892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79" y="4306824"/>
            <a:ext cx="2423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DATA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47304" y="4690872"/>
            <a:ext cx="2496312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8A97C2"/>
                </a:solidFill>
                <a:latin typeface="Consolas"/>
              </a:rPr>
              <a:t>DuckDB · local embeddings
MySQL (per-tenant DBs)
RAG source router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990088" y="3246120"/>
            <a:ext cx="987552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990088" y="3246120"/>
            <a:ext cx="987552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394960" y="3840480"/>
            <a:ext cx="25603" cy="320040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040880" y="3063240"/>
            <a:ext cx="960120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040880" y="4846320"/>
            <a:ext cx="960120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880360" y="4846320"/>
            <a:ext cx="1097280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1248" y="58064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4E0FF"/>
                </a:solidFill>
                <a:latin typeface="Consolas"/>
              </a:rPr>
              <a:t>Browser ↔ Admin </a:t>
            </a:r>
            <a:r>
              <a:rPr sz="1100" b="0">
                <a:solidFill>
                  <a:srgbClr val="8A97C2"/>
                </a:solidFill>
                <a:latin typeface="Consolas"/>
              </a:rPr>
              <a:t>(persistence, tenancy)   │   </a:t>
            </a:r>
            <a:r>
              <a:rPr sz="1100" b="1">
                <a:solidFill>
                  <a:srgbClr val="A78BFA"/>
                </a:solidFill>
                <a:latin typeface="Consolas"/>
              </a:rPr>
              <a:t>Browser ↔ Voice-Engine </a:t>
            </a:r>
            <a:r>
              <a:rPr sz="1100" b="0">
                <a:solidFill>
                  <a:srgbClr val="8A97C2"/>
                </a:solidFill>
                <a:latin typeface="Consolas"/>
              </a:rPr>
              <a:t>(streamed audio + tokens, short-lived JWT)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05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PRODUCT TOUR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04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WHAT'S INSIDE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A full platform,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not a chat 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2024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2024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2024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28600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42416" y="2487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🎙️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246888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Voice + chat widget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" y="2962656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Embeddable widget with cloned voice, drops onto any site.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228600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00016" y="2487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246888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Omnichannel inbox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2962656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WhatsApp, Instagram, Facebook &amp; phone — one threaded agent.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56448" y="2286000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6" y="24871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42832" y="2468880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Visual flow builder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75904" y="2962656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Design conversation flows and per-table AI access, no code.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1248" y="3639312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42416" y="38404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2416" y="38221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7632" y="382219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Data sources &amp; RAG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704" y="4315968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Attach websites, docs, databases &amp; snapshots as grounding.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98848" y="3639312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700016" y="38404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00016" y="38221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🧲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85232" y="382219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Lead extraction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18304" y="4315968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Structured JSON leads captured from every conversation.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156448" y="3639312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357616" y="384048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57616" y="3822191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🗣️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42832" y="3822191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Multi-language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75904" y="4315968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Auto-detects the user's language and replies in kind.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4992624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42416" y="51937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2416" y="5175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27632" y="51755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Roles &amp; teams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" y="5669280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Per-client roles, module + per-project RBAC, invites.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98848" y="4992624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700016" y="51937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0016" y="5175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2" y="51755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Brain settings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18304" y="5669280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Pick models &amp; providers per project from the dashboard.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56448" y="4992624"/>
            <a:ext cx="3383280" cy="11887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357616" y="51937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57616" y="517550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🏢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42832" y="5175504"/>
            <a:ext cx="2468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Multi-tenant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375904" y="5669280"/>
            <a:ext cx="296265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Isolated per-project databases, provisioned on demand.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06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TECHNICAL · VOICE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05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THE VOICE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Speech in,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streamed speech out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3246120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15568" y="2724912"/>
            <a:ext cx="26974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STAGE 01 · CAPTURE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035808"/>
            <a:ext cx="26974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🎤  </a:t>
            </a:r>
            <a:r>
              <a:rPr sz="3000" b="1">
                <a:solidFill>
                  <a:srgbClr val="EAF0FF"/>
                </a:solidFill>
                <a:latin typeface="Segoe UI Semibold"/>
              </a:rPr>
              <a:t>STT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73075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E0FF"/>
                </a:solidFill>
                <a:latin typeface="Segoe UI"/>
              </a:rPr>
              <a:t>faster-whisper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041648"/>
            <a:ext cx="26791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Streaming transcription, CPU int8, auto language detect.</a:t>
            </a:r>
          </a:p>
        </p:txBody>
      </p:sp>
      <p:sp>
        <p:nvSpPr>
          <p:cNvPr id="26" name="Chevron 25"/>
          <p:cNvSpPr/>
          <p:nvPr/>
        </p:nvSpPr>
        <p:spPr>
          <a:xfrm>
            <a:off x="4178807" y="3429000"/>
            <a:ext cx="310896" cy="402336"/>
          </a:xfrm>
          <a:prstGeom prst="chevron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90288" y="2514600"/>
            <a:ext cx="3246120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2724912"/>
            <a:ext cx="26974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6366F1"/>
                </a:solidFill>
                <a:latin typeface="Consolas"/>
              </a:rPr>
              <a:t>STAGE 02 · REASON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64607" y="3035808"/>
            <a:ext cx="26974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🧠  </a:t>
            </a:r>
            <a:r>
              <a:rPr sz="3000" b="1">
                <a:solidFill>
                  <a:srgbClr val="EAF0FF"/>
                </a:solidFill>
                <a:latin typeface="Segoe UI Semibold"/>
              </a:rPr>
              <a:t>LLM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64607" y="373075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Segoe UI"/>
              </a:rPr>
              <a:t>Ollama · local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4607" y="4041648"/>
            <a:ext cx="26791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Grounded reply from your data; Groq/Gemini opt-in.</a:t>
            </a:r>
          </a:p>
        </p:txBody>
      </p:sp>
      <p:sp>
        <p:nvSpPr>
          <p:cNvPr id="32" name="Chevron 31"/>
          <p:cNvSpPr/>
          <p:nvPr/>
        </p:nvSpPr>
        <p:spPr>
          <a:xfrm>
            <a:off x="7927848" y="3429000"/>
            <a:ext cx="310896" cy="402336"/>
          </a:xfrm>
          <a:prstGeom prst="chevron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339327" y="2514600"/>
            <a:ext cx="3246120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13648" y="2724912"/>
            <a:ext cx="26974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8B5CF6"/>
                </a:solidFill>
                <a:latin typeface="Consolas"/>
              </a:rPr>
              <a:t>STAGE 03 · SPEAK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3035808"/>
            <a:ext cx="269747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EAF0FF"/>
                </a:solidFill>
                <a:latin typeface="Segoe UI Emoji"/>
              </a:rPr>
              <a:t>🔊  </a:t>
            </a:r>
            <a:r>
              <a:rPr sz="3000" b="1">
                <a:solidFill>
                  <a:srgbClr val="EAF0FF"/>
                </a:solidFill>
                <a:latin typeface="Segoe UI Semibold"/>
              </a:rPr>
              <a:t>TTS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13648" y="3730752"/>
            <a:ext cx="26974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B5CF6"/>
                </a:solidFill>
                <a:latin typeface="Segoe UI"/>
              </a:rPr>
              <a:t>Coqui XTTS-v2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4041648"/>
            <a:ext cx="2679191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Cloned multilingual voice, synthesised sentence-by-sentence.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" y="5074920"/>
            <a:ext cx="10506456" cy="868680"/>
          </a:xfrm>
          <a:prstGeom prst="roundRect">
            <a:avLst>
              <a:gd name="adj" fmla="val 12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1248" y="5074920"/>
            <a:ext cx="64008" cy="86868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97280" y="5175504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34E0FF"/>
                </a:solidFill>
                <a:latin typeface="Consolas"/>
              </a:rPr>
              <a:t>REAL-TIME PATH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" y="5458968"/>
            <a:ext cx="6309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8A97C2"/>
                </a:solidFill>
                <a:latin typeface="Segoe UI"/>
              </a:rPr>
              <a:t>Full-duplex over </a:t>
            </a:r>
            <a:r>
              <a:rPr sz="1200" b="1">
                <a:solidFill>
                  <a:srgbClr val="EAF0FF"/>
                </a:solidFill>
                <a:latin typeface="Consolas"/>
              </a:rPr>
              <a:t>WebSocket /ws/turn</a:t>
            </a:r>
            <a:r>
              <a:rPr sz="1200" b="0">
                <a:solidFill>
                  <a:srgbClr val="8A97C2"/>
                </a:solidFill>
                <a:latin typeface="Segoe UI"/>
              </a:rPr>
              <a:t> — audio streams back per sentence so replies start before the model finishes.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77226" y="5382661"/>
            <a:ext cx="60807" cy="25319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7822006" y="5326542"/>
            <a:ext cx="60807" cy="36543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966786" y="5311008"/>
            <a:ext cx="60807" cy="396503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11566" y="5332279"/>
            <a:ext cx="60807" cy="35396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56346" y="5367412"/>
            <a:ext cx="60807" cy="28369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401126" y="5377510"/>
            <a:ext cx="60807" cy="263499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45906" y="5375504"/>
            <a:ext cx="60807" cy="26751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690686" y="5333469"/>
            <a:ext cx="60807" cy="351581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35466" y="5284527"/>
            <a:ext cx="60807" cy="449465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980246" y="5259296"/>
            <a:ext cx="60807" cy="49992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25026" y="5279533"/>
            <a:ext cx="60807" cy="459453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269806" y="5345655"/>
            <a:ext cx="60807" cy="32720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414586" y="5330210"/>
            <a:ext cx="60807" cy="358098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59366" y="5252684"/>
            <a:ext cx="60807" cy="51315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704146" y="5218102"/>
            <a:ext cx="60807" cy="58231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848926" y="5238225"/>
            <a:ext cx="60807" cy="542068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993706" y="5300223"/>
            <a:ext cx="60807" cy="41807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138486" y="5373677"/>
            <a:ext cx="60807" cy="27116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283266" y="5339084"/>
            <a:ext cx="60807" cy="340351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10428046" y="5325556"/>
            <a:ext cx="60807" cy="367407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10572826" y="5346703"/>
            <a:ext cx="60807" cy="325112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10717606" y="5379414"/>
            <a:ext cx="60807" cy="25969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10862386" y="5369865"/>
            <a:ext cx="60807" cy="278789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007166" y="5377673"/>
            <a:ext cx="60807" cy="263172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07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TECHNICAL · TENANCY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06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MULTI-TENANCY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Every client,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walled off by design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0312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7C2"/>
                </a:solidFill>
                <a:latin typeface="Segoe UI"/>
              </a:rPr>
              <a:t>Three database roles, three Laravel connections. </a:t>
            </a:r>
            <a:r>
              <a:rPr sz="1250" b="1">
                <a:solidFill>
                  <a:srgbClr val="EAF0FF"/>
                </a:solidFill>
                <a:latin typeface="Consolas"/>
              </a:rPr>
              <a:t>TenantManager::useFor($project)</a:t>
            </a:r>
            <a:r>
              <a:rPr sz="1350" b="0">
                <a:solidFill>
                  <a:srgbClr val="8A97C2"/>
                </a:solidFill>
                <a:latin typeface="Segoe UI"/>
              </a:rPr>
              <a:t> swaps connections per request.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697480"/>
            <a:ext cx="33832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29077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8A97C2"/>
                </a:solidFill>
                <a:latin typeface="Consolas"/>
              </a:rPr>
              <a:t>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16382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6366F1"/>
                </a:solidFill>
                <a:latin typeface="Segoe UI Semibold"/>
              </a:rPr>
              <a:t>config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712463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Consolas"/>
              </a:rPr>
              <a:t>ai-crm-config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15568" y="4114800"/>
            <a:ext cx="2834640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4224528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Users, projects, clients, plans, jobs.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02920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Segoe UI"/>
              </a:rPr>
              <a:t>→ </a:t>
            </a:r>
            <a:r>
              <a:rPr sz="1050" b="1">
                <a:solidFill>
                  <a:srgbClr val="EAF0FF"/>
                </a:solidFill>
                <a:latin typeface="Consolas"/>
              </a:rPr>
              <a:t>Provisioned once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98848" y="269748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98848" y="2697480"/>
            <a:ext cx="338328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3168" y="29077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8A97C2"/>
                </a:solidFill>
                <a:latin typeface="Consolas"/>
              </a:rPr>
              <a:t>CONNECTION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316382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34E0FF"/>
                </a:solidFill>
                <a:latin typeface="Segoe UI Semibold"/>
              </a:rPr>
              <a:t>tenant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73168" y="3712463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Consolas"/>
              </a:rPr>
              <a:t>ai-crm-client-{id}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3168" y="4114800"/>
            <a:ext cx="2834640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773168" y="4224528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Sessions, messages, leads, voices, summaries — one DB per project.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73168" y="502920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34E0FF"/>
                </a:solidFill>
                <a:latin typeface="Segoe UI"/>
              </a:rPr>
              <a:t>→ </a:t>
            </a:r>
            <a:r>
              <a:rPr sz="1050" b="1">
                <a:solidFill>
                  <a:srgbClr val="EAF0FF"/>
                </a:solidFill>
                <a:latin typeface="Consolas"/>
              </a:rPr>
              <a:t>tenant:provision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56448" y="2697480"/>
            <a:ext cx="3383280" cy="2743200"/>
          </a:xfrm>
          <a:prstGeom prst="roundRect">
            <a:avLst>
              <a:gd name="adj" fmla="val 8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56448" y="2697480"/>
            <a:ext cx="338328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30768" y="2907792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spc="150">
                <a:solidFill>
                  <a:srgbClr val="8A97C2"/>
                </a:solidFill>
                <a:latin typeface="Consolas"/>
              </a:rPr>
              <a:t>CONNECTION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30768" y="3163824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8B5CF6"/>
                </a:solidFill>
                <a:latin typeface="Segoe UI Semibold"/>
              </a:rPr>
              <a:t>client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30768" y="3712463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Consolas"/>
              </a:rPr>
              <a:t>customer-supplied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430768" y="4114800"/>
            <a:ext cx="2834640" cy="18288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30768" y="4224528"/>
            <a:ext cx="28163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The customer's own CRM tables — read-only AI SQL target.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30768" y="5029200"/>
            <a:ext cx="28346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8B5CF6"/>
                </a:solidFill>
                <a:latin typeface="Segoe UI"/>
              </a:rPr>
              <a:t>→ </a:t>
            </a:r>
            <a:r>
              <a:rPr sz="1050" b="1">
                <a:solidFill>
                  <a:srgbClr val="EAF0FF"/>
                </a:solidFill>
                <a:latin typeface="Consolas"/>
              </a:rPr>
              <a:t>By the customer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" y="56235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The voice-engine never touches a database — it's a pure, stateless compute layer.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08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TECHNICAL · DATA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07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GROUNDED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Answers from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your data</a:t>
            </a:r>
            <a:r>
              <a:rPr sz="3400" b="1">
                <a:solidFill>
                  <a:srgbClr val="EAF0FF"/>
                </a:solidFill>
                <a:latin typeface="Segoe UI Semibold"/>
              </a:rPr>
              <a:t>, not guesses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4937760" cy="320040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697480"/>
            <a:ext cx="4572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34E0FF"/>
                </a:solidFill>
                <a:latin typeface="Consolas"/>
              </a:rPr>
              <a:t>SOURCE 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999232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Queries every attached source before the LLM replies, then injects results as reference context.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3611880"/>
            <a:ext cx="4480560" cy="438912"/>
          </a:xfrm>
          <a:prstGeom prst="roundRect">
            <a:avLst>
              <a:gd name="adj" fmla="val 20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5296" y="3611880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3611880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Website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3611880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crawled &amp; indexed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123944"/>
            <a:ext cx="4480560" cy="438912"/>
          </a:xfrm>
          <a:prstGeom prst="roundRect">
            <a:avLst>
              <a:gd name="adj" fmla="val 20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25296" y="4123944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4123944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Documents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123944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PDF / CSV / TXT / DOCX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4636008"/>
            <a:ext cx="4480560" cy="438912"/>
          </a:xfrm>
          <a:prstGeom prst="roundRect">
            <a:avLst>
              <a:gd name="adj" fmla="val 20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5296" y="4636008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🗄️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4636008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Database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83280" y="4636008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live SQL, per-table access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5148072"/>
            <a:ext cx="4480560" cy="438912"/>
          </a:xfrm>
          <a:prstGeom prst="roundRect">
            <a:avLst>
              <a:gd name="adj" fmla="val 20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25296" y="5148072"/>
            <a:ext cx="4572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37360" y="5148072"/>
            <a:ext cx="18288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Snapshots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83280" y="5148072"/>
            <a:ext cx="2103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auto-tabled uploads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89320" y="2514600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989320" y="2514600"/>
            <a:ext cx="54864" cy="9601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208776" y="277063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8776" y="27523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93992" y="2642616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Unified DuckDB layer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2935224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8A97C2"/>
                </a:solidFill>
                <a:latin typeface="Segoe UI"/>
              </a:rPr>
              <a:t>All sources on one embedded DB per project — snapshots as SQL, knowledge as full-text search. No external vector DB to run.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89320" y="3602736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989320" y="3602736"/>
            <a:ext cx="54864" cy="9601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208776" y="3858768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08776" y="38404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93992" y="3730752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Local embeddings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93992" y="4023360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8A97C2"/>
                </a:solidFill>
                <a:latin typeface="Segoe UI"/>
              </a:rPr>
              <a:t>Vectorised on-box via Ollama (nomic-embed-text). Nothing is shipped to a cloud embedding API.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89320" y="4690872"/>
            <a:ext cx="5349240" cy="96012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989320" y="4690872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208776" y="494690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08776" y="492861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🛡️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93992" y="4818888"/>
            <a:ext cx="4389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Per-table AI access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93992" y="5111496"/>
            <a:ext cx="4434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30" b="0">
                <a:solidFill>
                  <a:srgbClr val="8A97C2"/>
                </a:solidFill>
                <a:latin typeface="Segoe UI"/>
              </a:rPr>
              <a:t>Owners choose exactly which tables and columns the agent may read — grounding stays on a leash.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09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WHY IT WINS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08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SELF-HOSTED &amp; PRIVATE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Your models. Your data.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Zero per-token bills.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214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97C2"/>
                </a:solidFill>
                <a:latin typeface="Segoe UI"/>
              </a:rPr>
              <a:t>The whole brain runs on a local Ollama stack. Cloud providers are strictly opt-in, per project.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69748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87121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6366F1"/>
                </a:solidFill>
                <a:latin typeface="Consolas"/>
              </a:rPr>
              <a:t>REASONING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Consolas"/>
              </a:rPr>
              <a:t>qwen2.5:7b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63931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Text-to-SQL, routing, grounded answers.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98848" y="269748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287121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FAST 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3168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Consolas"/>
              </a:rPr>
              <a:t>llama3.2:1b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73168" y="363931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Snappy conversational turns, low latency.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56448" y="2697480"/>
            <a:ext cx="3383280" cy="160020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30768" y="2871216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D399"/>
                </a:solidFill>
                <a:latin typeface="Consolas"/>
              </a:rPr>
              <a:t>EMBEDDINGS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30768" y="3145536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F0FF"/>
                </a:solidFill>
                <a:latin typeface="Consolas"/>
              </a:rPr>
              <a:t>nomic-embed-text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30768" y="3639312"/>
            <a:ext cx="2834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768-dim vectors for RAG, fully on-box.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4480560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46451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🔒  </a:t>
            </a:r>
            <a:r>
              <a:rPr sz="1400" b="1">
                <a:solidFill>
                  <a:srgbClr val="EAF0FF"/>
                </a:solidFill>
                <a:latin typeface="Segoe UI Semibold"/>
              </a:rPr>
              <a:t>Data never leaves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4748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Conversations, embeddings and CRM stay on your infrastructure.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8848" y="4480560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0" y="46451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💸  </a:t>
            </a:r>
            <a:r>
              <a:rPr sz="1400" b="1">
                <a:solidFill>
                  <a:srgbClr val="EAF0FF"/>
                </a:solidFill>
                <a:latin typeface="Segoe UI Semibold"/>
              </a:rPr>
              <a:t>No usage meter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504748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Fixed compute cost — volume doesn't inflate the bill.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56448" y="4480560"/>
            <a:ext cx="3383280" cy="1234440"/>
          </a:xfrm>
          <a:prstGeom prst="roundRect">
            <a:avLst>
              <a:gd name="adj" fmla="val 10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12480" y="4645152"/>
            <a:ext cx="2926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EAF0FF"/>
                </a:solidFill>
                <a:latin typeface="Segoe UI Emoji"/>
              </a:rPr>
              <a:t>🔓  </a:t>
            </a:r>
            <a:r>
              <a:rPr sz="1400" b="1">
                <a:solidFill>
                  <a:srgbClr val="EAF0FF"/>
                </a:solidFill>
                <a:latin typeface="Segoe UI Semibold"/>
              </a:rPr>
              <a:t>No lock-in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0" y="5047488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8A97C2"/>
                </a:solidFill>
                <a:latin typeface="Segoe UI"/>
              </a:rPr>
              <a:t>Swap models per project; add Groq, Gemini or ElevenLabs when you want.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10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REACH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09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OMNICHANNEL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One agent,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everywhere your customers 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606040"/>
            <a:ext cx="1965960" cy="196596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606040"/>
            <a:ext cx="196596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58468" y="2880360"/>
            <a:ext cx="731520" cy="731520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5846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" y="374903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EAF0FF"/>
                </a:solidFill>
                <a:latin typeface="Segoe UI Semibold"/>
              </a:rPr>
              <a:t>Web widget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411480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Embed on any site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0088" y="2606040"/>
            <a:ext cx="1965960" cy="196596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90088" y="2606040"/>
            <a:ext cx="1965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07308" y="2880360"/>
            <a:ext cx="731520" cy="731520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730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81528" y="374903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EAF0FF"/>
                </a:solidFill>
                <a:latin typeface="Segoe UI Semibold"/>
              </a:rPr>
              <a:t>WhatsApp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81528" y="411480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24h window threading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8928" y="2606040"/>
            <a:ext cx="1965960" cy="196596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38928" y="2606040"/>
            <a:ext cx="1965960" cy="54864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56148" y="2880360"/>
            <a:ext cx="731520" cy="731520"/>
          </a:xfrm>
          <a:prstGeom prst="ellipse">
            <a:avLst/>
          </a:prstGeom>
          <a:solidFill>
            <a:srgbClr val="141C3D"/>
          </a:solidFill>
          <a:ln w="1524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5614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30368" y="374903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EAF0FF"/>
                </a:solidFill>
                <a:latin typeface="Segoe UI Semibold"/>
              </a:rPr>
              <a:t>Instagram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30368" y="411480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DMs &amp; story replies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2606040"/>
            <a:ext cx="1965960" cy="196596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87768" y="2606040"/>
            <a:ext cx="19659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04988" y="2880360"/>
            <a:ext cx="731520" cy="731520"/>
          </a:xfrm>
          <a:prstGeom prst="ellipse">
            <a:avLst/>
          </a:prstGeom>
          <a:solidFill>
            <a:srgbClr val="141C3D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0498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79208" y="374903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EAF0FF"/>
                </a:solidFill>
                <a:latin typeface="Segoe UI Semibold"/>
              </a:rPr>
              <a:t>Facebook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79208" y="411480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Messenger inbox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36608" y="2606040"/>
            <a:ext cx="1965960" cy="196596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36608" y="2606040"/>
            <a:ext cx="1965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53828" y="2880360"/>
            <a:ext cx="731520" cy="731520"/>
          </a:xfrm>
          <a:prstGeom prst="ellipse">
            <a:avLst/>
          </a:prstGeom>
          <a:solidFill>
            <a:srgbClr val="141C3D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53828" y="2862072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EAF0FF"/>
                </a:solidFill>
                <a:latin typeface="Segoe UI Emoji"/>
              </a:rPr>
              <a:t>📞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28048" y="3749039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50" b="1">
                <a:solidFill>
                  <a:srgbClr val="EAF0FF"/>
                </a:solidFill>
                <a:latin typeface="Segoe UI Semibold"/>
              </a:rPr>
              <a:t>Phone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28048" y="4114800"/>
            <a:ext cx="1783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Twilio voice calls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41248" y="4937760"/>
            <a:ext cx="10506456" cy="1005840"/>
          </a:xfrm>
          <a:prstGeom prst="roundRect">
            <a:avLst>
              <a:gd name="adj" fmla="val 12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41248" y="4937760"/>
            <a:ext cx="64008" cy="10058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97280" y="5029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A78BFA"/>
                </a:solidFill>
                <a:latin typeface="Consolas"/>
              </a:rPr>
              <a:t>UNIFIED INBOX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" y="5321808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Per-account threading and a shared agent inbox mean the same brain, memory and lead capture work identically on every channel.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11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REACH · LANGUAGE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10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SPEAKS THEIR LANGUAGE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Detects, mirrors,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and speaks 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6032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60320"/>
            <a:ext cx="54864" cy="91440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2679191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🔍  </a:t>
            </a:r>
            <a:r>
              <a:rPr sz="1500" b="1">
                <a:solidFill>
                  <a:srgbClr val="EAF0FF"/>
                </a:solidFill>
                <a:latin typeface="Segoe UI Semibold"/>
              </a:rPr>
              <a:t>Auto-detect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0175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STT identifies the caller's language on the fly — no manual setting.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611879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3611879"/>
            <a:ext cx="54864" cy="9144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3075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🪞  </a:t>
            </a:r>
            <a:r>
              <a:rPr sz="1500" b="1">
                <a:solidFill>
                  <a:srgbClr val="EAF0FF"/>
                </a:solidFill>
                <a:latin typeface="Segoe UI Semibold"/>
              </a:rPr>
              <a:t>Mirror the user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069079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Replies match the language the customer used; falls back to their picked language, then English.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66344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" y="4663440"/>
            <a:ext cx="54864" cy="9144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97280" y="4782312"/>
            <a:ext cx="5120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AF0FF"/>
                </a:solidFill>
                <a:latin typeface="Segoe UI Emoji"/>
              </a:rPr>
              <a:t>🗣️  </a:t>
            </a:r>
            <a:r>
              <a:rPr sz="1500" b="1">
                <a:solidFill>
                  <a:srgbClr val="EAF0FF"/>
                </a:solidFill>
                <a:latin typeface="Segoe UI Semibold"/>
              </a:rPr>
              <a:t>Cloned voice out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1206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XTTS-v2 speaks the reply in a cloned, multilingual voice.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2560320"/>
            <a:ext cx="4754880" cy="3154680"/>
          </a:xfrm>
          <a:prstGeom prst="roundRect">
            <a:avLst>
              <a:gd name="adj" fmla="val 8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2743200"/>
            <a:ext cx="42062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SUPPORTED · XTTS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200400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3200400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English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02168" y="3200400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8" y="3200400"/>
            <a:ext cx="8503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اردو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17152" y="3200400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3200400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العربية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3730752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0" y="3730752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Español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02168" y="3730752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02168" y="3730752"/>
            <a:ext cx="12893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Français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656064" y="3730752"/>
            <a:ext cx="117957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6064" y="3730752"/>
            <a:ext cx="11795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Deutsch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4261104"/>
            <a:ext cx="1399032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0" y="4261104"/>
            <a:ext cx="139903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Português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21624" y="4261104"/>
            <a:ext cx="630936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21624" y="4261104"/>
            <a:ext cx="63093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中文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217152" y="4261104"/>
            <a:ext cx="74066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4261104"/>
            <a:ext cx="74066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日本語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858000" y="4791456"/>
            <a:ext cx="1069848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0" y="4791456"/>
            <a:ext cx="1069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हिन्दी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92440" y="4791456"/>
            <a:ext cx="1289304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092440" y="4791456"/>
            <a:ext cx="1289304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Italiano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546336" y="4791456"/>
            <a:ext cx="1069848" cy="402336"/>
          </a:xfrm>
          <a:prstGeom prst="roundRect">
            <a:avLst>
              <a:gd name="adj" fmla="val 50000"/>
            </a:avLst>
          </a:prstGeom>
          <a:solidFill>
            <a:srgbClr val="121A3A"/>
          </a:solidFill>
          <a:ln w="1270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546336" y="4791456"/>
            <a:ext cx="1069848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AF0FF"/>
                </a:solidFill>
                <a:latin typeface="Segoe UI"/>
              </a:rPr>
              <a:t>Türkçe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413248"/>
            <a:ext cx="4297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+ more — the widget header lets users switch language live.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12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OPPORTUNITY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11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WHO IT'S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Built for teams who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live in conversations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468880"/>
            <a:ext cx="2542032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87552" y="2468880"/>
            <a:ext cx="2249424" cy="45720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97280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SMBs &amp; D2C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58768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Turn website and DM traffic into booked leads without hiring a night shift.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02735" y="2468880"/>
            <a:ext cx="2542032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49039" y="2468880"/>
            <a:ext cx="2249424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858768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58768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58768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Agencies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58768" y="3858768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Spin up an isolated, branded voice agent per client from one dashboard.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64223" y="2468880"/>
            <a:ext cx="2542032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10527" y="2468880"/>
            <a:ext cx="2249424" cy="45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20255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0255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0255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Multi-brand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0255" y="3858768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Many storefronts, one platform — per-tenant data, models and channels.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25711" y="2468880"/>
            <a:ext cx="2542032" cy="2286000"/>
          </a:xfrm>
          <a:prstGeom prst="roundRect">
            <a:avLst>
              <a:gd name="adj" fmla="val 9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72015" y="2468880"/>
            <a:ext cx="2249424" cy="45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381743" y="2743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141C3D"/>
          </a:solidFill>
          <a:ln w="1270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3" y="272491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EAF0FF"/>
                </a:solidFill>
                <a:latin typeface="Segoe UI Emoji"/>
              </a:rPr>
              <a:t>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3" y="3438144"/>
            <a:ext cx="20299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F0FF"/>
                </a:solidFill>
                <a:latin typeface="Segoe UI Semibold"/>
              </a:rPr>
              <a:t>Regulated / privacy-first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81743" y="3858768"/>
            <a:ext cx="2029967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8A97C2"/>
                </a:solidFill>
                <a:latin typeface="Segoe UI"/>
              </a:rPr>
              <a:t>Keep every conversation and record on-prem with local models.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1248" y="5029200"/>
            <a:ext cx="10506456" cy="914400"/>
          </a:xfrm>
          <a:prstGeom prst="roundRect">
            <a:avLst>
              <a:gd name="adj" fmla="val 12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1248" y="5029200"/>
            <a:ext cx="64008" cy="91440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0" y="5120640"/>
            <a:ext cx="2743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spc="150">
                <a:solidFill>
                  <a:srgbClr val="FBBF24"/>
                </a:solidFill>
                <a:latin typeface="Consolas"/>
              </a:rPr>
              <a:t>WHY NOW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3949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8A97C2"/>
                </a:solidFill>
                <a:latin typeface="Segoe UI"/>
              </a:rPr>
              <a:t>Open local models finally match cloud quality — making a private, self-hosted voice agent affordable for the first time.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13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UNDER THE HOOD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12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Boring where it counts,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sharp where it matters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14600"/>
            <a:ext cx="338328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5568" y="2706624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6366F1"/>
                </a:solidFill>
                <a:latin typeface="Consolas"/>
              </a:rPr>
              <a:t>CONTROL PLANE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15568" y="3200400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98448" y="320040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Laravel 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8448" y="3200400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PHP 8.1+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15568" y="3822191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98448" y="3822191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Sanctum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98448" y="3822191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API auth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15568" y="4443984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98448" y="44439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MySQL 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4443984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tenant DBs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115568" y="5065776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98448" y="506577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Redis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065776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cache / queue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98848" y="251460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498848" y="2514600"/>
            <a:ext cx="338328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73168" y="2706624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34E0FF"/>
                </a:solidFill>
                <a:latin typeface="Consolas"/>
              </a:rPr>
              <a:t>AI RUNTIME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73168" y="3200400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56048" y="320040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Ollama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56048" y="3200400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local LLMs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73168" y="3822191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56048" y="3822191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faster-whisper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56048" y="3822191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STT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773168" y="4443984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56048" y="44439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Coqui XTTS-v2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56048" y="4443984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TTS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73168" y="5065776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56048" y="506577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Groq / Gemini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56048" y="5065776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opt-in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2514600"/>
            <a:ext cx="3383280" cy="3200400"/>
          </a:xfrm>
          <a:prstGeom prst="roundRect">
            <a:avLst>
              <a:gd name="adj" fmla="val 6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56448" y="2514600"/>
            <a:ext cx="33832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0768" y="2706624"/>
            <a:ext cx="28346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spc="150">
                <a:solidFill>
                  <a:srgbClr val="FBBF24"/>
                </a:solidFill>
                <a:latin typeface="Consolas"/>
              </a:rPr>
              <a:t>DATA &amp; OPS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430768" y="3200400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13648" y="3200400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FastAPI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13648" y="3200400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voice-engine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430768" y="3822191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13648" y="3822191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DuckDB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13648" y="3822191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unified data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430768" y="4443984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13648" y="4443984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Docker Compose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13648" y="4443984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deploy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430768" y="5065776"/>
            <a:ext cx="2834640" cy="512064"/>
          </a:xfrm>
          <a:prstGeom prst="roundRect">
            <a:avLst>
              <a:gd name="adj" fmla="val 16000"/>
            </a:avLst>
          </a:prstGeom>
          <a:solidFill>
            <a:srgbClr val="121A3A"/>
          </a:solidFill>
          <a:ln w="9525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13648" y="5065776"/>
            <a:ext cx="182880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AF0FF"/>
                </a:solidFill>
                <a:latin typeface="Segoe UI Semibold"/>
              </a:rPr>
              <a:t>Caddy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13648" y="5065776"/>
            <a:ext cx="256032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7C2"/>
                </a:solidFill>
                <a:latin typeface="Consolas"/>
              </a:rPr>
              <a:t>TLS edge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14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TRACTION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13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WHERE IT STANDS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Shipping today,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not a promise deck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14600"/>
            <a:ext cx="6035040" cy="3246120"/>
          </a:xfrm>
          <a:prstGeom prst="roundRect">
            <a:avLst>
              <a:gd name="adj" fmla="val 5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2688336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34D399"/>
                </a:solidFill>
                <a:latin typeface="Consolas"/>
              </a:rPr>
              <a:t>● 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272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1272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Modular service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4472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4472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Conversation manager +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76732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17320" y="376732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Lead extraction (structured JSON)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08736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408736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Multi-tenant per-project DBs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40740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4074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Visual flow builder + RBAC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7274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17320" y="472744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Omnichannel (WhatsApp/IG/FB)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04748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04748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Real-time voice streaming (WS)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367527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4D399"/>
                </a:solidFill>
                <a:latin typeface="Segoe UI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17320" y="5367527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Local RAG on DuckDB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059168" y="2514600"/>
            <a:ext cx="4297680" cy="3246120"/>
          </a:xfrm>
          <a:prstGeom prst="roundRect">
            <a:avLst>
              <a:gd name="adj" fmla="val 5000"/>
            </a:avLst>
          </a:prstGeom>
          <a:solidFill>
            <a:srgbClr val="0E1530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0" y="2688336"/>
            <a:ext cx="3657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spc="150">
                <a:solidFill>
                  <a:srgbClr val="FBBF24"/>
                </a:solidFill>
                <a:latin typeface="Consolas"/>
              </a:rPr>
              <a:t>◐  NEXT 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0" y="3127248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1272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Browser streaming UI (wiring up)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360273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602736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Telephony (Twilio) end-to-end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407822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078224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CRM OAuth connectors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455371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BBF24"/>
                </a:solidFill>
                <a:latin typeface="Segoe UI"/>
              </a:rPr>
              <a:t>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553712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EAF0FF"/>
                </a:solidFill>
                <a:latin typeface="Segoe UI"/>
              </a:rPr>
              <a:t>Faster CPU TTS / GPU voice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15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WHAT'S NEXT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14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From capture to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full voice-first assistant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05840" y="3566160"/>
            <a:ext cx="10149840" cy="27432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723644" y="3465576"/>
            <a:ext cx="201168" cy="201168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1248" y="242316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253288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34D399"/>
                </a:solidFill>
                <a:latin typeface="Consolas"/>
              </a:rPr>
              <a:t>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" y="27889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Omnichannel capture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3081528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8A97C2"/>
                </a:solidFill>
                <a:latin typeface="Segoe UI"/>
              </a:rPr>
              <a:t>Voice + chat, RAG, leads, multi-tenant — live.</a:t>
            </a:r>
          </a:p>
        </p:txBody>
      </p:sp>
      <p:sp>
        <p:nvSpPr>
          <p:cNvPr id="27" name="Oval 26"/>
          <p:cNvSpPr/>
          <p:nvPr/>
        </p:nvSpPr>
        <p:spPr>
          <a:xfrm>
            <a:off x="3872483" y="3465576"/>
            <a:ext cx="201168" cy="201168"/>
          </a:xfrm>
          <a:prstGeom prst="ellipse">
            <a:avLst/>
          </a:prstGeom>
          <a:solidFill>
            <a:srgbClr val="34E0FF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990088" y="388620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72968" y="399592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34E0FF"/>
                </a:solidFill>
                <a:latin typeface="Consolas"/>
              </a:rPr>
              <a:t>NEXT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72968" y="425196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Telephony live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72968" y="4544568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8A97C2"/>
                </a:solidFill>
                <a:latin typeface="Segoe UI"/>
              </a:rPr>
              <a:t>Full Twilio inbound/outbound voice calls.</a:t>
            </a:r>
          </a:p>
        </p:txBody>
      </p:sp>
      <p:sp>
        <p:nvSpPr>
          <p:cNvPr id="32" name="Oval 31"/>
          <p:cNvSpPr/>
          <p:nvPr/>
        </p:nvSpPr>
        <p:spPr>
          <a:xfrm>
            <a:off x="6021324" y="3465576"/>
            <a:ext cx="201168" cy="201168"/>
          </a:xfrm>
          <a:prstGeom prst="ellipse">
            <a:avLst/>
          </a:prstGeom>
          <a:solidFill>
            <a:srgbClr val="6366F1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38928" y="242316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397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21808" y="253288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6366F1"/>
                </a:solidFill>
                <a:latin typeface="Consolas"/>
              </a:rPr>
              <a:t>SOON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21808" y="27889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CRM connectors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21808" y="3081528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8A97C2"/>
                </a:solidFill>
                <a:latin typeface="Segoe UI"/>
              </a:rPr>
              <a:t>HubSpot, Salesforce, Pipedrive, Zoho sync.</a:t>
            </a:r>
          </a:p>
        </p:txBody>
      </p:sp>
      <p:sp>
        <p:nvSpPr>
          <p:cNvPr id="37" name="Oval 36"/>
          <p:cNvSpPr/>
          <p:nvPr/>
        </p:nvSpPr>
        <p:spPr>
          <a:xfrm>
            <a:off x="8170164" y="3465576"/>
            <a:ext cx="201168" cy="201168"/>
          </a:xfrm>
          <a:prstGeom prst="ellipse">
            <a:avLst/>
          </a:prstGeom>
          <a:solidFill>
            <a:srgbClr val="8B5CF6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287768" y="388620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397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0648" y="399592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8B5CF6"/>
                </a:solidFill>
                <a:latin typeface="Consolas"/>
              </a:rPr>
              <a:t>LATER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0648" y="425196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Faster voice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0648" y="4544568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8A97C2"/>
                </a:solidFill>
                <a:latin typeface="Segoe UI"/>
              </a:rPr>
              <a:t>Piper / GPU TTS for sub-second replies.</a:t>
            </a:r>
          </a:p>
        </p:txBody>
      </p:sp>
      <p:sp>
        <p:nvSpPr>
          <p:cNvPr id="42" name="Oval 41"/>
          <p:cNvSpPr/>
          <p:nvPr/>
        </p:nvSpPr>
        <p:spPr>
          <a:xfrm>
            <a:off x="10319004" y="3465576"/>
            <a:ext cx="201168" cy="201168"/>
          </a:xfrm>
          <a:prstGeom prst="ellipse">
            <a:avLst/>
          </a:prstGeom>
          <a:solidFill>
            <a:srgbClr val="FB5CA3"/>
          </a:solidFill>
          <a:ln w="25400">
            <a:solidFill>
              <a:srgbClr val="070B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36608" y="2423160"/>
            <a:ext cx="1965960" cy="1051560"/>
          </a:xfrm>
          <a:prstGeom prst="roundRect">
            <a:avLst>
              <a:gd name="adj" fmla="val 12000"/>
            </a:avLst>
          </a:prstGeom>
          <a:solidFill>
            <a:srgbClr val="121A3A"/>
          </a:solidFill>
          <a:ln w="1397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9488" y="2532888"/>
            <a:ext cx="1600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spc="150">
                <a:solidFill>
                  <a:srgbClr val="FB5CA3"/>
                </a:solidFill>
                <a:latin typeface="Consolas"/>
              </a:rPr>
              <a:t>VISION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19488" y="2788920"/>
            <a:ext cx="1600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1250" b="1">
                <a:solidFill>
                  <a:srgbClr val="EAF0FF"/>
                </a:solidFill>
                <a:latin typeface="Segoe UI Semibold"/>
              </a:rPr>
              <a:t>Urdu voice-first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19488" y="3081528"/>
            <a:ext cx="163677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80" b="0">
                <a:solidFill>
                  <a:srgbClr val="8A97C2"/>
                </a:solidFill>
                <a:latin typeface="Segoe UI"/>
              </a:rPr>
              <a:t>Emotional, human, self-hosted Urdu assistant.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566928" y="6419088"/>
            <a:ext cx="146304" cy="146304"/>
          </a:xfrm>
          <a:prstGeom prst="triangle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6382512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150">
                <a:solidFill>
                  <a:srgbClr val="34E0FF"/>
                </a:solidFill>
                <a:latin typeface="Consolas"/>
              </a:rPr>
              <a:t>AI</a:t>
            </a:r>
            <a:r>
              <a:rPr sz="1050" b="0" spc="150">
                <a:solidFill>
                  <a:srgbClr val="8A97C2"/>
                </a:solidFill>
                <a:latin typeface="Consolas"/>
              </a:rPr>
              <a:t>·VOICE·CRM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6382512"/>
            <a:ext cx="3392424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100">
                <a:solidFill>
                  <a:srgbClr val="EAF0FF"/>
                </a:solidFill>
                <a:latin typeface="Consolas"/>
              </a:rPr>
              <a:t>16 </a:t>
            </a:r>
            <a:r>
              <a:rPr sz="1050" b="0" spc="100">
                <a:solidFill>
                  <a:srgbClr val="8A97C2"/>
                </a:solidFill>
                <a:latin typeface="Consolas"/>
              </a:rPr>
              <a:t>/ 17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6382512"/>
            <a:ext cx="3776472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 spc="200">
                <a:solidFill>
                  <a:srgbClr val="3A4680"/>
                </a:solidFill>
                <a:latin typeface="Consolas"/>
              </a:rPr>
              <a:t>THE EDGE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768096"/>
            <a:ext cx="128016" cy="128016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694944"/>
            <a:ext cx="82296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spc="250">
                <a:solidFill>
                  <a:srgbClr val="34E0FF"/>
                </a:solidFill>
                <a:latin typeface="Consolas"/>
              </a:rPr>
              <a:t>// 15 </a:t>
            </a:r>
            <a:r>
              <a:rPr sz="1250" b="0" spc="250">
                <a:solidFill>
                  <a:srgbClr val="8A97C2"/>
                </a:solidFill>
                <a:latin typeface="Consolas"/>
              </a:rPr>
              <a:t>WHY THIS, WHY 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1133856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EAF0FF"/>
                </a:solidFill>
                <a:latin typeface="Segoe UI Semibold"/>
              </a:rPr>
              <a:t>Five things </a:t>
            </a:r>
            <a:r>
              <a:rPr sz="3400" b="1">
                <a:solidFill>
                  <a:srgbClr val="34E0FF"/>
                </a:solidFill>
                <a:latin typeface="Segoe UI Semibold"/>
              </a:rPr>
              <a:t>off-the-shelf bots can't touch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1965960"/>
            <a:ext cx="975360" cy="41148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816608" y="1965960"/>
            <a:ext cx="97536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91968" y="1965960"/>
            <a:ext cx="975360" cy="4114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41248" y="2560320"/>
            <a:ext cx="196596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" y="2560320"/>
            <a:ext cx="1965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95044" y="288036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95044" y="28620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" y="3749039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Private by default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4526280"/>
            <a:ext cx="1709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Local models — data never leaves your box.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0088" y="2560320"/>
            <a:ext cx="196596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90088" y="2560320"/>
            <a:ext cx="196596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3643884" y="288036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43884" y="28620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36392" y="3749039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Truly omnichannel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36392" y="4526280"/>
            <a:ext cx="1709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Web, WhatsApp, IG, FB and phone, one brain.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138928" y="2560320"/>
            <a:ext cx="196596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138928" y="2560320"/>
            <a:ext cx="1965960" cy="54864"/>
          </a:xfrm>
          <a:prstGeom prst="rect">
            <a:avLst/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92724" y="288036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92724" y="28620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85232" y="3749039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Grounded, not generic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85232" y="4526280"/>
            <a:ext cx="1709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Answers from your data via a local RAG layer.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2560320"/>
            <a:ext cx="196596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87768" y="2560320"/>
            <a:ext cx="1965960" cy="548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41564" y="288036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41564" y="28620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34072" y="3749039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Multi-tenant native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34072" y="4526280"/>
            <a:ext cx="1709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Isolated DB per client, provisioned on demand.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436608" y="2560320"/>
            <a:ext cx="1965960" cy="3017520"/>
          </a:xfrm>
          <a:prstGeom prst="roundRect">
            <a:avLst>
              <a:gd name="adj" fmla="val 10000"/>
            </a:avLst>
          </a:prstGeom>
          <a:solidFill>
            <a:srgbClr val="121A3A"/>
          </a:solidFill>
          <a:ln w="1270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436608" y="2560320"/>
            <a:ext cx="1965960" cy="54864"/>
          </a:xfrm>
          <a:prstGeom prst="rect">
            <a:avLst/>
          </a:prstGeom>
          <a:solidFill>
            <a:srgbClr val="FB5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90404" y="2880360"/>
            <a:ext cx="658368" cy="658368"/>
          </a:xfrm>
          <a:prstGeom prst="ellipse">
            <a:avLst/>
          </a:prstGeom>
          <a:solidFill>
            <a:srgbClr val="141C3D"/>
          </a:solidFill>
          <a:ln w="15240">
            <a:solidFill>
              <a:srgbClr val="FB5C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90404" y="2862072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>
                <a:solidFill>
                  <a:srgbClr val="EAF0FF"/>
                </a:solidFill>
                <a:latin typeface="Segoe UI Emoji"/>
              </a:rPr>
              <a:t>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82912" y="3749039"/>
            <a:ext cx="1673351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8000"/>
              </a:lnSpc>
            </a:pPr>
            <a:r>
              <a:rPr sz="1350" b="1">
                <a:solidFill>
                  <a:srgbClr val="EAF0FF"/>
                </a:solidFill>
                <a:latin typeface="Segoe UI Semibold"/>
              </a:rPr>
              <a:t>No-code control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82912" y="4526280"/>
            <a:ext cx="17099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>
                <a:solidFill>
                  <a:srgbClr val="8A97C2"/>
                </a:solidFill>
                <a:latin typeface="Segoe UI"/>
              </a:rPr>
              <a:t>Visual flows, roles and per-table access built in.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10896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108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569903" y="310896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55196" y="310896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0896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569903" y="6521500"/>
            <a:ext cx="310896" cy="25603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55196" y="6236208"/>
            <a:ext cx="25603" cy="310896"/>
          </a:xfrm>
          <a:prstGeom prst="rect">
            <a:avLst/>
          </a:prstGeom>
          <a:solidFill>
            <a:srgbClr val="3A46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-640080" y="-640080"/>
            <a:ext cx="3108960" cy="3108960"/>
          </a:xfrm>
          <a:prstGeom prst="ellipse">
            <a:avLst/>
          </a:prstGeom>
          <a:noFill/>
          <a:ln w="12700">
            <a:solidFill>
              <a:srgbClr val="2A35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0" y="4297679"/>
            <a:ext cx="3474720" cy="3474720"/>
          </a:xfrm>
          <a:prstGeom prst="ellipse">
            <a:avLst/>
          </a:prstGeom>
          <a:noFill/>
          <a:ln w="15240">
            <a:solidFill>
              <a:srgbClr val="3A46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48056" y="1627266"/>
            <a:ext cx="60561" cy="31162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92250" y="1558196"/>
            <a:ext cx="60561" cy="44976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36443" y="1539078"/>
            <a:ext cx="60561" cy="488003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80637" y="1565258"/>
            <a:ext cx="60561" cy="435643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24831" y="1608498"/>
            <a:ext cx="60561" cy="34916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69025" y="1620926"/>
            <a:ext cx="60561" cy="324307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113219" y="1618458"/>
            <a:ext cx="60561" cy="329243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57413" y="1566722"/>
            <a:ext cx="60561" cy="43271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01606" y="1506485"/>
            <a:ext cx="60561" cy="55318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545800" y="1475432"/>
            <a:ext cx="60561" cy="615295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689994" y="1500339"/>
            <a:ext cx="60561" cy="565481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834188" y="1581720"/>
            <a:ext cx="60561" cy="40271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78382" y="1562711"/>
            <a:ext cx="60561" cy="440737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2576" y="1467294"/>
            <a:ext cx="60561" cy="63157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6770" y="1424732"/>
            <a:ext cx="60561" cy="71669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10963" y="1449499"/>
            <a:ext cx="60561" cy="667160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55157" y="1525803"/>
            <a:ext cx="60561" cy="5145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99351" y="1616208"/>
            <a:ext cx="60561" cy="333742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843545" y="1573632"/>
            <a:ext cx="60561" cy="41889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987739" y="1556983"/>
            <a:ext cx="60561" cy="452193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1933" y="1583010"/>
            <a:ext cx="60561" cy="400138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76126" y="1623270"/>
            <a:ext cx="60561" cy="319619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420320" y="1611517"/>
            <a:ext cx="60561" cy="343125"/>
          </a:xfrm>
          <a:prstGeom prst="roundRect">
            <a:avLst>
              <a:gd name="adj" fmla="val 5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564514" y="1621127"/>
            <a:ext cx="60561" cy="323904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708708" y="1562547"/>
            <a:ext cx="60561" cy="441064"/>
          </a:xfrm>
          <a:prstGeom prst="roundRect">
            <a:avLst>
              <a:gd name="adj" fmla="val 500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852902" y="1496523"/>
            <a:ext cx="60561" cy="573112"/>
          </a:xfrm>
          <a:prstGeom prst="roundRect">
            <a:avLst>
              <a:gd name="adj" fmla="val 50000"/>
            </a:avLst>
          </a:prstGeom>
          <a:solidFill>
            <a:srgbClr val="34E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200" b="1">
                <a:solidFill>
                  <a:srgbClr val="EAF0FF"/>
                </a:solidFill>
                <a:latin typeface="Segoe UI Semibold"/>
              </a:rPr>
              <a:t>Let's put a </a:t>
            </a:r>
            <a:r>
              <a:rPr sz="5200" b="1">
                <a:solidFill>
                  <a:srgbClr val="34E0FF"/>
                </a:solidFill>
                <a:latin typeface="Segoe UI Semibold"/>
              </a:rPr>
              <a:t>voice</a:t>
            </a:r>
            <a:r>
              <a:rPr sz="5200" b="1">
                <a:solidFill>
                  <a:srgbClr val="EAF0FF"/>
                </a:solidFill>
                <a:latin typeface="Segoe UI Semibold"/>
              </a:rPr>
              <a:t> on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3611880"/>
            <a:ext cx="9418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>
                <a:solidFill>
                  <a:srgbClr val="8A97C2"/>
                </a:solidFill>
                <a:latin typeface="Segoe UI"/>
              </a:rPr>
              <a:t>Self-hosted, multilingual, omnichannel voice CRM — running locally, today.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671419" y="4526280"/>
            <a:ext cx="1664208" cy="45720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3970">
            <a:solidFill>
              <a:srgbClr val="34E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71419" y="4526280"/>
            <a:ext cx="16642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E0FF"/>
                </a:solidFill>
                <a:latin typeface="Consolas"/>
              </a:rPr>
              <a:t>▸  LIVE DEMO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609947" y="4526280"/>
            <a:ext cx="2167128" cy="45720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3970">
            <a:solidFill>
              <a:srgbClr val="A78B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9947" y="4526280"/>
            <a:ext cx="21671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A78BFA"/>
                </a:solidFill>
                <a:latin typeface="Consolas"/>
              </a:rPr>
              <a:t>▸  localhost:8001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051395" y="452628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141C3D"/>
          </a:solidFill>
          <a:ln w="13970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51395" y="4526280"/>
            <a:ext cx="2468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34D399"/>
                </a:solidFill>
                <a:latin typeface="Consolas"/>
              </a:rPr>
              <a:t>▸  Umer.m@msd-my.com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6382512"/>
            <a:ext cx="5486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spc="200">
                <a:solidFill>
                  <a:srgbClr val="8A97C2"/>
                </a:solidFill>
                <a:latin typeface="Consolas"/>
              </a:rPr>
              <a:t>AI·VOICE·CRM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6382512"/>
            <a:ext cx="49377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 spc="300">
                <a:solidFill>
                  <a:srgbClr val="34E0FF"/>
                </a:solidFill>
                <a:latin typeface="Consola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