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114800"/>
            <a:ext cx="3474720" cy="3474720"/>
          </a:xfrm>
          <a:prstGeom prst="ellipse">
            <a:avLst/>
          </a:prstGeom>
          <a:noFill/>
          <a:ln w="1524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4663440"/>
            <a:ext cx="2377440" cy="2377440"/>
          </a:xfrm>
          <a:prstGeom prst="ellipse">
            <a:avLst/>
          </a:prstGeom>
          <a:noFill/>
          <a:ln w="12700">
            <a:solidFill>
              <a:srgbClr val="2A3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841248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768096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300">
                <a:solidFill>
                  <a:srgbClr val="8A97C2"/>
                </a:solidFill>
                <a:latin typeface="Consolas"/>
              </a:rPr>
              <a:t>INVESTOR BRIEF   ·   CONFIDENTIAL   ·  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804" y="2156429"/>
            <a:ext cx="58736" cy="35058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1653" y="2078726"/>
            <a:ext cx="58736" cy="50598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61503" y="2057217"/>
            <a:ext cx="58736" cy="54900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01352" y="2086670"/>
            <a:ext cx="58736" cy="490099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41201" y="2135315"/>
            <a:ext cx="58736" cy="39280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81051" y="2149297"/>
            <a:ext cx="58736" cy="36484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20900" y="2146520"/>
            <a:ext cx="58736" cy="37039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60750" y="2088317"/>
            <a:ext cx="58736" cy="48680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00599" y="2020551"/>
            <a:ext cx="58736" cy="62233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40449" y="1985616"/>
            <a:ext cx="58736" cy="69220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80298" y="2013636"/>
            <a:ext cx="58736" cy="636166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20147" y="2105190"/>
            <a:ext cx="58736" cy="45305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59997" y="2083805"/>
            <a:ext cx="58736" cy="49582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99846" y="1976461"/>
            <a:ext cx="58736" cy="7105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39696" y="1928579"/>
            <a:ext cx="58736" cy="806281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79545" y="1956442"/>
            <a:ext cx="58736" cy="75055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119394" y="2042284"/>
            <a:ext cx="58736" cy="57887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59244" y="2143990"/>
            <a:ext cx="58736" cy="37545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99093" y="2096091"/>
            <a:ext cx="58736" cy="4712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38943" y="2077361"/>
            <a:ext cx="58736" cy="50871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78792" y="2106642"/>
            <a:ext cx="58736" cy="45015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18641" y="2151933"/>
            <a:ext cx="58736" cy="3595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58491" y="2138712"/>
            <a:ext cx="58736" cy="38601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98340" y="2149523"/>
            <a:ext cx="58736" cy="3643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38190" y="2083621"/>
            <a:ext cx="58736" cy="49619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78039" y="2009344"/>
            <a:ext cx="58736" cy="64475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17889" y="1969933"/>
            <a:ext cx="58736" cy="723573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57738" y="1995785"/>
            <a:ext cx="58736" cy="6718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97587" y="2087301"/>
            <a:ext cx="58736" cy="48883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37437" y="2099971"/>
            <a:ext cx="58736" cy="46349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77286" y="1989459"/>
            <a:ext cx="58736" cy="68452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17136" y="1937135"/>
            <a:ext cx="58736" cy="78916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56985" y="1959415"/>
            <a:ext cx="58736" cy="744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96834" y="2038832"/>
            <a:ext cx="58736" cy="58577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2788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EAF0FF"/>
                </a:solidFill>
                <a:latin typeface="Segoe UI Semibold"/>
              </a:rPr>
              <a:t>AI </a:t>
            </a:r>
            <a:r>
              <a:rPr sz="7000" b="1">
                <a:solidFill>
                  <a:srgbClr val="34E0FF"/>
                </a:solidFill>
                <a:latin typeface="Segoe UI Semibold"/>
              </a:rPr>
              <a:t>VOICE</a:t>
            </a:r>
            <a:r>
              <a:rPr sz="7000" b="1">
                <a:solidFill>
                  <a:srgbClr val="EAF0FF"/>
                </a:solidFill>
                <a:latin typeface="Segoe UI Semibold"/>
              </a:rPr>
              <a:t> CRM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40690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AF0FF"/>
                </a:solidFill>
                <a:latin typeface="Segoe UI"/>
              </a:rPr>
              <a:t>The </a:t>
            </a:r>
            <a:r>
              <a:rPr sz="2100" b="1">
                <a:solidFill>
                  <a:srgbClr val="34E0FF"/>
                </a:solidFill>
                <a:latin typeface="Segoe UI"/>
              </a:rPr>
              <a:t>private, self-hosted</a:t>
            </a:r>
            <a:r>
              <a:rPr sz="2100" b="0">
                <a:solidFill>
                  <a:srgbClr val="EAF0FF"/>
                </a:solidFill>
                <a:latin typeface="Segoe UI"/>
              </a:rPr>
              <a:t> voice agent that turns conversations into </a:t>
            </a:r>
            <a:r>
              <a:rPr sz="2100" b="1">
                <a:solidFill>
                  <a:srgbClr val="34E0FF"/>
                </a:solidFill>
                <a:latin typeface="Segoe UI"/>
              </a:rPr>
              <a:t>revenue</a:t>
            </a:r>
            <a:r>
              <a:rPr sz="2100" b="0">
                <a:solidFill>
                  <a:srgbClr val="EAF0FF"/>
                </a:solidFill>
                <a:latin typeface="Segoe UI"/>
              </a:rPr>
              <a:t>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" y="5029200"/>
            <a:ext cx="1814169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5029200"/>
            <a:ext cx="181416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34E0FF"/>
                </a:solidFill>
                <a:latin typeface="Consolas"/>
              </a:rPr>
              <a:t>SaaS + WHITE-LABEL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74873" y="5029200"/>
            <a:ext cx="1634947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74873" y="5029200"/>
            <a:ext cx="163494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A78BFA"/>
                </a:solidFill>
                <a:latin typeface="Consolas"/>
              </a:rPr>
              <a:t>AI · CRM · VOICE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10988" y="5029200"/>
            <a:ext cx="2083003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0988" y="5029200"/>
            <a:ext cx="20830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34D399"/>
                </a:solidFill>
                <a:latin typeface="Consolas"/>
              </a:rPr>
              <a:t>SELF-HOSTED ECONOMICS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8A97C2"/>
                </a:solidFill>
                <a:latin typeface="Consolas"/>
              </a:rPr>
              <a:t>AI·VOICE·CRM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6382512"/>
            <a:ext cx="3849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8A97C2"/>
                </a:solidFill>
                <a:latin typeface="Consolas"/>
              </a:rPr>
              <a:t>Umer.m@msd-my.com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02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THE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01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Businesses lose money </a:t>
            </a:r>
            <a:r>
              <a:rPr sz="3400" b="1">
                <a:solidFill>
                  <a:srgbClr val="8A97C2"/>
                </a:solidFill>
                <a:latin typeface="Segoe UI Semibold"/>
              </a:rPr>
              <a:t>between hello and CRM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23160"/>
            <a:ext cx="2542032" cy="278892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" y="2423160"/>
            <a:ext cx="2249424" cy="45720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2697479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6791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🕳️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39242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Leads leak everywhere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13048"/>
            <a:ext cx="2029967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Chats, DMs and calls scatter across tools; high-intent buyers go unlogged and un-followed-up.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5" y="2423160"/>
            <a:ext cx="2542032" cy="278892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2423160"/>
            <a:ext cx="2249424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58768" y="2697479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26791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⌨️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339242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Manual data entry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813048"/>
            <a:ext cx="2029967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Reps retype what customers already said. Slow, error-prone, and it doesn't scale with volume.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3" y="2423160"/>
            <a:ext cx="2542032" cy="278892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0527" y="2423160"/>
            <a:ext cx="2249424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20255" y="2697479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0255" y="26791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255" y="339242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Generic bots erode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5" y="3813048"/>
            <a:ext cx="2029967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Off-the-shelf assistants answer from thin air — wrong on price, catalogue and policy.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1" y="2423160"/>
            <a:ext cx="2542032" cy="278892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72015" y="2423160"/>
            <a:ext cx="2249424" cy="457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81743" y="2697479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3" y="2679191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☁️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3" y="339242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Cloud-AI cost &amp;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3" y="3813048"/>
            <a:ext cx="2029967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Per-token bills balloon with usage, and customer data leaves the building.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440680"/>
            <a:ext cx="10506456" cy="502920"/>
          </a:xfrm>
          <a:prstGeom prst="roundRect">
            <a:avLst>
              <a:gd name="adj" fmla="val 20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544068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7C2"/>
                </a:solidFill>
                <a:latin typeface="Segoe UI"/>
              </a:rPr>
              <a:t>The cost:  </a:t>
            </a:r>
            <a:r>
              <a:rPr sz="1250" b="1">
                <a:solidFill>
                  <a:srgbClr val="EAF0FF"/>
                </a:solidFill>
                <a:latin typeface="Segoe UI"/>
              </a:rPr>
              <a:t>lost pipeline + rising AI bills + wasted rep hours</a:t>
            </a:r>
            <a:r>
              <a:rPr sz="1250" b="0">
                <a:solidFill>
                  <a:srgbClr val="8A97C2"/>
                </a:solidFill>
                <a:latin typeface="Segoe UI"/>
              </a:rPr>
              <a:t>  — every day it's not automated.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03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THE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02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One agent that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talks, thinks &amp; captures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03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97C2"/>
                </a:solidFill>
                <a:latin typeface="Segoe UI"/>
              </a:rPr>
              <a:t>A voice + chat agent on every channel — grounded on the customer's own data, running on </a:t>
            </a:r>
            <a:r>
              <a:rPr sz="1400" b="1">
                <a:solidFill>
                  <a:srgbClr val="EAF0FF"/>
                </a:solidFill>
                <a:latin typeface="Segoe UI"/>
              </a:rPr>
              <a:t>their</a:t>
            </a:r>
            <a:r>
              <a:rPr sz="1400" b="0">
                <a:solidFill>
                  <a:srgbClr val="8A97C2"/>
                </a:solidFill>
                <a:latin typeface="Segoe UI"/>
              </a:rPr>
              <a:t> servers, writing structured leads into the CRM.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697480"/>
            <a:ext cx="64008" cy="196596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5568" y="29260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29077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EAF0FF"/>
                </a:solidFill>
                <a:latin typeface="Segoe UI Emoji"/>
              </a:rPr>
              <a:t>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1368" y="299923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34E0FF"/>
                </a:solidFill>
                <a:latin typeface="Consolas"/>
              </a:rPr>
              <a:t>01 / TALK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6576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Real-time voice + chat with a cloned, multilingual voice on web, WhatsApp, IG, FB &amp; phone.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269748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98848" y="2697480"/>
            <a:ext cx="64008" cy="1965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73168" y="29260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29077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EAF0FF"/>
                </a:solidFill>
                <a:latin typeface="Segoe UI Emoji"/>
              </a:rP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299923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6366F1"/>
                </a:solidFill>
                <a:latin typeface="Consolas"/>
              </a:rPr>
              <a:t>02 / UNDERSTAND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6576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Every reply grounded on the customer's data via a local RAG layer — no hallucinated pricing.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269748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56448" y="2697480"/>
            <a:ext cx="64008" cy="1965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30768" y="29260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29077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EAF0FF"/>
                </a:solidFill>
                <a:latin typeface="Segoe UI Emoji"/>
              </a:rPr>
              <a:t>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299923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8B5CF6"/>
                </a:solidFill>
                <a:latin typeface="Consolas"/>
              </a:rPr>
              <a:t>03 / CAPTURE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36576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Extracts name, intent &amp; contact as structured JSON and pushes a clean lead to the CRM.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" y="4937760"/>
            <a:ext cx="10506456" cy="96012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1248" y="4937760"/>
            <a:ext cx="64008" cy="9601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047488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34E0FF"/>
                </a:solidFill>
                <a:latin typeface="Consolas"/>
              </a:rPr>
              <a:t>THE WEDGE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340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AF0FF"/>
                </a:solidFill>
                <a:latin typeface="Segoe UI"/>
              </a:rPr>
              <a:t>Private + omnichannel voice + multilingual + multi-tenant</a:t>
            </a:r>
            <a:r>
              <a:rPr sz="1300" b="0">
                <a:solidFill>
                  <a:srgbClr val="8A97C2"/>
                </a:solidFill>
                <a:latin typeface="Segoe UI"/>
              </a:rPr>
              <a:t> — the combination no incumbent offers at SMB economics.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04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PRODUCT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03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WHAT WE'RE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Scope: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a platform, not a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6888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468880"/>
            <a:ext cx="338328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651760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50">
                <a:solidFill>
                  <a:srgbClr val="34E0FF"/>
                </a:solidFill>
                <a:latin typeface="Consolas"/>
              </a:rPr>
              <a:t>CORE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1272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12724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Voice + chat conversation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7307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373075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Local RAG grounding &amp;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3342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334256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Structured lead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937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49377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Per-project multi-tenant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8848" y="246888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8848" y="246888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2651760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50">
                <a:solidFill>
                  <a:srgbClr val="8B5CF6"/>
                </a:solidFill>
                <a:latin typeface="Consolas"/>
              </a:rPr>
              <a:t>CHANNELS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31272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5776" y="312724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Embeddable web widget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7307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6" y="373075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WhatsApp · Instagram · Facebook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3342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65776" y="4334256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Phone (Twilio) — 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4937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65776" y="49377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Unified agent inbox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246888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56448" y="2468880"/>
            <a:ext cx="33832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2651760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50">
                <a:solidFill>
                  <a:srgbClr val="FBBF24"/>
                </a:solidFill>
                <a:latin typeface="Consolas"/>
              </a:rPr>
              <a:t>CONTROL PLANE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31272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3376" y="312724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No-code visual flow builder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37307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23376" y="373075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Roles &amp; per-project RBAC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8" y="43342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3376" y="4334256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Brain / model settings per project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49377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23376" y="49377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Data-source &amp; per-table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05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04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WHY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Three tailwinds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converging at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14600"/>
            <a:ext cx="338328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67128" y="2880360"/>
            <a:ext cx="731520" cy="73152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7947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AF0FF"/>
                </a:solidFill>
                <a:latin typeface="Segoe UI Semibold"/>
              </a:rPr>
              <a:t>Local models got good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3434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Open LLMs now rival cloud quality — the cost of a private, self-hosted brain collapsed.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251460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8848" y="251460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24728" y="2880360"/>
            <a:ext cx="731520" cy="73152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472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7947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AF0FF"/>
                </a:solidFill>
                <a:latin typeface="Segoe UI Semibold"/>
              </a:rPr>
              <a:t>Privacy 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43434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Regulation and buyer distrust push AI on-prem. 'Data never leaves' is now a purchase driver.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251460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2514600"/>
            <a:ext cx="33832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82328" y="2880360"/>
            <a:ext cx="731520" cy="73152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8232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🗣️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37947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AF0FF"/>
                </a:solidFill>
                <a:latin typeface="Segoe UI Semibold"/>
              </a:rPr>
              <a:t>Conversational commerce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434340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Voice &amp; chat are becoming the default storefront — especially on WhatsApp in emerging markets.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06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WHO PAYS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05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TARGET AUDIENCES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Who buys,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and why they pay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60320"/>
            <a:ext cx="196596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60320"/>
            <a:ext cx="196596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95044" y="283464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5044" y="28163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3657600"/>
            <a:ext cx="1709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SMB &amp; D2C brands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315968"/>
            <a:ext cx="1691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Capture site &amp; DM traffic 24/7 without hiring.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90088" y="2560320"/>
            <a:ext cx="196596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90088" y="2560320"/>
            <a:ext cx="196596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43884" y="283464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3884" y="28163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8104" y="3657600"/>
            <a:ext cx="1709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Agencies (white-label)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2" y="4315968"/>
            <a:ext cx="1691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Resell a branded agent per client from one panel.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38928" y="2560320"/>
            <a:ext cx="196596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38928" y="2560320"/>
            <a:ext cx="19659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2724" y="283464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2724" y="28163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3657600"/>
            <a:ext cx="1709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Multi-brand / mid-market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4315968"/>
            <a:ext cx="1691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Many storefronts, isolated per-tenant data.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2560320"/>
            <a:ext cx="196596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87768" y="2560320"/>
            <a:ext cx="19659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41564" y="283464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1564" y="28163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5784" y="3657600"/>
            <a:ext cx="1709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Regulated &amp; privacy-first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2" y="4315968"/>
            <a:ext cx="1691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Health, finance, gov — must keep data on-prem.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36608" y="2560320"/>
            <a:ext cx="196596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36608" y="2560320"/>
            <a:ext cx="1965960" cy="54864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90404" y="283464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0404" y="28163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3657600"/>
            <a:ext cx="1709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Emerging markets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2912" y="4315968"/>
            <a:ext cx="1691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Multilingual voice (Urdu, Arabic) where WhatsApp is king.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E0FF"/>
                </a:solidFill>
                <a:latin typeface="Segoe UI"/>
              </a:rPr>
              <a:t>Beachhead: </a:t>
            </a:r>
            <a:r>
              <a:rPr sz="1250" b="0">
                <a:solidFill>
                  <a:srgbClr val="8A97C2"/>
                </a:solidFill>
                <a:latin typeface="Segoe UI"/>
              </a:rPr>
              <a:t>agencies + SMBs on WhatsApp — fastest path to recurring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07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06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MARKET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A large market,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entered from a wedge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697480"/>
            <a:ext cx="10241280" cy="786384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697480"/>
            <a:ext cx="64008" cy="78638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697480"/>
            <a:ext cx="1371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4E0FF"/>
                </a:solidFill>
                <a:latin typeface="Segoe UI Semibold"/>
              </a:rPr>
              <a:t>TAM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697480"/>
            <a:ext cx="7863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Conversational AI + CRM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697480"/>
            <a:ext cx="996695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34E0FF"/>
                </a:solidFill>
                <a:latin typeface="Consolas"/>
              </a:rPr>
              <a:t>$100B+ by 2030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3630168"/>
            <a:ext cx="6949440" cy="786384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3630168"/>
            <a:ext cx="64008" cy="78638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630168"/>
            <a:ext cx="1371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366F1"/>
                </a:solidFill>
                <a:latin typeface="Segoe UI Semibold"/>
              </a:rPr>
              <a:t>SAM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630168"/>
            <a:ext cx="4572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SMB voice/chat CRM + AI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3630168"/>
            <a:ext cx="6675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Consolas"/>
              </a:rPr>
              <a:t>$18B serviceable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4562856"/>
            <a:ext cx="3657600" cy="786384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" y="4562856"/>
            <a:ext cx="64008" cy="78638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562856"/>
            <a:ext cx="1371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5CF6"/>
                </a:solidFill>
                <a:latin typeface="Segoe UI Semibold"/>
              </a:rPr>
              <a:t>SOM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562856"/>
            <a:ext cx="12801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Beachhead: agencies + WhatsApp SMBs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562856"/>
            <a:ext cx="3383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Consolas"/>
              </a:rPr>
              <a:t>$300M near-term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715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A4680"/>
                </a:solidFill>
                <a:latin typeface="Consolas"/>
              </a:rPr>
              <a:t>Figures illustrative — replace with sourced market sizing.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08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LANDSCAPE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07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COMPETITIVE 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Where we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win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874519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874519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874519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03120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8A97C2"/>
                </a:solidFill>
                <a:latin typeface="Consolas"/>
              </a:rPr>
              <a:t>CAPABILITY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4488" y="2084831"/>
            <a:ext cx="1769364" cy="3401568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8" y="210312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050" b="1">
                <a:solidFill>
                  <a:srgbClr val="34E0FF"/>
                </a:solidFill>
                <a:latin typeface="Segoe UI Semibold"/>
              </a:rPr>
              <a:t>AI VOICE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5292" y="210312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Chat SaaS
(Intercom/Drift)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10312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AI bots
(Ada/Voiceflow)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210312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DIY cloud LLM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2523744"/>
            <a:ext cx="3063240" cy="420624"/>
          </a:xfrm>
          <a:prstGeom prst="roundRect">
            <a:avLst>
              <a:gd name="adj" fmla="val 1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2523744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Self-hosted / private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8" y="252374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5292" y="252374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252374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6900" y="252374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2944368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Real voice (STT+TTS)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8" y="294436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5292" y="294436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294436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6900" y="294436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3364991"/>
            <a:ext cx="3063240" cy="420624"/>
          </a:xfrm>
          <a:prstGeom prst="roundRect">
            <a:avLst>
              <a:gd name="adj" fmla="val 1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3364991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Omnichannel incl. phone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4488" y="3364991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292" y="3364991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3364991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6900" y="3364991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3785615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Multilingual out-of-box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4488" y="3785615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5292" y="3785615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6096" y="3785615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86900" y="3785615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4206240"/>
            <a:ext cx="3063240" cy="420624"/>
          </a:xfrm>
          <a:prstGeom prst="roundRect">
            <a:avLst>
              <a:gd name="adj" fmla="val 1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" y="4206240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Grounded on your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04488" y="420624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5292" y="420624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6096" y="420624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86900" y="4206240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" y="4626864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Multi-tenant white-label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4488" y="462686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5292" y="462686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6096" y="462686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BF24"/>
                </a:solidFill>
                <a:latin typeface="Segoe UI"/>
              </a:rPr>
              <a:t>~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86900" y="4626864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" y="5047488"/>
            <a:ext cx="3063240" cy="420624"/>
          </a:xfrm>
          <a:prstGeom prst="roundRect">
            <a:avLst>
              <a:gd name="adj" fmla="val 1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" y="5047488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AF0FF"/>
                </a:solidFill>
                <a:latin typeface="Segoe UI"/>
              </a:rPr>
              <a:t>Flat, predictable cost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4488" y="504748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5292" y="504748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6096" y="504748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86900" y="5047488"/>
            <a:ext cx="17693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A4680"/>
                </a:solidFill>
                <a:latin typeface="Segoe U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" y="5742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E0FF"/>
                </a:solidFill>
                <a:latin typeface="Segoe UI"/>
              </a:rPr>
              <a:t>Moat: </a:t>
            </a:r>
            <a:r>
              <a:rPr sz="1150" b="0">
                <a:solidFill>
                  <a:srgbClr val="8A97C2"/>
                </a:solidFill>
                <a:latin typeface="Segoe UI"/>
              </a:rPr>
              <a:t>self-hosted economics + omnichannel voice + white-label multi-tenancy.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09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HOW WE 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08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Five ways it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makes money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14600"/>
            <a:ext cx="54864" cy="132588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273405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27157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2697480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SaaS subscription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3227832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Recurring monthly per workspace / project tier — the core ARR engine.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251460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8848" y="2514600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18304" y="273405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27157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2697480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Onboarding &amp;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3227832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One-time implementation + data-source integration fee.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251460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251460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75904" y="273405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27157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2697480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Usage add-ons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3227832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Metered cloud voice, premium LLM &amp; telephony minutes on top of base.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0048" y="402336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70048" y="4023360"/>
            <a:ext cx="54864" cy="1325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89504" y="4242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9504" y="4224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🏷️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206240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White-label / agency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9504" y="4736592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Per-seat licensing for agencies reselling under their brand.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7648" y="402336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7648" y="4023360"/>
            <a:ext cx="54864" cy="1325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47104" y="4242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4" y="422452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0608" y="4206240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Vertical templates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4736592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Paid industry packs (real estate, clinics, e-com) &amp; marketplace.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10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PRICING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09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PRICING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Land small,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expand by seats &amp; channels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2316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423160"/>
            <a:ext cx="2542032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679191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34E0FF"/>
                </a:solidFill>
                <a:latin typeface="Consolas"/>
              </a:rPr>
              <a:t>STARTER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2990088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F"/>
                </a:solidFill>
                <a:latin typeface="Segoe UI Semibold"/>
              </a:rPr>
              <a:t>$49</a:t>
            </a:r>
            <a:r>
              <a:rPr sz="1200" b="0">
                <a:solidFill>
                  <a:srgbClr val="8A97C2"/>
                </a:solidFill>
                <a:latin typeface="Segoe UI"/>
              </a:rPr>
              <a:t> 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1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Web widget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Chat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1,000 convos/mo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02735" y="242316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02735" y="2423160"/>
            <a:ext cx="2542032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27447" y="258775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7447" y="2587752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spc="100">
                <a:solidFill>
                  <a:srgbClr val="070B18"/>
                </a:solidFill>
                <a:latin typeface="Consolas"/>
              </a:rPr>
              <a:t>POPULAR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77055" y="2679191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8B5CF6"/>
                </a:solidFill>
                <a:latin typeface="Consolas"/>
              </a:rPr>
              <a:t>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7055" y="2990088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F"/>
                </a:solidFill>
                <a:latin typeface="Segoe UI Semibold"/>
              </a:rPr>
              <a:t>$199</a:t>
            </a:r>
            <a:r>
              <a:rPr sz="1200" b="0">
                <a:solidFill>
                  <a:srgbClr val="8A97C2"/>
                </a:solidFill>
                <a:latin typeface="Segoe UI"/>
              </a:rPr>
              <a:t> 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77055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7055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9663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3 projects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5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9663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+ Voice &amp; WhatsApp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7055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9663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RAG data sources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77055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3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10,000 convos/mo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64223" y="242316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64223" y="2423160"/>
            <a:ext cx="2542032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38543" y="2679191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6366F1"/>
                </a:solidFill>
                <a:latin typeface="Consolas"/>
              </a:rPr>
              <a:t>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38543" y="2990088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F"/>
                </a:solidFill>
                <a:latin typeface="Segoe UI Semibold"/>
              </a:rPr>
              <a:t>$599</a:t>
            </a:r>
            <a:r>
              <a:rPr sz="1200" b="0">
                <a:solidFill>
                  <a:srgbClr val="8A97C2"/>
                </a:solidFill>
                <a:latin typeface="Segoe UI"/>
              </a:rPr>
              <a:t> /mo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38543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8543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31151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10 projects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38543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31151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All channels + phone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38543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1151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RBAC + flow builder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543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31151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Priority support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25711" y="2423160"/>
            <a:ext cx="2542032" cy="306324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25711" y="2423160"/>
            <a:ext cx="2542032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00032" y="2679191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FBBF24"/>
                </a:solidFill>
                <a:latin typeface="Consolas"/>
              </a:rPr>
              <a:t>AGENCY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00032" y="2990088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F0FF"/>
                </a:solidFill>
                <a:latin typeface="Segoe UI Semibold"/>
              </a:rPr>
              <a:t>Custom</a:t>
            </a:r>
            <a:r>
              <a:rPr sz="1200" b="0">
                <a:solidFill>
                  <a:srgbClr val="8A97C2"/>
                </a:solidFill>
                <a:latin typeface="Segoe UI"/>
              </a:rPr>
              <a:t> 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00032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0032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39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Unlimited / white-label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0032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39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Per-seat licensing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00032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39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Dedicated infra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00032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39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SLA + onboarding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" y="5669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A4680"/>
                </a:solidFill>
                <a:latin typeface="Consolas"/>
              </a:rPr>
              <a:t>Illustrative pricing — validate against willingness-to-pay &amp; COGS.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11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ECONOMICS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10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UNIT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Self-hosting drives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high-margin recurring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2316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423160"/>
            <a:ext cx="54864" cy="14173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569464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4E0FF"/>
                </a:solidFill>
                <a:latin typeface="Segoe UI Semibold"/>
              </a:rPr>
              <a:t>~$180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1363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Blended ARPU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1071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A97C2"/>
                </a:solidFill>
                <a:latin typeface="Segoe UI"/>
              </a:rPr>
              <a:t>across tiers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242316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8848" y="2423160"/>
            <a:ext cx="54864" cy="1417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569464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4D399"/>
                </a:solidFill>
                <a:latin typeface="Segoe UI Semibold"/>
              </a:rPr>
              <a:t>82%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363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Gross margin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1071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A97C2"/>
                </a:solidFill>
                <a:latin typeface="Segoe UI"/>
              </a:rPr>
              <a:t>low COGS — self-hosted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242316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6448" y="2423160"/>
            <a:ext cx="5486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569464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B5CF6"/>
                </a:solidFill>
                <a:latin typeface="Segoe UI Semibold"/>
              </a:rPr>
              <a:t>$350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1363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CAC (blended)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1071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A97C2"/>
                </a:solidFill>
                <a:latin typeface="Segoe UI"/>
              </a:rPr>
              <a:t>self-serve + agency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0690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" y="4069080"/>
            <a:ext cx="54864" cy="14173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4215384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366F1"/>
                </a:solidFill>
                <a:latin typeface="Segoe UI Semibold"/>
              </a:rPr>
              <a:t>$4.3K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782312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LTV (24-mo)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0566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A97C2"/>
                </a:solidFill>
                <a:latin typeface="Segoe UI"/>
              </a:rPr>
              <a:t>at 4% monthly churn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98848" y="40690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8848" y="4069080"/>
            <a:ext cx="54864" cy="14173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4215384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BBF24"/>
                </a:solidFill>
                <a:latin typeface="Segoe UI Semibold"/>
              </a:rPr>
              <a:t>12 :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782312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LTV : CAC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0566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A97C2"/>
                </a:solidFill>
                <a:latin typeface="Segoe UI"/>
              </a:rPr>
              <a:t>target ≥ 3:1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406908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56448" y="4069080"/>
            <a:ext cx="54864" cy="1417320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4192" y="4215384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B5CA3"/>
                </a:solidFill>
                <a:latin typeface="Segoe UI Semibold"/>
              </a:rPr>
              <a:t>&lt; 3 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782312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CAC payback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0566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8A97C2"/>
                </a:solidFill>
                <a:latin typeface="Segoe UI"/>
              </a:rPr>
              <a:t>fast recovery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A4680"/>
                </a:solidFill>
                <a:latin typeface="Consolas"/>
              </a:rPr>
              <a:t>Illustrative model — figures are assumptions to be validated with real cohort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12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GROWTH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11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GO-TO-MARKET &amp;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Land,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then expand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657600"/>
            <a:ext cx="10058400" cy="27432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9696" y="3557016"/>
            <a:ext cx="201168" cy="20116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2423160"/>
            <a:ext cx="2468880" cy="11430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5296" y="25511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34D399"/>
                </a:solidFill>
                <a:latin typeface="Consolas"/>
              </a:rPr>
              <a:t>P1 · 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2862072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Self-serve SMB + agency resellers via web widget &amp; WhatsApp.</a:t>
            </a:r>
          </a:p>
        </p:txBody>
      </p:sp>
      <p:sp>
        <p:nvSpPr>
          <p:cNvPr id="26" name="Oval 25"/>
          <p:cNvSpPr/>
          <p:nvPr/>
        </p:nvSpPr>
        <p:spPr>
          <a:xfrm>
            <a:off x="4669536" y="3557016"/>
            <a:ext cx="201168" cy="201168"/>
          </a:xfrm>
          <a:prstGeom prst="ellipse">
            <a:avLst/>
          </a:prstGeom>
          <a:solidFill>
            <a:srgbClr val="34E0FF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35680" y="3977639"/>
            <a:ext cx="2468880" cy="11430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55136" y="4105655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34E0FF"/>
                </a:solidFill>
                <a:latin typeface="Consolas"/>
              </a:rPr>
              <a:t>P2 · EXPAND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5136" y="4416552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Upsell voice, phone (Twilio) &amp; CRM connectors — grow seats/channels.</a:t>
            </a:r>
          </a:p>
        </p:txBody>
      </p:sp>
      <p:sp>
        <p:nvSpPr>
          <p:cNvPr id="30" name="Oval 29"/>
          <p:cNvSpPr/>
          <p:nvPr/>
        </p:nvSpPr>
        <p:spPr>
          <a:xfrm>
            <a:off x="7199375" y="3557016"/>
            <a:ext cx="201168" cy="201168"/>
          </a:xfrm>
          <a:prstGeom prst="ellipse">
            <a:avLst/>
          </a:prstGeom>
          <a:solidFill>
            <a:srgbClr val="6366F1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65520" y="2423160"/>
            <a:ext cx="2468880" cy="11430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4976" y="25511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6366F1"/>
                </a:solidFill>
                <a:latin typeface="Consolas"/>
              </a:rPr>
              <a:t>P3 · VERTICALIZE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4976" y="2862072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Industry templates: real estate, clinics, e-commerce, education.</a:t>
            </a:r>
          </a:p>
        </p:txBody>
      </p:sp>
      <p:sp>
        <p:nvSpPr>
          <p:cNvPr id="34" name="Oval 33"/>
          <p:cNvSpPr/>
          <p:nvPr/>
        </p:nvSpPr>
        <p:spPr>
          <a:xfrm>
            <a:off x="9729216" y="3557016"/>
            <a:ext cx="201168" cy="201168"/>
          </a:xfrm>
          <a:prstGeom prst="ellipse">
            <a:avLst/>
          </a:prstGeom>
          <a:solidFill>
            <a:srgbClr val="FB5CA3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95360" y="3977639"/>
            <a:ext cx="2468880" cy="11430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6" y="4105655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FB5CA3"/>
                </a:solidFill>
                <a:latin typeface="Consolas"/>
              </a:rPr>
              <a:t>P4 · GEO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6" y="4416552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MENA &amp; South Asia — Urdu/Arabic voice where WhatsApp dominates.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Expansion revenue: </a:t>
            </a:r>
            <a:r>
              <a:rPr sz="1200" b="0">
                <a:solidFill>
                  <a:srgbClr val="8A97C2"/>
                </a:solidFill>
                <a:latin typeface="Segoe UI"/>
              </a:rPr>
              <a:t>more channels + more seats per account drive net revenue retention &gt; 100%.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13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EXPENSES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12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COST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Where the money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goes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03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97C2"/>
                </a:solidFill>
                <a:latin typeface="Segoe UI"/>
              </a:rPr>
              <a:t>Early-stage opex is weighted to R&amp;D and GTM; variable COGS stays low because inference runs on owned compute.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67919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Engineering &amp; R&amp;D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29535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97C2"/>
                </a:solidFill>
                <a:latin typeface="Segoe UI"/>
              </a:rPr>
              <a:t>product, models, 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715768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46320" y="2715768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267919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Consolas"/>
              </a:rPr>
              <a:t>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209544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Sales &amp; marketing (CAC)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4838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97C2"/>
                </a:solidFill>
                <a:latin typeface="Segoe UI"/>
              </a:rPr>
              <a:t>self-serve + agency channel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246120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46320" y="324612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3209544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34E0FF"/>
                </a:solidFill>
                <a:latin typeface="Consolas"/>
              </a:rPr>
              <a:t>24%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739896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Compute &amp;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01421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97C2"/>
                </a:solidFill>
                <a:latin typeface="Segoe UI"/>
              </a:rPr>
              <a:t>GPU/CPU servers, storage, bandwidth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3776472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46320" y="3776472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3739896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Consolas"/>
              </a:rPr>
              <a:t>16%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27024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Support &amp; customer success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544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97C2"/>
                </a:solidFill>
                <a:latin typeface="Segoe UI"/>
              </a:rPr>
              <a:t>onboarding, retention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4306824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46320" y="4306824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427024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Consolas"/>
              </a:rPr>
              <a:t>12%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80060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Third-party opt-in APIs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074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97C2"/>
                </a:solidFill>
                <a:latin typeface="Segoe UI"/>
              </a:rPr>
              <a:t>Twilio, ElevenLabs, cloud LLM (pass-through)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4837176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846320" y="4837176"/>
            <a:ext cx="438912" cy="2743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48006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Consolas"/>
              </a:rPr>
              <a:t>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33095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G&amp;A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6052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97C2"/>
                </a:solidFill>
                <a:latin typeface="Segoe UI"/>
              </a:rPr>
              <a:t>ops, legal, admin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5367528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846320" y="5367528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533095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B5CA3"/>
                </a:solidFill>
                <a:latin typeface="Consolas"/>
              </a:rPr>
              <a:t>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5760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A4680"/>
                </a:solidFill>
                <a:latin typeface="Consolas"/>
              </a:rPr>
              <a:t>Illustrative allocation of operating spend — not a committed budget.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14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13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TRACTION &amp;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Built and running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6035040" cy="3200400"/>
          </a:xfrm>
          <a:prstGeom prst="roundRect">
            <a:avLst>
              <a:gd name="adj" fmla="val 5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688336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34D399"/>
                </a:solidFill>
                <a:latin typeface="Consolas"/>
              </a:rPr>
              <a:t>●  SHIPPED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2724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12724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Full voice + chat pipeline (STT→LLM→TTS)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42715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442715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Local RAG grounding on DuckDB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58183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758183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Structured lead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07365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07365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Multi-tenant per-project DBs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3891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3891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Visual flow builder + RBAC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70458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70458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Omnichannel: WhatsApp / IG / FB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2005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020056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Real-time streaming over WebSocket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355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33552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AF0FF"/>
                </a:solidFill>
                <a:latin typeface="Segoe UI"/>
              </a:rPr>
              <a:t>Multi-language responses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9168" y="2514600"/>
            <a:ext cx="4297680" cy="3200400"/>
          </a:xfrm>
          <a:prstGeom prst="roundRect">
            <a:avLst>
              <a:gd name="adj" fmla="val 5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688336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FBBF24"/>
                </a:solidFill>
                <a:latin typeface="Consolas"/>
              </a:rPr>
              <a:t>◐  NEXT 12–18 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15468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54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Telephony (Twilio) end-to-end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72160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2160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Browser streaming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28853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288536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CRM OAuth connectors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85546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85546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Faster voice (GPU / Piper)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15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PROJECTIONS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14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FINANCIAL OUTLINE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Path to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profitable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5394960"/>
            <a:ext cx="9966960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63040" y="5183341"/>
            <a:ext cx="868680" cy="211618"/>
          </a:xfrm>
          <a:prstGeom prst="roundRect">
            <a:avLst>
              <a:gd name="adj" fmla="val 12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0" y="5077532"/>
            <a:ext cx="868680" cy="317427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872445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E0FF"/>
                </a:solidFill>
                <a:latin typeface="Consolas"/>
              </a:rPr>
              <a:t>$0.6M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39" y="476663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78BFA"/>
                </a:solidFill>
                <a:latin typeface="Consolas"/>
              </a:rPr>
              <a:t>$0.9M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86400"/>
            <a:ext cx="2926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Y1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852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120 customers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548486"/>
            <a:ext cx="868680" cy="846473"/>
          </a:xfrm>
          <a:prstGeom prst="roundRect">
            <a:avLst>
              <a:gd name="adj" fmla="val 12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0" y="4760105"/>
            <a:ext cx="868680" cy="634854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23759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E0FF"/>
                </a:solidFill>
                <a:latin typeface="Consolas"/>
              </a:rPr>
              <a:t>$2.4M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44920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78BFA"/>
                </a:solidFill>
                <a:latin typeface="Consolas"/>
              </a:rPr>
              <a:t>$1.8M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486400"/>
            <a:ext cx="2926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Y2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852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600 customers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3102428"/>
            <a:ext cx="868680" cy="2292531"/>
          </a:xfrm>
          <a:prstGeom prst="roundRect">
            <a:avLst>
              <a:gd name="adj" fmla="val 12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78240" y="4125250"/>
            <a:ext cx="868680" cy="1269709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279153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E0FF"/>
                </a:solidFill>
                <a:latin typeface="Consolas"/>
              </a:rPr>
              <a:t>$6.5M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81435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78BFA"/>
                </a:solidFill>
                <a:latin typeface="Consolas"/>
              </a:rPr>
              <a:t>$3.6M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486400"/>
            <a:ext cx="2926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Y3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852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1,800 customers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2514600"/>
            <a:ext cx="274320" cy="164592"/>
          </a:xfrm>
          <a:prstGeom prst="roundRect">
            <a:avLst>
              <a:gd name="adj" fmla="val 4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2432304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Revenue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2514600"/>
            <a:ext cx="274320" cy="164592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2432304"/>
            <a:ext cx="1097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A4680"/>
                </a:solidFill>
                <a:latin typeface="Consolas"/>
              </a:rPr>
              <a:t>Illustrative model — replace with your financial plan.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noFill/>
          <a:ln w="12700">
            <a:solidFill>
              <a:srgbClr val="2A3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0" y="4389120"/>
            <a:ext cx="3474720" cy="3474720"/>
          </a:xfrm>
          <a:prstGeom prst="ellipse">
            <a:avLst/>
          </a:prstGeom>
          <a:noFill/>
          <a:ln w="1524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0771" y="1418142"/>
            <a:ext cx="62407" cy="272674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9361" y="1357707"/>
            <a:ext cx="62407" cy="393545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7951" y="1340978"/>
            <a:ext cx="62407" cy="427003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86541" y="1363885"/>
            <a:ext cx="62407" cy="38118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5131" y="1401720"/>
            <a:ext cx="62407" cy="30551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3721" y="1412595"/>
            <a:ext cx="62407" cy="283768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2311" y="1410435"/>
            <a:ext cx="62407" cy="28808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80901" y="1365166"/>
            <a:ext cx="62407" cy="37862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29491" y="1312459"/>
            <a:ext cx="62407" cy="4840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78081" y="1285288"/>
            <a:ext cx="62407" cy="538383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26671" y="1307081"/>
            <a:ext cx="62407" cy="494796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75261" y="1378290"/>
            <a:ext cx="62407" cy="35237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3851" y="1361657"/>
            <a:ext cx="62407" cy="38564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2441" y="1278168"/>
            <a:ext cx="62407" cy="552623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1031" y="1240925"/>
            <a:ext cx="62407" cy="6271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9621" y="1262597"/>
            <a:ext cx="62407" cy="58376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18211" y="1329363"/>
            <a:ext cx="62407" cy="450233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66801" y="1408467"/>
            <a:ext cx="62407" cy="2920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15391" y="1371213"/>
            <a:ext cx="62407" cy="3665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63981" y="1356645"/>
            <a:ext cx="62407" cy="39566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2571" y="1379419"/>
            <a:ext cx="62407" cy="35012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61161" y="1414646"/>
            <a:ext cx="62407" cy="279667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09751" y="1404362"/>
            <a:ext cx="62407" cy="30023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58341" y="1412771"/>
            <a:ext cx="62407" cy="2834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EAF0FF"/>
                </a:solidFill>
                <a:latin typeface="Segoe UI Semibold"/>
              </a:rPr>
              <a:t>The </a:t>
            </a:r>
            <a:r>
              <a:rPr sz="4600" b="1">
                <a:solidFill>
                  <a:srgbClr val="34E0FF"/>
                </a:solidFill>
                <a:latin typeface="Segoe UI Semibold"/>
              </a:rPr>
              <a:t>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297180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8A97C2"/>
                </a:solidFill>
                <a:latin typeface="Segoe UI"/>
              </a:rPr>
              <a:t>Raising to scale go-to-market, ship telephony &amp; CRM connectors, and grow the team.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58087" y="3749039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8087" y="38770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4E0FF"/>
                </a:solidFill>
                <a:latin typeface="Segoe UI Semibold"/>
              </a:rPr>
              <a:t>45%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8087" y="444398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Go-to-market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41367" y="3749039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1367" y="38770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6366F1"/>
                </a:solidFill>
                <a:latin typeface="Segoe UI Semibold"/>
              </a:rPr>
              <a:t>35%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1367" y="444398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Engineering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4647" y="3749039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4647" y="38770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8B5CF6"/>
                </a:solidFill>
                <a:latin typeface="Segoe UI Semibold"/>
              </a:rPr>
              <a:t>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4647" y="444398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"/>
              </a:rPr>
              <a:t>Infra &amp; ops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9223" y="52120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9223" y="52120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Consolas"/>
              </a:rPr>
              <a:t>▸  Umer.m@msd-my.com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2423" y="521208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2423" y="5212080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Consolas"/>
              </a:rPr>
              <a:t>▸  Live demo available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8A97C2"/>
                </a:solidFill>
                <a:latin typeface="Consolas"/>
              </a:rPr>
              <a:t>AI·VOICE·CRM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6382512"/>
            <a:ext cx="4937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300">
                <a:solidFill>
                  <a:srgbClr val="34E0FF"/>
                </a:solidFill>
                <a:latin typeface="Consola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