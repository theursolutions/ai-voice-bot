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114800"/>
            <a:ext cx="3474720" cy="3474720"/>
          </a:xfrm>
          <a:prstGeom prst="ellipse">
            <a:avLst/>
          </a:prstGeom>
          <a:noFill/>
          <a:ln w="1524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4663440"/>
            <a:ext cx="2377440" cy="2377440"/>
          </a:xfrm>
          <a:prstGeom prst="ellipse">
            <a:avLst/>
          </a:prstGeom>
          <a:noFill/>
          <a:ln w="12700">
            <a:solidFill>
              <a:srgbClr val="2A3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841248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768096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350">
                <a:solidFill>
                  <a:srgbClr val="8A97C2"/>
                </a:solidFill>
                <a:latin typeface="Consolas"/>
              </a:rPr>
              <a:t>FOR GROWING BUSINESSES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804" y="2064989"/>
            <a:ext cx="58736" cy="35058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1653" y="1987286"/>
            <a:ext cx="58736" cy="50598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61503" y="1965777"/>
            <a:ext cx="58736" cy="54900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01352" y="1995230"/>
            <a:ext cx="58736" cy="490099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41201" y="2043875"/>
            <a:ext cx="58736" cy="39280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81051" y="2057857"/>
            <a:ext cx="58736" cy="36484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20900" y="2055080"/>
            <a:ext cx="58736" cy="37039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60750" y="1996877"/>
            <a:ext cx="58736" cy="48680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00599" y="1929111"/>
            <a:ext cx="58736" cy="62233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40449" y="1894176"/>
            <a:ext cx="58736" cy="69220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280298" y="1922196"/>
            <a:ext cx="58736" cy="636166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20147" y="2013750"/>
            <a:ext cx="58736" cy="45305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559997" y="1992365"/>
            <a:ext cx="58736" cy="49582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99846" y="1885021"/>
            <a:ext cx="58736" cy="71051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39696" y="1837139"/>
            <a:ext cx="58736" cy="806281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79545" y="1865002"/>
            <a:ext cx="58736" cy="75055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119394" y="1950844"/>
            <a:ext cx="58736" cy="57887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59244" y="2052550"/>
            <a:ext cx="58736" cy="37545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99093" y="2004651"/>
            <a:ext cx="58736" cy="4712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538943" y="1985921"/>
            <a:ext cx="58736" cy="50871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78792" y="2015202"/>
            <a:ext cx="58736" cy="450155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18641" y="2060493"/>
            <a:ext cx="58736" cy="3595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58491" y="2047272"/>
            <a:ext cx="58736" cy="38601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98340" y="2058083"/>
            <a:ext cx="58736" cy="36439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38190" y="1992181"/>
            <a:ext cx="58736" cy="49619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78039" y="1917904"/>
            <a:ext cx="58736" cy="64475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17889" y="1878493"/>
            <a:ext cx="58736" cy="723573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57738" y="1904345"/>
            <a:ext cx="58736" cy="6718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97587" y="1995861"/>
            <a:ext cx="58736" cy="48883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37437" y="2008531"/>
            <a:ext cx="58736" cy="46349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77286" y="1898019"/>
            <a:ext cx="58736" cy="68452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17136" y="1845695"/>
            <a:ext cx="58736" cy="78916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56985" y="1867975"/>
            <a:ext cx="58736" cy="7446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96834" y="1947392"/>
            <a:ext cx="58736" cy="58577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2697480"/>
            <a:ext cx="10698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EAF0FF"/>
                </a:solidFill>
                <a:latin typeface="Segoe UI Semibold"/>
              </a:rPr>
              <a:t>Never miss a </a:t>
            </a:r>
            <a:r>
              <a:rPr sz="6000" b="1">
                <a:solidFill>
                  <a:srgbClr val="34E0FF"/>
                </a:solidFill>
                <a:latin typeface="Segoe UI Semibold"/>
              </a:rPr>
              <a:t>customer</a:t>
            </a:r>
            <a:r>
              <a:rPr sz="6000" b="1">
                <a:solidFill>
                  <a:srgbClr val="EAF0FF"/>
                </a:solidFill>
                <a:latin typeface="Segoe UI Semibold"/>
              </a:rPr>
              <a:t> again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EAF0FF"/>
                </a:solidFill>
                <a:latin typeface="Segoe UI"/>
              </a:rPr>
              <a:t>An AI agent that answers every visitor — by </a:t>
            </a:r>
            <a:r>
              <a:rPr sz="2000" b="1">
                <a:solidFill>
                  <a:srgbClr val="34E0FF"/>
                </a:solidFill>
                <a:latin typeface="Segoe UI"/>
              </a:rPr>
              <a:t>voice or chat</a:t>
            </a:r>
            <a:r>
              <a:rPr sz="2000" b="0">
                <a:solidFill>
                  <a:srgbClr val="EAF0FF"/>
                </a:solidFill>
                <a:latin typeface="Segoe UI"/>
              </a:rPr>
              <a:t>, on every channel, in their language — and turns them into leads. Automatically.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" y="5349240"/>
            <a:ext cx="1276502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9536" y="5349240"/>
            <a:ext cx="127650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34E0FF"/>
                </a:solidFill>
                <a:latin typeface="Consolas"/>
              </a:rPr>
              <a:t>ANSWERS 24/7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37206" y="5349240"/>
            <a:ext cx="828446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37206" y="5349240"/>
            <a:ext cx="82844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A78BFA"/>
                </a:solidFill>
                <a:latin typeface="Consolas"/>
              </a:rPr>
              <a:t>NO CODE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66820" y="5349240"/>
            <a:ext cx="2083003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6820" y="5349240"/>
            <a:ext cx="20830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34D399"/>
                </a:solidFill>
                <a:latin typeface="Consolas"/>
              </a:rPr>
              <a:t>YOUR DATA STAYS YOURS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8A97C2"/>
                </a:solidFill>
                <a:latin typeface="Consolas"/>
              </a:rPr>
              <a:t>AI·VOICE·CRM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02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SOUND FAMILIAR?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01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YOUR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Every unanswered message </a:t>
            </a:r>
            <a:r>
              <a:rPr sz="3400" b="1">
                <a:solidFill>
                  <a:srgbClr val="8A97C2"/>
                </a:solidFill>
                <a:latin typeface="Segoe UI Semibold"/>
              </a:rPr>
              <a:t>is a lost sale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68880"/>
            <a:ext cx="2542032" cy="292608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" y="2468880"/>
            <a:ext cx="2249424" cy="45720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Visitors leave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58768"/>
            <a:ext cx="20299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Someone lands on your site with a question. No instant reply? They're gone to a competitor.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5" y="2468880"/>
            <a:ext cx="2542032" cy="292608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2468880"/>
            <a:ext cx="2249424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58768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After-hours misses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858768"/>
            <a:ext cx="20299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Nights and weekends are when buyers browse — and when nobody's there to answer.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3" y="2468880"/>
            <a:ext cx="2542032" cy="292608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0527" y="2468880"/>
            <a:ext cx="2249424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20255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0255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⌨️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255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Reps drowning in admin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5" y="3858768"/>
            <a:ext cx="20299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Your team retypes names, numbers and notes into the CRM instead of selling.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1" y="2468880"/>
            <a:ext cx="2542032" cy="292608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72015" y="2468880"/>
            <a:ext cx="2249424" cy="457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81743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3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🗣️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3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Language barrier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3" y="3858768"/>
            <a:ext cx="20299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Customers message in their own language. A one-language bot loses them instantly.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577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7C2"/>
                </a:solidFill>
                <a:latin typeface="Segoe UI"/>
              </a:rPr>
              <a:t>Speed and follow-up win deals — and both are hard to do by hand, all day, every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03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THE FIX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02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MEET AI VOICE CRM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A tireless agent for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your front desk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214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97C2"/>
                </a:solidFill>
                <a:latin typeface="Segoe UI"/>
              </a:rPr>
              <a:t>It greets every visitor, answers from your real business info, and captures their details — day or night, in seconds.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697480"/>
            <a:ext cx="64008" cy="283464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52144" y="29718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295351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8404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0FF"/>
                </a:solidFill>
                <a:latin typeface="Segoe UI Semibold"/>
              </a:rPr>
              <a:t>Answers instantly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343400"/>
            <a:ext cx="27797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Voice or chat replies in seconds — no queue, no waiting, no missed message.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2697480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98848" y="2697480"/>
            <a:ext cx="64008" cy="2834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09744" y="29718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9744" y="295351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38404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0FF"/>
                </a:solidFill>
                <a:latin typeface="Segoe UI Semibold"/>
              </a:rPr>
              <a:t>Knows your business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4343400"/>
            <a:ext cx="27797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Trained on your site, docs, pricing &amp; catalogue — so answers are actually right.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2697480"/>
            <a:ext cx="3383280" cy="283464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56448" y="2697480"/>
            <a:ext cx="64008" cy="2834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67344" y="29718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295351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38404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0FF"/>
                </a:solidFill>
                <a:latin typeface="Segoe UI Semibold"/>
              </a:rPr>
              <a:t>Captures the lead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7344" y="4343400"/>
            <a:ext cx="27797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Grabs name, need &amp; contact and drops a clean lead into your CRM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04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BENEFITS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03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WHAT YOU 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More leads. Less work.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Happier customers.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2024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2024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2024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28600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0704" y="25054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2487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252374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Never miss a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0358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Every visitor is greeted and followed up — 24/7, even at 3am.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228600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18304" y="25054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2487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⏱️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252374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Reply in seconds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30358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Instant answers keep buyers engaged instead of bouncing.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2286000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75904" y="250545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24871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🗃️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252374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Auto-fill your CRM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303580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Clean, structured leads land in your system with zero typing.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3904487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0704" y="41239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0704" y="410565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4142231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Speak 12+ languages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465429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Detects and replies in the customer's own language.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98848" y="3904487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18304" y="41239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410565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5232" y="4142231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On every channel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36592" y="465429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Website, WhatsApp, Instagram, Facebook and phone.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904487"/>
            <a:ext cx="338328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75904" y="41239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410565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🎙️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42832" y="4142231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Sounds human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65429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A natural, cloned voice — not a robotic phone menu.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05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SIMPLE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04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Live in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three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606040"/>
            <a:ext cx="3246120" cy="265176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" y="2834640"/>
            <a:ext cx="566928" cy="566928"/>
          </a:xfrm>
          <a:prstGeom prst="ellips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70B18"/>
                </a:solidFill>
                <a:latin typeface="Segoe UI Semibold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7" y="2871216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3611880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F"/>
                </a:solidFill>
                <a:latin typeface="Segoe UI Semibold"/>
              </a:rPr>
              <a:t>Connect your 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4114800"/>
            <a:ext cx="267919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Point it at your website, upload docs or your product list. It learns your business.</a:t>
            </a:r>
          </a:p>
        </p:txBody>
      </p:sp>
      <p:sp>
        <p:nvSpPr>
          <p:cNvPr id="27" name="Chevron 26"/>
          <p:cNvSpPr/>
          <p:nvPr/>
        </p:nvSpPr>
        <p:spPr>
          <a:xfrm>
            <a:off x="4178807" y="3703320"/>
            <a:ext cx="310896" cy="402336"/>
          </a:xfrm>
          <a:prstGeom prst="chevron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90288" y="2606040"/>
            <a:ext cx="3246120" cy="265176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82896" y="2834640"/>
            <a:ext cx="566928" cy="5669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70B18"/>
                </a:solidFill>
                <a:latin typeface="Segoe UI Semibol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41848" y="2871216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1183" y="3611880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F"/>
                </a:solidFill>
                <a:latin typeface="Segoe UI Semibold"/>
              </a:rPr>
              <a:t>Add it to your channels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3" y="4114800"/>
            <a:ext cx="267919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Drop the widget on your site and link WhatsApp, Instagram or Facebook. No code.</a:t>
            </a:r>
          </a:p>
        </p:txBody>
      </p:sp>
      <p:sp>
        <p:nvSpPr>
          <p:cNvPr id="34" name="Chevron 33"/>
          <p:cNvSpPr/>
          <p:nvPr/>
        </p:nvSpPr>
        <p:spPr>
          <a:xfrm>
            <a:off x="7927848" y="3703320"/>
            <a:ext cx="310896" cy="402336"/>
          </a:xfrm>
          <a:prstGeom prst="chevron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39327" y="2606040"/>
            <a:ext cx="3246120" cy="265176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31936" y="2834640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36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70B18"/>
                </a:solidFill>
                <a:latin typeface="Segoe UI Semibold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0888" y="2871216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0224" y="3611880"/>
            <a:ext cx="2697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AF0FF"/>
                </a:solidFill>
                <a:latin typeface="Segoe UI Semibold"/>
              </a:rPr>
              <a:t>It chats &amp; captures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0224" y="4114800"/>
            <a:ext cx="267919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The agent answers customers and sends every lead straight to your CRM.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5577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7C2"/>
                </a:solidFill>
                <a:latin typeface="Segoe UI"/>
              </a:rPr>
              <a:t>Most businesses are live the same day — we help you onboard.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06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USE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05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BUILT FOR YOUR 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One agent,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many industries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2024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2024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2024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28600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286000"/>
            <a:ext cx="3383280" cy="457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25237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2505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254203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E-commerce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054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Answer product questions, help with orders, recover carts.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228600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8848" y="2286000"/>
            <a:ext cx="338328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18304" y="25237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4" y="2505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254203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Real estate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3054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Qualify buyers, share listings, book viewings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2286000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2286000"/>
            <a:ext cx="338328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75904" y="25237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2505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42832" y="2542032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Clinics &amp;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054096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Book appointments and answer FAQs around the clock.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" y="38587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" y="3858768"/>
            <a:ext cx="3383280" cy="45720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60704" y="409651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" y="40782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411480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Agencies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462686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Deploy a branded agent for each client you manage.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98848" y="38587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98848" y="3858768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718304" y="409651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18304" y="40782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5232" y="411480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Education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6592" y="462686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Handle admissions questions and capture applicants.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6448" y="3858768"/>
            <a:ext cx="3383280" cy="13716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56448" y="3858768"/>
            <a:ext cx="338328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375904" y="4096511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75904" y="40782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42832" y="411480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0FF"/>
                </a:solidFill>
                <a:latin typeface="Segoe UI Semibold"/>
              </a:rPr>
              <a:t>Local services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462686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0">
                <a:solidFill>
                  <a:srgbClr val="8A97C2"/>
                </a:solidFill>
                <a:latin typeface="Segoe UI"/>
              </a:rPr>
              <a:t>Give instant quotes and take bookings while you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07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EVERYWHERE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06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ON EVERY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Wherever your customers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message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651760"/>
            <a:ext cx="1965960" cy="1874519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651760"/>
            <a:ext cx="196596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35607" y="2971800"/>
            <a:ext cx="777240" cy="77724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35607" y="295351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AF0FF"/>
                </a:solidFill>
                <a:latin typeface="Segoe UI Emoj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Website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2651760"/>
            <a:ext cx="1965960" cy="1874519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90088" y="2651760"/>
            <a:ext cx="19659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84448" y="2971800"/>
            <a:ext cx="777240" cy="77724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295351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AF0FF"/>
                </a:solidFill>
                <a:latin typeface="Segoe UI Emoji"/>
              </a:rPr>
              <a:t>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0088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WhatsApp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38928" y="2651760"/>
            <a:ext cx="1965960" cy="1874519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8928" y="2651760"/>
            <a:ext cx="1965960" cy="54864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33288" y="2971800"/>
            <a:ext cx="777240" cy="77724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295351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AF0FF"/>
                </a:solidFill>
                <a:latin typeface="Segoe UI Emoji"/>
              </a:rPr>
              <a:t>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8928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Instagram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87768" y="2651760"/>
            <a:ext cx="1965960" cy="1874519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87768" y="2651760"/>
            <a:ext cx="196596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82128" y="2971800"/>
            <a:ext cx="777240" cy="77724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82128" y="295351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AF0FF"/>
                </a:solidFill>
                <a:latin typeface="Segoe UI Emoji"/>
              </a:rPr>
              <a:t>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Facebook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36608" y="2651760"/>
            <a:ext cx="1965960" cy="1874519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36608" y="2651760"/>
            <a:ext cx="19659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030968" y="2971800"/>
            <a:ext cx="777240" cy="77724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30968" y="295351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EAF0FF"/>
                </a:solidFill>
                <a:latin typeface="Segoe UI Emoji"/>
              </a:rPr>
              <a:t>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36608" y="393192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Phone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" y="4892040"/>
            <a:ext cx="10506456" cy="960120"/>
          </a:xfrm>
          <a:prstGeom prst="roundRect">
            <a:avLst>
              <a:gd name="adj" fmla="val 12000"/>
            </a:avLst>
          </a:prstGeom>
          <a:solidFill>
            <a:srgbClr val="0E1530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" y="4892040"/>
            <a:ext cx="64008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" y="499262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A78BFA"/>
                </a:solidFill>
                <a:latin typeface="Consolas"/>
              </a:rPr>
              <a:t>ONE INBOX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2852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C2"/>
                </a:solidFill>
                <a:latin typeface="Segoe UI"/>
              </a:rPr>
              <a:t>Every conversation, every channel, in one place — with the same smart agent and the same lead capture.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08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MULTILINGUAL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07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SPEAKS THEIR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Talk to customers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in their words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4884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8A97C2"/>
                </a:solidFill>
                <a:latin typeface="Segoe UI"/>
              </a:rPr>
              <a:t>The agent </a:t>
            </a:r>
            <a:r>
              <a:rPr sz="1400" b="1">
                <a:solidFill>
                  <a:srgbClr val="EAF0FF"/>
                </a:solidFill>
                <a:latin typeface="Segoe UI"/>
              </a:rPr>
              <a:t>automatically detects</a:t>
            </a:r>
            <a:r>
              <a:rPr sz="1400" b="0">
                <a:solidFill>
                  <a:srgbClr val="8A97C2"/>
                </a:solidFill>
                <a:latin typeface="Segoe UI"/>
              </a:rPr>
              <a:t> the language a customer writes or speaks in — and replies in the same one. </a:t>
            </a:r>
            <a:r>
              <a:rPr sz="1400" b="1">
                <a:solidFill>
                  <a:srgbClr val="EAF0FF"/>
                </a:solidFill>
                <a:latin typeface="Segoe UI"/>
              </a:rPr>
              <a:t>No settings, no separate bots.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114800"/>
            <a:ext cx="1186891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114800"/>
            <a:ext cx="1186891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100">
                <a:solidFill>
                  <a:srgbClr val="34E0FF"/>
                </a:solidFill>
                <a:latin typeface="Consolas"/>
              </a:rPr>
              <a:t>AUTO-DETECT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4114800"/>
            <a:ext cx="1545336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4114800"/>
            <a:ext cx="15453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100">
                <a:solidFill>
                  <a:srgbClr val="A78BFA"/>
                </a:solidFill>
                <a:latin typeface="Consolas"/>
              </a:rPr>
              <a:t>REPLIES IN KIND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14800"/>
            <a:ext cx="1276502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114800"/>
            <a:ext cx="127650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100">
                <a:solidFill>
                  <a:srgbClr val="34D399"/>
                </a:solidFill>
                <a:latin typeface="Consolas"/>
              </a:rPr>
              <a:t>VOICE + 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514600"/>
            <a:ext cx="4937760" cy="320040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697480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 FEW OF THE LANGUAGES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154680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3154680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English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3154680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9288" y="3154680"/>
            <a:ext cx="8503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اردو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34272" y="3154680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3154680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العربية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685032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685032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Español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9288" y="3685032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9288" y="3685032"/>
            <a:ext cx="12893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Français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73184" y="3685032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3685032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Deutsch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4215384"/>
            <a:ext cx="1399032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215384"/>
            <a:ext cx="1399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Português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38744" y="4215384"/>
            <a:ext cx="63093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8744" y="4215384"/>
            <a:ext cx="6309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中文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34272" y="4215384"/>
            <a:ext cx="1069848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34272" y="4215384"/>
            <a:ext cx="1069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हिन्दी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4745736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4745736"/>
            <a:ext cx="12893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Italiano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29016" y="4745736"/>
            <a:ext cx="1069848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29016" y="4745736"/>
            <a:ext cx="1069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Türkçe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63456" y="4745736"/>
            <a:ext cx="740664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63456" y="4745736"/>
            <a:ext cx="740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日本語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4406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+ more — great for WhatsApp-first markets.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09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TRUST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08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YOUR DATA STAYS YOURS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Private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by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214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97C2"/>
                </a:solidFill>
                <a:latin typeface="Segoe UI"/>
              </a:rPr>
              <a:t>The AI runs on your own infrastructure — not a third-party cloud. Your customers' conversations belong to you.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338328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697480"/>
            <a:ext cx="33832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67128" y="3017520"/>
            <a:ext cx="731520" cy="73152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67128" y="29992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9319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AF0FF"/>
                </a:solidFill>
                <a:latin typeface="Segoe UI Semibold"/>
              </a:rPr>
              <a:t>Data never leaves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44348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Conversations and customer details stay on your servers — nothing sold or shared.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2697480"/>
            <a:ext cx="338328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98848" y="2697480"/>
            <a:ext cx="338328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824728" y="3017520"/>
            <a:ext cx="731520" cy="73152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24728" y="29992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39319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AF0FF"/>
                </a:solidFill>
                <a:latin typeface="Segoe UI Semibold"/>
              </a:rPr>
              <a:t>No per-message bills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44348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Predictable flat cost — chat as much as you want without a meter running.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2697480"/>
            <a:ext cx="3383280" cy="2743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56448" y="269748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82328" y="3017520"/>
            <a:ext cx="731520" cy="731520"/>
          </a:xfrm>
          <a:prstGeom prst="ellipse">
            <a:avLst/>
          </a:prstGeom>
          <a:solidFill>
            <a:srgbClr val="141C3D"/>
          </a:solidFill>
          <a:ln w="1651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2328" y="299923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39319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EAF0FF"/>
                </a:solidFill>
                <a:latin typeface="Segoe UI Semibold"/>
              </a:rPr>
              <a:t>Compliance-friendly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443484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Perfect for health, finance and any business that must keep data in-house.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10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EASY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09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EASY FOR YOUR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No code.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No headaches.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68880"/>
            <a:ext cx="516636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468880"/>
            <a:ext cx="54864" cy="14173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27249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7066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1368" y="2743200"/>
            <a:ext cx="4069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No-code flow builder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1368" y="321868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Design how the agent talks and what it asks — visually, by dragging blocks.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2468880"/>
            <a:ext cx="516636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2468880"/>
            <a:ext cx="54864" cy="14173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272491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7066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2743200"/>
            <a:ext cx="4069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Add your whole 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321868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Invite teammates with the right access — owners, managers, agents.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4114800"/>
            <a:ext cx="516636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" y="4114800"/>
            <a:ext cx="54864" cy="1417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97280" y="437083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3525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" y="4389120"/>
            <a:ext cx="4069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Bring your own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01368" y="486460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Upload PDFs, price lists or point it at your site — it learns instantly.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81928" y="4114800"/>
            <a:ext cx="5166360" cy="14173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81928" y="4114800"/>
            <a:ext cx="54864" cy="14173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537960" y="437083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35254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4389120"/>
            <a:ext cx="4069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We help you launch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4864608"/>
            <a:ext cx="4023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Guided onboarding gets you live fast, with support when you need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11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10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SIMPLE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Plans that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grow with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377440"/>
            <a:ext cx="2542032" cy="31089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377440"/>
            <a:ext cx="2542032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651760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34E0FF"/>
                </a:solidFill>
                <a:latin typeface="Consolas"/>
              </a:rPr>
              <a:t>STARTER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2962656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0FF"/>
                </a:solidFill>
                <a:latin typeface="Segoe UI Semibold"/>
              </a:rPr>
              <a:t>$49</a:t>
            </a:r>
            <a:r>
              <a:rPr sz="1200" b="0">
                <a:solidFill>
                  <a:srgbClr val="8A97C2"/>
                </a:solidFill>
                <a:latin typeface="Segoe UI"/>
              </a:rPr>
              <a:t>  /mo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15568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1 website widget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Chat replies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Auto lead 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Email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02735" y="2377440"/>
            <a:ext cx="2542032" cy="310896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2032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02735" y="2377440"/>
            <a:ext cx="2542032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681727" y="254203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7" y="2542032"/>
            <a:ext cx="12801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spc="100">
                <a:solidFill>
                  <a:srgbClr val="070B18"/>
                </a:solidFill>
                <a:latin typeface="Consolas"/>
              </a:rPr>
              <a:t>BEST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77055" y="2651760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8B5CF6"/>
                </a:solidFill>
                <a:latin typeface="Consolas"/>
              </a:rPr>
              <a:t>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7055" y="2962656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0FF"/>
                </a:solidFill>
                <a:latin typeface="Segoe UI Semibold"/>
              </a:rPr>
              <a:t>$199</a:t>
            </a:r>
            <a:r>
              <a:rPr sz="1200" b="0">
                <a:solidFill>
                  <a:srgbClr val="8A97C2"/>
                </a:solidFill>
                <a:latin typeface="Segoe UI"/>
              </a:rPr>
              <a:t>  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77055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77055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9663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Voice + WhatsApp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5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9663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3 projects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77055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9663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Multi-language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77055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9663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Priority support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64223" y="2377440"/>
            <a:ext cx="2542032" cy="31089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64223" y="2377440"/>
            <a:ext cx="2542032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38543" y="2651760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6366F1"/>
                </a:solidFill>
                <a:latin typeface="Consolas"/>
              </a:rPr>
              <a:t>SCALE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38543" y="2962656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0FF"/>
                </a:solidFill>
                <a:latin typeface="Segoe UI Semibold"/>
              </a:rPr>
              <a:t>$599</a:t>
            </a:r>
            <a:r>
              <a:rPr sz="1200" b="0">
                <a:solidFill>
                  <a:srgbClr val="8A97C2"/>
                </a:solidFill>
                <a:latin typeface="Segoe UI"/>
              </a:rPr>
              <a:t>  /mo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38543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8543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31151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All channels + phone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38543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31151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10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38543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31151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Team roles &amp; flows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543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31151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Onboarding help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125711" y="2377440"/>
            <a:ext cx="2542032" cy="31089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25711" y="2377440"/>
            <a:ext cx="2542032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00032" y="2651760"/>
            <a:ext cx="199339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FBBF24"/>
                </a:solidFill>
                <a:latin typeface="Consolas"/>
              </a:rPr>
              <a:t>AGENCY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00032" y="2962656"/>
            <a:ext cx="199339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0FF"/>
                </a:solidFill>
                <a:latin typeface="Segoe UI Semibold"/>
              </a:rPr>
              <a:t>Let's talk</a:t>
            </a:r>
            <a:r>
              <a:rPr sz="1200" b="0">
                <a:solidFill>
                  <a:srgbClr val="8A97C2"/>
                </a:solidFill>
                <a:latin typeface="Segoe U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9400032" y="3611880"/>
            <a:ext cx="1993391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00032" y="3794760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92639" y="3794760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White-label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00032" y="4178808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92639" y="4178808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Unlimited clients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00032" y="4562856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92639" y="4562856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Dedicated setup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00032" y="4946904"/>
            <a:ext cx="274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Segoe U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39" y="4946904"/>
            <a:ext cx="1719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AF0FF"/>
                </a:solidFill>
                <a:latin typeface="Segoe UI"/>
              </a:rPr>
              <a:t>SLA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3A4680"/>
                </a:solidFill>
                <a:latin typeface="Consolas"/>
              </a:rPr>
              <a:t>Sample pricing shown — ask us for a quote tailored to your 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4572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12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WHY 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10058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11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WHY CHOOSE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Not just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another chatbot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10506456" cy="621792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14600"/>
            <a:ext cx="54864" cy="621792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1560" y="2688336"/>
            <a:ext cx="274320" cy="274320"/>
          </a:xfrm>
          <a:prstGeom prst="ellipse">
            <a:avLst/>
          </a:prstGeom>
          <a:noFill/>
          <a:ln w="1778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267004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E0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514600"/>
            <a:ext cx="5669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Answers from your real business 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514600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Generic bots guess — ours is grounded on your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3209544"/>
            <a:ext cx="10506456" cy="621792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" y="3209544"/>
            <a:ext cx="54864" cy="6217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3383279"/>
            <a:ext cx="274320" cy="274320"/>
          </a:xfrm>
          <a:prstGeom prst="ellipse">
            <a:avLst/>
          </a:prstGeom>
          <a:noFill/>
          <a:ln w="1778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33649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3209544"/>
            <a:ext cx="5669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Real voice, not a phone menu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209544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Natural spoken replies your customers actually enjoy.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3904487"/>
            <a:ext cx="10506456" cy="621792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" y="3904487"/>
            <a:ext cx="54864" cy="6217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1560" y="4078224"/>
            <a:ext cx="274320" cy="274320"/>
          </a:xfrm>
          <a:prstGeom prst="ellipse">
            <a:avLst/>
          </a:prstGeom>
          <a:noFill/>
          <a:ln w="1778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05993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366F1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3904487"/>
            <a:ext cx="5669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Works on web, WhatsApp, IG, FB &amp; phone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904487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One agent everywhere — not five disconnected tools.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" y="4599431"/>
            <a:ext cx="10506456" cy="621792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" y="4599431"/>
            <a:ext cx="54864" cy="62179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1560" y="4773168"/>
            <a:ext cx="274320" cy="274320"/>
          </a:xfrm>
          <a:prstGeom prst="ellipse">
            <a:avLst/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5487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4599431"/>
            <a:ext cx="5669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Speaks 12+ languages automatically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599431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Reach every customer without extra setup.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294375"/>
            <a:ext cx="10506456" cy="621792"/>
          </a:xfrm>
          <a:prstGeom prst="roundRect">
            <a:avLst>
              <a:gd name="adj" fmla="val 14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" y="5294375"/>
            <a:ext cx="54864" cy="621792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1560" y="5468112"/>
            <a:ext cx="274320" cy="274320"/>
          </a:xfrm>
          <a:prstGeom prst="ellipse">
            <a:avLst/>
          </a:prstGeom>
          <a:noFill/>
          <a:ln w="1778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544982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B5CA3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8760" y="5294375"/>
            <a:ext cx="56692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Your data stays private, no per-msg fees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5294375"/>
            <a:ext cx="3977639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Predictable cost and full ownership of conversations.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548640" y="-548640"/>
            <a:ext cx="2926080" cy="2926080"/>
          </a:xfrm>
          <a:prstGeom prst="ellipse">
            <a:avLst/>
          </a:prstGeom>
          <a:noFill/>
          <a:ln w="12700">
            <a:solidFill>
              <a:srgbClr val="2A3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0" y="4389120"/>
            <a:ext cx="3474720" cy="3474720"/>
          </a:xfrm>
          <a:prstGeom prst="ellipse">
            <a:avLst/>
          </a:prstGeom>
          <a:noFill/>
          <a:ln w="1524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0771" y="1581546"/>
            <a:ext cx="62407" cy="311627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9361" y="1512476"/>
            <a:ext cx="62407" cy="44976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37951" y="1493358"/>
            <a:ext cx="62407" cy="488003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86541" y="1519538"/>
            <a:ext cx="62407" cy="435643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5131" y="1562778"/>
            <a:ext cx="62407" cy="349163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3721" y="1575206"/>
            <a:ext cx="62407" cy="324307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2311" y="1572738"/>
            <a:ext cx="62407" cy="329243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80901" y="1521002"/>
            <a:ext cx="62407" cy="43271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529491" y="1460765"/>
            <a:ext cx="62407" cy="55318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78081" y="1429712"/>
            <a:ext cx="62407" cy="61529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26671" y="1454619"/>
            <a:ext cx="62407" cy="56548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75261" y="1536000"/>
            <a:ext cx="62407" cy="40271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3851" y="1516991"/>
            <a:ext cx="62407" cy="440737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2441" y="1421574"/>
            <a:ext cx="62407" cy="63157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21031" y="1379012"/>
            <a:ext cx="62407" cy="71669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69621" y="1403779"/>
            <a:ext cx="62407" cy="66716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18211" y="1480083"/>
            <a:ext cx="62407" cy="5145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66801" y="1570488"/>
            <a:ext cx="62407" cy="33374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15391" y="1527912"/>
            <a:ext cx="62407" cy="41889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63981" y="1511263"/>
            <a:ext cx="62407" cy="452193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2571" y="1537290"/>
            <a:ext cx="62407" cy="400138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61161" y="1577550"/>
            <a:ext cx="62407" cy="31961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09751" y="1565797"/>
            <a:ext cx="62407" cy="34312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58341" y="1575407"/>
            <a:ext cx="62407" cy="32390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>
                <a:solidFill>
                  <a:srgbClr val="EAF0FF"/>
                </a:solidFill>
                <a:latin typeface="Segoe UI Semibold"/>
              </a:rPr>
              <a:t>See it live </a:t>
            </a:r>
            <a:r>
              <a:rPr sz="5000" b="1">
                <a:solidFill>
                  <a:srgbClr val="34E0FF"/>
                </a:solidFill>
                <a:latin typeface="Segoe UI Semibold"/>
              </a:rPr>
              <a:t>on your 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361188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8A97C2"/>
                </a:solidFill>
                <a:latin typeface="Segoe UI"/>
              </a:rPr>
              <a:t>Start capturing leads this week. Free demo — we'll set it up with your content.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61791" y="4526280"/>
            <a:ext cx="2542032" cy="5029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61791" y="4526280"/>
            <a:ext cx="25420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4E0FF"/>
                </a:solidFill>
                <a:latin typeface="Consolas"/>
              </a:rPr>
              <a:t>▸  BOOK A FREE DEMO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8143" y="452628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8143" y="4526280"/>
            <a:ext cx="2651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4D399"/>
                </a:solidFill>
                <a:latin typeface="Consolas"/>
              </a:rPr>
              <a:t>▸  Umer.m@msd-my.com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8A97C2"/>
                </a:solidFill>
                <a:latin typeface="Consolas"/>
              </a:rPr>
              <a:t>AI·VOICE·CRM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6382512"/>
            <a:ext cx="4937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300">
                <a:solidFill>
                  <a:srgbClr val="34E0FF"/>
                </a:solidFill>
                <a:latin typeface="Consolas"/>
              </a:rPr>
              <a:t>LET'S TALK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