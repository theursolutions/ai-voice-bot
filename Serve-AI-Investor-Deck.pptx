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371600"/>
            <a:ext cx="8229600" cy="457200"/>
          </a:xfrm>
          <a:prstGeom prst="rect">
            <a:avLst/>
          </a:prstGeom>
          <a:noFill/>
        </p:spPr>
        <p:txBody>
          <a:bodyPr wrap="square" lIns="0" rIns="0" tIns="0" bIns="0">
            <a:spAutoFit/>
          </a:bodyPr>
          <a:lstStyle/>
          <a:p>
            <a:pPr algn="l">
              <a:lnSpc>
                <a:spcPct val="125000"/>
              </a:lnSpc>
            </a:pPr>
            <a:r>
              <a:rPr sz="1300" b="0" spc="160">
                <a:solidFill>
                  <a:srgbClr val="4FBFA0"/>
                </a:solidFill>
                <a:latin typeface="Consolas"/>
              </a:rPr>
              <a:t>SERVE AI</a:t>
            </a:r>
          </a:p>
        </p:txBody>
      </p:sp>
      <p:sp>
        <p:nvSpPr>
          <p:cNvPr id="4" name="TextBox 3"/>
          <p:cNvSpPr txBox="1"/>
          <p:nvPr/>
        </p:nvSpPr>
        <p:spPr>
          <a:xfrm>
            <a:off x="713232" y="1965960"/>
            <a:ext cx="9601200" cy="1828800"/>
          </a:xfrm>
          <a:prstGeom prst="rect">
            <a:avLst/>
          </a:prstGeom>
          <a:noFill/>
        </p:spPr>
        <p:txBody>
          <a:bodyPr wrap="square" lIns="0" rIns="0" tIns="0" bIns="0">
            <a:spAutoFit/>
          </a:bodyPr>
          <a:lstStyle/>
          <a:p>
            <a:pPr algn="l">
              <a:lnSpc>
                <a:spcPct val="106000"/>
              </a:lnSpc>
            </a:pPr>
            <a:r>
              <a:rPr sz="4400" b="1">
                <a:solidFill>
                  <a:srgbClr val="FFFFFF"/>
                </a:solidFill>
                <a:latin typeface="Georgia"/>
              </a:rPr>
              <a:t>What it costs to run Serve AI</a:t>
            </a:r>
          </a:p>
          <a:p>
            <a:pPr algn="l">
              <a:lnSpc>
                <a:spcPct val="106000"/>
              </a:lnSpc>
            </a:pPr>
            <a:r>
              <a:rPr sz="4400" b="1">
                <a:solidFill>
                  <a:srgbClr val="FFFFFF"/>
                </a:solidFill>
                <a:latin typeface="Georgia"/>
              </a:rPr>
              <a:t>and what it earns</a:t>
            </a:r>
          </a:p>
        </p:txBody>
      </p:sp>
      <p:sp>
        <p:nvSpPr>
          <p:cNvPr id="5" name="TextBox 4"/>
          <p:cNvSpPr txBox="1"/>
          <p:nvPr/>
        </p:nvSpPr>
        <p:spPr>
          <a:xfrm>
            <a:off x="713232" y="3977639"/>
            <a:ext cx="8595360" cy="914400"/>
          </a:xfrm>
          <a:prstGeom prst="rect">
            <a:avLst/>
          </a:prstGeom>
          <a:noFill/>
        </p:spPr>
        <p:txBody>
          <a:bodyPr wrap="square" lIns="0" rIns="0" tIns="0" bIns="0">
            <a:spAutoFit/>
          </a:bodyPr>
          <a:lstStyle/>
          <a:p>
            <a:pPr algn="l">
              <a:lnSpc>
                <a:spcPct val="145000"/>
              </a:lnSpc>
            </a:pPr>
            <a:r>
              <a:rPr sz="1400" b="0">
                <a:solidFill>
                  <a:srgbClr val="A9BFC3"/>
                </a:solidFill>
                <a:latin typeface="Segoe UI"/>
              </a:rPr>
              <a:t>A per-message cost model measured from the running system, priced three ways — hosted APIs, rented GPUs, and hardware we own — against revenue at 10, 50 and 100 clients.</a:t>
            </a:r>
          </a:p>
        </p:txBody>
      </p:sp>
      <p:sp>
        <p:nvSpPr>
          <p:cNvPr id="6" name="TextBox 5"/>
          <p:cNvSpPr txBox="1"/>
          <p:nvPr/>
        </p:nvSpPr>
        <p:spPr>
          <a:xfrm>
            <a:off x="713232" y="5212080"/>
            <a:ext cx="2560320" cy="228600"/>
          </a:xfrm>
          <a:prstGeom prst="rect">
            <a:avLst/>
          </a:prstGeom>
          <a:noFill/>
        </p:spPr>
        <p:txBody>
          <a:bodyPr wrap="square" lIns="0" rIns="0" tIns="0" bIns="0">
            <a:spAutoFit/>
          </a:bodyPr>
          <a:lstStyle/>
          <a:p>
            <a:pPr algn="l">
              <a:lnSpc>
                <a:spcPct val="125000"/>
              </a:lnSpc>
            </a:pPr>
            <a:r>
              <a:rPr sz="950" b="0" spc="120">
                <a:solidFill>
                  <a:srgbClr val="7B949B"/>
                </a:solidFill>
                <a:latin typeface="Consolas"/>
              </a:rPr>
              <a:t>SERVER</a:t>
            </a:r>
          </a:p>
        </p:txBody>
      </p:sp>
      <p:sp>
        <p:nvSpPr>
          <p:cNvPr id="7" name="TextBox 6"/>
          <p:cNvSpPr txBox="1"/>
          <p:nvPr/>
        </p:nvSpPr>
        <p:spPr>
          <a:xfrm>
            <a:off x="713232" y="5468112"/>
            <a:ext cx="2651760" cy="274320"/>
          </a:xfrm>
          <a:prstGeom prst="rect">
            <a:avLst/>
          </a:prstGeom>
          <a:noFill/>
        </p:spPr>
        <p:txBody>
          <a:bodyPr wrap="square" lIns="0" rIns="0" tIns="0" bIns="0">
            <a:spAutoFit/>
          </a:bodyPr>
          <a:lstStyle/>
          <a:p>
            <a:pPr algn="l">
              <a:lnSpc>
                <a:spcPct val="125000"/>
              </a:lnSpc>
            </a:pPr>
            <a:r>
              <a:rPr sz="1250" b="0">
                <a:solidFill>
                  <a:srgbClr val="FFFFFF"/>
                </a:solidFill>
                <a:latin typeface="Consolas"/>
              </a:rPr>
              <a:t>PKR 60,000 / yr</a:t>
            </a:r>
          </a:p>
        </p:txBody>
      </p:sp>
      <p:sp>
        <p:nvSpPr>
          <p:cNvPr id="8" name="TextBox 7"/>
          <p:cNvSpPr txBox="1"/>
          <p:nvPr/>
        </p:nvSpPr>
        <p:spPr>
          <a:xfrm>
            <a:off x="3502152" y="5212080"/>
            <a:ext cx="2560320" cy="228600"/>
          </a:xfrm>
          <a:prstGeom prst="rect">
            <a:avLst/>
          </a:prstGeom>
          <a:noFill/>
        </p:spPr>
        <p:txBody>
          <a:bodyPr wrap="square" lIns="0" rIns="0" tIns="0" bIns="0">
            <a:spAutoFit/>
          </a:bodyPr>
          <a:lstStyle/>
          <a:p>
            <a:pPr algn="l">
              <a:lnSpc>
                <a:spcPct val="125000"/>
              </a:lnSpc>
            </a:pPr>
            <a:r>
              <a:rPr sz="950" b="0" spc="120">
                <a:solidFill>
                  <a:srgbClr val="7B949B"/>
                </a:solidFill>
                <a:latin typeface="Consolas"/>
              </a:rPr>
              <a:t>VOLUME</a:t>
            </a:r>
          </a:p>
        </p:txBody>
      </p:sp>
      <p:sp>
        <p:nvSpPr>
          <p:cNvPr id="9" name="TextBox 8"/>
          <p:cNvSpPr txBox="1"/>
          <p:nvPr/>
        </p:nvSpPr>
        <p:spPr>
          <a:xfrm>
            <a:off x="3502152" y="5468112"/>
            <a:ext cx="2651760" cy="274320"/>
          </a:xfrm>
          <a:prstGeom prst="rect">
            <a:avLst/>
          </a:prstGeom>
          <a:noFill/>
        </p:spPr>
        <p:txBody>
          <a:bodyPr wrap="square" lIns="0" rIns="0" tIns="0" bIns="0">
            <a:spAutoFit/>
          </a:bodyPr>
          <a:lstStyle/>
          <a:p>
            <a:pPr algn="l">
              <a:lnSpc>
                <a:spcPct val="125000"/>
              </a:lnSpc>
            </a:pPr>
            <a:r>
              <a:rPr sz="1250" b="0">
                <a:solidFill>
                  <a:srgbClr val="FFFFFF"/>
                </a:solidFill>
                <a:latin typeface="Consolas"/>
              </a:rPr>
              <a:t>15,000 msgs / client / mo</a:t>
            </a:r>
          </a:p>
        </p:txBody>
      </p:sp>
      <p:sp>
        <p:nvSpPr>
          <p:cNvPr id="10" name="TextBox 9"/>
          <p:cNvSpPr txBox="1"/>
          <p:nvPr/>
        </p:nvSpPr>
        <p:spPr>
          <a:xfrm>
            <a:off x="6291072" y="5212080"/>
            <a:ext cx="2560320" cy="228600"/>
          </a:xfrm>
          <a:prstGeom prst="rect">
            <a:avLst/>
          </a:prstGeom>
          <a:noFill/>
        </p:spPr>
        <p:txBody>
          <a:bodyPr wrap="square" lIns="0" rIns="0" tIns="0" bIns="0">
            <a:spAutoFit/>
          </a:bodyPr>
          <a:lstStyle/>
          <a:p>
            <a:pPr algn="l">
              <a:lnSpc>
                <a:spcPct val="125000"/>
              </a:lnSpc>
            </a:pPr>
            <a:r>
              <a:rPr sz="950" b="0" spc="120">
                <a:solidFill>
                  <a:srgbClr val="7B949B"/>
                </a:solidFill>
                <a:latin typeface="Consolas"/>
              </a:rPr>
              <a:t>ARPU</a:t>
            </a:r>
          </a:p>
        </p:txBody>
      </p:sp>
      <p:sp>
        <p:nvSpPr>
          <p:cNvPr id="11" name="TextBox 10"/>
          <p:cNvSpPr txBox="1"/>
          <p:nvPr/>
        </p:nvSpPr>
        <p:spPr>
          <a:xfrm>
            <a:off x="6291072" y="5468112"/>
            <a:ext cx="2651760" cy="274320"/>
          </a:xfrm>
          <a:prstGeom prst="rect">
            <a:avLst/>
          </a:prstGeom>
          <a:noFill/>
        </p:spPr>
        <p:txBody>
          <a:bodyPr wrap="square" lIns="0" rIns="0" tIns="0" bIns="0">
            <a:spAutoFit/>
          </a:bodyPr>
          <a:lstStyle/>
          <a:p>
            <a:pPr algn="l">
              <a:lnSpc>
                <a:spcPct val="125000"/>
              </a:lnSpc>
            </a:pPr>
            <a:r>
              <a:rPr sz="1250" b="0">
                <a:solidFill>
                  <a:srgbClr val="FFFFFF"/>
                </a:solidFill>
                <a:latin typeface="Consolas"/>
              </a:rPr>
              <a:t>$99 / client / mo</a:t>
            </a:r>
          </a:p>
        </p:txBody>
      </p:sp>
      <p:sp>
        <p:nvSpPr>
          <p:cNvPr id="12" name="TextBox 11"/>
          <p:cNvSpPr txBox="1"/>
          <p:nvPr/>
        </p:nvSpPr>
        <p:spPr>
          <a:xfrm>
            <a:off x="9079992" y="5212080"/>
            <a:ext cx="2560320" cy="228600"/>
          </a:xfrm>
          <a:prstGeom prst="rect">
            <a:avLst/>
          </a:prstGeom>
          <a:noFill/>
        </p:spPr>
        <p:txBody>
          <a:bodyPr wrap="square" lIns="0" rIns="0" tIns="0" bIns="0">
            <a:spAutoFit/>
          </a:bodyPr>
          <a:lstStyle/>
          <a:p>
            <a:pPr algn="l">
              <a:lnSpc>
                <a:spcPct val="125000"/>
              </a:lnSpc>
            </a:pPr>
            <a:r>
              <a:rPr sz="950" b="0" spc="120">
                <a:solidFill>
                  <a:srgbClr val="7B949B"/>
                </a:solidFill>
                <a:latin typeface="Consolas"/>
              </a:rPr>
              <a:t>FX</a:t>
            </a:r>
          </a:p>
        </p:txBody>
      </p:sp>
      <p:sp>
        <p:nvSpPr>
          <p:cNvPr id="13" name="TextBox 12"/>
          <p:cNvSpPr txBox="1"/>
          <p:nvPr/>
        </p:nvSpPr>
        <p:spPr>
          <a:xfrm>
            <a:off x="9079992" y="5468112"/>
            <a:ext cx="2651760" cy="274320"/>
          </a:xfrm>
          <a:prstGeom prst="rect">
            <a:avLst/>
          </a:prstGeom>
          <a:noFill/>
        </p:spPr>
        <p:txBody>
          <a:bodyPr wrap="square" lIns="0" rIns="0" tIns="0" bIns="0">
            <a:spAutoFit/>
          </a:bodyPr>
          <a:lstStyle/>
          <a:p>
            <a:pPr algn="l">
              <a:lnSpc>
                <a:spcPct val="125000"/>
              </a:lnSpc>
            </a:pPr>
            <a:r>
              <a:rPr sz="1250" b="0">
                <a:solidFill>
                  <a:srgbClr val="FFFFFF"/>
                </a:solidFill>
                <a:latin typeface="Consolas"/>
              </a:rPr>
              <a:t>280 PKR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548640" cy="274320"/>
          </a:xfrm>
          <a:prstGeom prst="rect">
            <a:avLst/>
          </a:prstGeom>
          <a:noFill/>
        </p:spPr>
        <p:txBody>
          <a:bodyPr wrap="square" lIns="0" rIns="0" tIns="0" bIns="0">
            <a:spAutoFit/>
          </a:bodyPr>
          <a:lstStyle/>
          <a:p>
            <a:pPr algn="l">
              <a:lnSpc>
                <a:spcPct val="125000"/>
              </a:lnSpc>
            </a:pPr>
            <a:r>
              <a:rPr sz="1100" b="1" spc="130">
                <a:solidFill>
                  <a:srgbClr val="0B6E5B"/>
                </a:solidFill>
                <a:latin typeface="Consolas"/>
              </a:rPr>
              <a:t>01</a:t>
            </a:r>
          </a:p>
        </p:txBody>
      </p:sp>
      <p:sp>
        <p:nvSpPr>
          <p:cNvPr id="4" name="TextBox 3"/>
          <p:cNvSpPr txBox="1"/>
          <p:nvPr/>
        </p:nvSpPr>
        <p:spPr>
          <a:xfrm>
            <a:off x="1188720" y="457200"/>
            <a:ext cx="8229600" cy="274320"/>
          </a:xfrm>
          <a:prstGeom prst="rect">
            <a:avLst/>
          </a:prstGeom>
          <a:noFill/>
        </p:spPr>
        <p:txBody>
          <a:bodyPr wrap="square" lIns="0" rIns="0" tIns="0" bIns="0">
            <a:spAutoFit/>
          </a:bodyPr>
          <a:lstStyle/>
          <a:p>
            <a:pPr algn="l">
              <a:lnSpc>
                <a:spcPct val="125000"/>
              </a:lnSpc>
            </a:pPr>
            <a:r>
              <a:rPr sz="1100" b="0" spc="130">
                <a:solidFill>
                  <a:srgbClr val="6B8087"/>
                </a:solidFill>
                <a:latin typeface="Consolas"/>
              </a:rPr>
              <a:t>THE INVESTOR SUMMARY</a:t>
            </a:r>
          </a:p>
        </p:txBody>
      </p:sp>
      <p:sp>
        <p:nvSpPr>
          <p:cNvPr id="5" name="TextBox 4"/>
          <p:cNvSpPr txBox="1"/>
          <p:nvPr/>
        </p:nvSpPr>
        <p:spPr>
          <a:xfrm>
            <a:off x="713232" y="868680"/>
            <a:ext cx="10765231" cy="914400"/>
          </a:xfrm>
          <a:prstGeom prst="rect">
            <a:avLst/>
          </a:prstGeom>
          <a:noFill/>
        </p:spPr>
        <p:txBody>
          <a:bodyPr wrap="square" lIns="0" rIns="0" tIns="0" bIns="0">
            <a:spAutoFit/>
          </a:bodyPr>
          <a:lstStyle/>
          <a:p>
            <a:pPr algn="l">
              <a:lnSpc>
                <a:spcPct val="106000"/>
              </a:lnSpc>
            </a:pPr>
            <a:r>
              <a:rPr sz="3000" b="1">
                <a:solidFill>
                  <a:srgbClr val="0F1E24"/>
                </a:solidFill>
                <a:latin typeface="Georgia"/>
              </a:rPr>
              <a:t>93% infrastructure gross margin, no capital expenditure</a:t>
            </a:r>
          </a:p>
        </p:txBody>
      </p:sp>
      <p:sp>
        <p:nvSpPr>
          <p:cNvPr id="6" name="TextBox 5"/>
          <p:cNvSpPr txBox="1"/>
          <p:nvPr/>
        </p:nvSpPr>
        <p:spPr>
          <a:xfrm>
            <a:off x="713232" y="1572768"/>
            <a:ext cx="8778240" cy="822960"/>
          </a:xfrm>
          <a:prstGeom prst="rect">
            <a:avLst/>
          </a:prstGeom>
          <a:noFill/>
        </p:spPr>
        <p:txBody>
          <a:bodyPr wrap="square" lIns="0" rIns="0" tIns="0" bIns="0">
            <a:spAutoFit/>
          </a:bodyPr>
          <a:lstStyle/>
          <a:p>
            <a:pPr algn="l">
              <a:lnSpc>
                <a:spcPct val="140000"/>
              </a:lnSpc>
            </a:pPr>
            <a:r>
              <a:rPr sz="1300" b="0">
                <a:solidFill>
                  <a:srgbClr val="3D5259"/>
                </a:solidFill>
                <a:latin typeface="Segoe UI"/>
              </a:rPr>
              <a:t>At 100 clients on the efficient tier. Every input scales with usage, so margin holds from the first client rather than waiting for volume.</a:t>
            </a:r>
          </a:p>
        </p:txBody>
      </p:sp>
      <p:sp>
        <p:nvSpPr>
          <p:cNvPr id="7" name="Rounded Rectangle 6"/>
          <p:cNvSpPr/>
          <p:nvPr/>
        </p:nvSpPr>
        <p:spPr>
          <a:xfrm>
            <a:off x="713232" y="2697480"/>
            <a:ext cx="2615184" cy="169164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50976" y="2926080"/>
            <a:ext cx="2157984" cy="274320"/>
          </a:xfrm>
          <a:prstGeom prst="rect">
            <a:avLst/>
          </a:prstGeom>
          <a:noFill/>
        </p:spPr>
        <p:txBody>
          <a:bodyPr wrap="square" lIns="0" rIns="0" tIns="0" bIns="0">
            <a:spAutoFit/>
          </a:bodyPr>
          <a:lstStyle/>
          <a:p>
            <a:pPr algn="l">
              <a:lnSpc>
                <a:spcPct val="125000"/>
              </a:lnSpc>
            </a:pPr>
            <a:r>
              <a:rPr sz="950" b="0" spc="120">
                <a:solidFill>
                  <a:srgbClr val="6B8087"/>
                </a:solidFill>
                <a:latin typeface="Consolas"/>
              </a:rPr>
              <a:t>COST PER CLIENT</a:t>
            </a:r>
          </a:p>
        </p:txBody>
      </p:sp>
      <p:sp>
        <p:nvSpPr>
          <p:cNvPr id="9" name="TextBox 8"/>
          <p:cNvSpPr txBox="1"/>
          <p:nvPr/>
        </p:nvSpPr>
        <p:spPr>
          <a:xfrm>
            <a:off x="950976" y="3291840"/>
            <a:ext cx="2157984" cy="548640"/>
          </a:xfrm>
          <a:prstGeom prst="rect">
            <a:avLst/>
          </a:prstGeom>
          <a:noFill/>
        </p:spPr>
        <p:txBody>
          <a:bodyPr wrap="square" lIns="0" rIns="0" tIns="0" bIns="0">
            <a:spAutoFit/>
          </a:bodyPr>
          <a:lstStyle/>
          <a:p>
            <a:pPr algn="l">
              <a:lnSpc>
                <a:spcPct val="125000"/>
              </a:lnSpc>
            </a:pPr>
            <a:r>
              <a:rPr sz="3200" b="1">
                <a:solidFill>
                  <a:srgbClr val="1F7A4D"/>
                </a:solidFill>
                <a:latin typeface="Consolas"/>
              </a:rPr>
              <a:t>$6.65</a:t>
            </a:r>
          </a:p>
        </p:txBody>
      </p:sp>
      <p:sp>
        <p:nvSpPr>
          <p:cNvPr id="10" name="TextBox 9"/>
          <p:cNvSpPr txBox="1"/>
          <p:nvPr/>
        </p:nvSpPr>
        <p:spPr>
          <a:xfrm>
            <a:off x="950976" y="3913632"/>
            <a:ext cx="2157984" cy="274320"/>
          </a:xfrm>
          <a:prstGeom prst="rect">
            <a:avLst/>
          </a:prstGeom>
          <a:noFill/>
        </p:spPr>
        <p:txBody>
          <a:bodyPr wrap="square" lIns="0" rIns="0" tIns="0" bIns="0">
            <a:spAutoFit/>
          </a:bodyPr>
          <a:lstStyle/>
          <a:p>
            <a:pPr algn="l">
              <a:lnSpc>
                <a:spcPct val="125000"/>
              </a:lnSpc>
            </a:pPr>
            <a:r>
              <a:rPr sz="1050" b="0">
                <a:solidFill>
                  <a:srgbClr val="6B8087"/>
                </a:solidFill>
                <a:latin typeface="Segoe UI"/>
              </a:rPr>
              <a:t>per month, all-in</a:t>
            </a:r>
          </a:p>
        </p:txBody>
      </p:sp>
      <p:sp>
        <p:nvSpPr>
          <p:cNvPr id="11" name="Rounded Rectangle 10"/>
          <p:cNvSpPr/>
          <p:nvPr/>
        </p:nvSpPr>
        <p:spPr>
          <a:xfrm>
            <a:off x="3584448" y="2697480"/>
            <a:ext cx="2615184" cy="169164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822192" y="2926080"/>
            <a:ext cx="2157984" cy="274320"/>
          </a:xfrm>
          <a:prstGeom prst="rect">
            <a:avLst/>
          </a:prstGeom>
          <a:noFill/>
        </p:spPr>
        <p:txBody>
          <a:bodyPr wrap="square" lIns="0" rIns="0" tIns="0" bIns="0">
            <a:spAutoFit/>
          </a:bodyPr>
          <a:lstStyle/>
          <a:p>
            <a:pPr algn="l">
              <a:lnSpc>
                <a:spcPct val="125000"/>
              </a:lnSpc>
            </a:pPr>
            <a:r>
              <a:rPr sz="950" b="0" spc="120">
                <a:solidFill>
                  <a:srgbClr val="6B8087"/>
                </a:solidFill>
                <a:latin typeface="Consolas"/>
              </a:rPr>
              <a:t>GROSS MARGIN</a:t>
            </a:r>
          </a:p>
        </p:txBody>
      </p:sp>
      <p:sp>
        <p:nvSpPr>
          <p:cNvPr id="13" name="TextBox 12"/>
          <p:cNvSpPr txBox="1"/>
          <p:nvPr/>
        </p:nvSpPr>
        <p:spPr>
          <a:xfrm>
            <a:off x="3822192" y="3291840"/>
            <a:ext cx="2157984" cy="548640"/>
          </a:xfrm>
          <a:prstGeom prst="rect">
            <a:avLst/>
          </a:prstGeom>
          <a:noFill/>
        </p:spPr>
        <p:txBody>
          <a:bodyPr wrap="square" lIns="0" rIns="0" tIns="0" bIns="0">
            <a:spAutoFit/>
          </a:bodyPr>
          <a:lstStyle/>
          <a:p>
            <a:pPr algn="l">
              <a:lnSpc>
                <a:spcPct val="125000"/>
              </a:lnSpc>
            </a:pPr>
            <a:r>
              <a:rPr sz="3200" b="1">
                <a:solidFill>
                  <a:srgbClr val="1F7A4D"/>
                </a:solidFill>
                <a:latin typeface="Consolas"/>
              </a:rPr>
              <a:t>93.3%</a:t>
            </a:r>
          </a:p>
        </p:txBody>
      </p:sp>
      <p:sp>
        <p:nvSpPr>
          <p:cNvPr id="14" name="TextBox 13"/>
          <p:cNvSpPr txBox="1"/>
          <p:nvPr/>
        </p:nvSpPr>
        <p:spPr>
          <a:xfrm>
            <a:off x="3822192" y="3913632"/>
            <a:ext cx="2157984" cy="274320"/>
          </a:xfrm>
          <a:prstGeom prst="rect">
            <a:avLst/>
          </a:prstGeom>
          <a:noFill/>
        </p:spPr>
        <p:txBody>
          <a:bodyPr wrap="square" lIns="0" rIns="0" tIns="0" bIns="0">
            <a:spAutoFit/>
          </a:bodyPr>
          <a:lstStyle/>
          <a:p>
            <a:pPr algn="l">
              <a:lnSpc>
                <a:spcPct val="125000"/>
              </a:lnSpc>
            </a:pPr>
            <a:r>
              <a:rPr sz="1050" b="0">
                <a:solidFill>
                  <a:srgbClr val="6B8087"/>
                </a:solidFill>
                <a:latin typeface="Segoe UI"/>
              </a:rPr>
              <a:t>on infrastructure</a:t>
            </a:r>
          </a:p>
        </p:txBody>
      </p:sp>
      <p:sp>
        <p:nvSpPr>
          <p:cNvPr id="15" name="Rounded Rectangle 14"/>
          <p:cNvSpPr/>
          <p:nvPr/>
        </p:nvSpPr>
        <p:spPr>
          <a:xfrm>
            <a:off x="6455664" y="2697480"/>
            <a:ext cx="2615184" cy="169164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93408" y="2926080"/>
            <a:ext cx="2157984" cy="274320"/>
          </a:xfrm>
          <a:prstGeom prst="rect">
            <a:avLst/>
          </a:prstGeom>
          <a:noFill/>
        </p:spPr>
        <p:txBody>
          <a:bodyPr wrap="square" lIns="0" rIns="0" tIns="0" bIns="0">
            <a:spAutoFit/>
          </a:bodyPr>
          <a:lstStyle/>
          <a:p>
            <a:pPr algn="l">
              <a:lnSpc>
                <a:spcPct val="125000"/>
              </a:lnSpc>
            </a:pPr>
            <a:r>
              <a:rPr sz="950" b="0" spc="120">
                <a:solidFill>
                  <a:srgbClr val="6B8087"/>
                </a:solidFill>
                <a:latin typeface="Consolas"/>
              </a:rPr>
              <a:t>INFRA AS % OF REVENUE</a:t>
            </a:r>
          </a:p>
        </p:txBody>
      </p:sp>
      <p:sp>
        <p:nvSpPr>
          <p:cNvPr id="17" name="TextBox 16"/>
          <p:cNvSpPr txBox="1"/>
          <p:nvPr/>
        </p:nvSpPr>
        <p:spPr>
          <a:xfrm>
            <a:off x="6693408" y="3291840"/>
            <a:ext cx="2157984" cy="548640"/>
          </a:xfrm>
          <a:prstGeom prst="rect">
            <a:avLst/>
          </a:prstGeom>
          <a:noFill/>
        </p:spPr>
        <p:txBody>
          <a:bodyPr wrap="square" lIns="0" rIns="0" tIns="0" bIns="0">
            <a:spAutoFit/>
          </a:bodyPr>
          <a:lstStyle/>
          <a:p>
            <a:pPr algn="l">
              <a:lnSpc>
                <a:spcPct val="125000"/>
              </a:lnSpc>
            </a:pPr>
            <a:r>
              <a:rPr sz="3200" b="1">
                <a:solidFill>
                  <a:srgbClr val="1F7A4D"/>
                </a:solidFill>
                <a:latin typeface="Consolas"/>
              </a:rPr>
              <a:t>6.7%</a:t>
            </a:r>
          </a:p>
        </p:txBody>
      </p:sp>
      <p:sp>
        <p:nvSpPr>
          <p:cNvPr id="18" name="TextBox 17"/>
          <p:cNvSpPr txBox="1"/>
          <p:nvPr/>
        </p:nvSpPr>
        <p:spPr>
          <a:xfrm>
            <a:off x="6693408" y="3913632"/>
            <a:ext cx="2157984" cy="274320"/>
          </a:xfrm>
          <a:prstGeom prst="rect">
            <a:avLst/>
          </a:prstGeom>
          <a:noFill/>
        </p:spPr>
        <p:txBody>
          <a:bodyPr wrap="square" lIns="0" rIns="0" tIns="0" bIns="0">
            <a:spAutoFit/>
          </a:bodyPr>
          <a:lstStyle/>
          <a:p>
            <a:pPr algn="l">
              <a:lnSpc>
                <a:spcPct val="125000"/>
              </a:lnSpc>
            </a:pPr>
            <a:r>
              <a:rPr sz="1050" b="0">
                <a:solidFill>
                  <a:srgbClr val="6B8087"/>
                </a:solidFill>
                <a:latin typeface="Segoe UI"/>
              </a:rPr>
              <a:t>falling with scale</a:t>
            </a:r>
          </a:p>
        </p:txBody>
      </p:sp>
      <p:sp>
        <p:nvSpPr>
          <p:cNvPr id="19" name="Rounded Rectangle 18"/>
          <p:cNvSpPr/>
          <p:nvPr/>
        </p:nvSpPr>
        <p:spPr>
          <a:xfrm>
            <a:off x="9326880" y="2697480"/>
            <a:ext cx="2615184" cy="169164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64624" y="2926080"/>
            <a:ext cx="2157984" cy="274320"/>
          </a:xfrm>
          <a:prstGeom prst="rect">
            <a:avLst/>
          </a:prstGeom>
          <a:noFill/>
        </p:spPr>
        <p:txBody>
          <a:bodyPr wrap="square" lIns="0" rIns="0" tIns="0" bIns="0">
            <a:spAutoFit/>
          </a:bodyPr>
          <a:lstStyle/>
          <a:p>
            <a:pPr algn="l">
              <a:lnSpc>
                <a:spcPct val="125000"/>
              </a:lnSpc>
            </a:pPr>
            <a:r>
              <a:rPr sz="950" b="0" spc="120">
                <a:solidFill>
                  <a:srgbClr val="6B8087"/>
                </a:solidFill>
                <a:latin typeface="Consolas"/>
              </a:rPr>
              <a:t>CAPEX REQUIRED</a:t>
            </a:r>
          </a:p>
        </p:txBody>
      </p:sp>
      <p:sp>
        <p:nvSpPr>
          <p:cNvPr id="21" name="TextBox 20"/>
          <p:cNvSpPr txBox="1"/>
          <p:nvPr/>
        </p:nvSpPr>
        <p:spPr>
          <a:xfrm>
            <a:off x="9564624" y="3291840"/>
            <a:ext cx="2157984" cy="548640"/>
          </a:xfrm>
          <a:prstGeom prst="rect">
            <a:avLst/>
          </a:prstGeom>
          <a:noFill/>
        </p:spPr>
        <p:txBody>
          <a:bodyPr wrap="square" lIns="0" rIns="0" tIns="0" bIns="0">
            <a:spAutoFit/>
          </a:bodyPr>
          <a:lstStyle/>
          <a:p>
            <a:pPr algn="l">
              <a:lnSpc>
                <a:spcPct val="125000"/>
              </a:lnSpc>
            </a:pPr>
            <a:r>
              <a:rPr sz="3200" b="1">
                <a:solidFill>
                  <a:srgbClr val="1F7A4D"/>
                </a:solidFill>
                <a:latin typeface="Consolas"/>
              </a:rPr>
              <a:t>$0</a:t>
            </a:r>
          </a:p>
        </p:txBody>
      </p:sp>
      <p:sp>
        <p:nvSpPr>
          <p:cNvPr id="22" name="TextBox 21"/>
          <p:cNvSpPr txBox="1"/>
          <p:nvPr/>
        </p:nvSpPr>
        <p:spPr>
          <a:xfrm>
            <a:off x="9564624" y="3913632"/>
            <a:ext cx="2157984" cy="274320"/>
          </a:xfrm>
          <a:prstGeom prst="rect">
            <a:avLst/>
          </a:prstGeom>
          <a:noFill/>
        </p:spPr>
        <p:txBody>
          <a:bodyPr wrap="square" lIns="0" rIns="0" tIns="0" bIns="0">
            <a:spAutoFit/>
          </a:bodyPr>
          <a:lstStyle/>
          <a:p>
            <a:pPr algn="l">
              <a:lnSpc>
                <a:spcPct val="125000"/>
              </a:lnSpc>
            </a:pPr>
            <a:r>
              <a:rPr sz="1050" b="0">
                <a:solidFill>
                  <a:srgbClr val="6B8087"/>
                </a:solidFill>
                <a:latin typeface="Segoe UI"/>
              </a:rPr>
              <a:t>to reach 100 clients</a:t>
            </a:r>
          </a:p>
        </p:txBody>
      </p:sp>
      <p:sp>
        <p:nvSpPr>
          <p:cNvPr id="23" name="TextBox 22"/>
          <p:cNvSpPr txBox="1"/>
          <p:nvPr/>
        </p:nvSpPr>
        <p:spPr>
          <a:xfrm>
            <a:off x="713232" y="6291072"/>
            <a:ext cx="10765231" cy="365760"/>
          </a:xfrm>
          <a:prstGeom prst="rect">
            <a:avLst/>
          </a:prstGeom>
          <a:noFill/>
        </p:spPr>
        <p:txBody>
          <a:bodyPr wrap="square" lIns="0" rIns="0" tIns="0" bIns="0">
            <a:spAutoFit/>
          </a:bodyPr>
          <a:lstStyle/>
          <a:p>
            <a:pPr algn="l">
              <a:lnSpc>
                <a:spcPct val="120000"/>
              </a:lnSpc>
            </a:pPr>
            <a:r>
              <a:rPr sz="950" b="0">
                <a:solidFill>
                  <a:srgbClr val="6B8087"/>
                </a:solidFill>
                <a:latin typeface="Consolas"/>
              </a:rPr>
              <a:t>Infrastructure only. Meta messaging fees, staffing and go-to-market sit below this 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548640" cy="274320"/>
          </a:xfrm>
          <a:prstGeom prst="rect">
            <a:avLst/>
          </a:prstGeom>
          <a:noFill/>
        </p:spPr>
        <p:txBody>
          <a:bodyPr wrap="square" lIns="0" rIns="0" tIns="0" bIns="0">
            <a:spAutoFit/>
          </a:bodyPr>
          <a:lstStyle/>
          <a:p>
            <a:pPr algn="l">
              <a:lnSpc>
                <a:spcPct val="125000"/>
              </a:lnSpc>
            </a:pPr>
            <a:r>
              <a:rPr sz="1100" b="1" spc="130">
                <a:solidFill>
                  <a:srgbClr val="0B6E5B"/>
                </a:solidFill>
                <a:latin typeface="Consolas"/>
              </a:rPr>
              <a:t>02</a:t>
            </a:r>
          </a:p>
        </p:txBody>
      </p:sp>
      <p:sp>
        <p:nvSpPr>
          <p:cNvPr id="4" name="TextBox 3"/>
          <p:cNvSpPr txBox="1"/>
          <p:nvPr/>
        </p:nvSpPr>
        <p:spPr>
          <a:xfrm>
            <a:off x="1188720" y="457200"/>
            <a:ext cx="8229600" cy="274320"/>
          </a:xfrm>
          <a:prstGeom prst="rect">
            <a:avLst/>
          </a:prstGeom>
          <a:noFill/>
        </p:spPr>
        <p:txBody>
          <a:bodyPr wrap="square" lIns="0" rIns="0" tIns="0" bIns="0">
            <a:spAutoFit/>
          </a:bodyPr>
          <a:lstStyle/>
          <a:p>
            <a:pPr algn="l">
              <a:lnSpc>
                <a:spcPct val="125000"/>
              </a:lnSpc>
            </a:pPr>
            <a:r>
              <a:rPr sz="1100" b="0" spc="130">
                <a:solidFill>
                  <a:srgbClr val="6B8087"/>
                </a:solidFill>
                <a:latin typeface="Consolas"/>
              </a:rPr>
              <a:t>THREE MODEL TIERS</a:t>
            </a:r>
          </a:p>
        </p:txBody>
      </p:sp>
      <p:sp>
        <p:nvSpPr>
          <p:cNvPr id="5" name="TextBox 4"/>
          <p:cNvSpPr txBox="1"/>
          <p:nvPr/>
        </p:nvSpPr>
        <p:spPr>
          <a:xfrm>
            <a:off x="713232" y="868680"/>
            <a:ext cx="10765231" cy="914400"/>
          </a:xfrm>
          <a:prstGeom prst="rect">
            <a:avLst/>
          </a:prstGeom>
          <a:noFill/>
        </p:spPr>
        <p:txBody>
          <a:bodyPr wrap="square" lIns="0" rIns="0" tIns="0" bIns="0">
            <a:spAutoFit/>
          </a:bodyPr>
          <a:lstStyle/>
          <a:p>
            <a:pPr algn="l">
              <a:lnSpc>
                <a:spcPct val="106000"/>
              </a:lnSpc>
            </a:pPr>
            <a:r>
              <a:rPr sz="3000" b="1">
                <a:solidFill>
                  <a:srgbClr val="0F1E24"/>
                </a:solidFill>
                <a:latin typeface="Georgia"/>
              </a:rPr>
              <a:t>Cost per client, per month, all-in</a:t>
            </a:r>
          </a:p>
        </p:txBody>
      </p:sp>
      <p:sp>
        <p:nvSpPr>
          <p:cNvPr id="6" name="TextBox 5"/>
          <p:cNvSpPr txBox="1"/>
          <p:nvPr/>
        </p:nvSpPr>
        <p:spPr>
          <a:xfrm>
            <a:off x="713232" y="1572768"/>
            <a:ext cx="8778240" cy="822960"/>
          </a:xfrm>
          <a:prstGeom prst="rect">
            <a:avLst/>
          </a:prstGeom>
          <a:noFill/>
        </p:spPr>
        <p:txBody>
          <a:bodyPr wrap="square" lIns="0" rIns="0" tIns="0" bIns="0">
            <a:spAutoFit/>
          </a:bodyPr>
          <a:lstStyle/>
          <a:p>
            <a:pPr algn="l">
              <a:lnSpc>
                <a:spcPct val="140000"/>
              </a:lnSpc>
            </a:pPr>
            <a:r>
              <a:rPr sz="1300" b="0">
                <a:solidFill>
                  <a:srgbClr val="3D5259"/>
                </a:solidFill>
                <a:latin typeface="Segoe UI"/>
              </a:rPr>
              <a:t>The tier is a per-client setting, not a platform decision — one deployment serves all three, so a client who wants speed or quality moves without migration.</a:t>
            </a:r>
          </a:p>
        </p:txBody>
      </p:sp>
      <p:sp>
        <p:nvSpPr>
          <p:cNvPr id="7" name="Rounded Rectangle 6"/>
          <p:cNvSpPr/>
          <p:nvPr/>
        </p:nvSpPr>
        <p:spPr>
          <a:xfrm>
            <a:off x="713232" y="2606040"/>
            <a:ext cx="3529584" cy="2834640"/>
          </a:xfrm>
          <a:prstGeom prst="roundRect">
            <a:avLst>
              <a:gd name="adj" fmla="val 4000"/>
            </a:avLst>
          </a:prstGeom>
          <a:solidFill>
            <a:srgbClr val="FFFFFF"/>
          </a:solidFill>
          <a:ln w="19050">
            <a:solidFill>
              <a:srgbClr val="0B6E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9264" y="2816352"/>
            <a:ext cx="3017520" cy="274320"/>
          </a:xfrm>
          <a:prstGeom prst="rect">
            <a:avLst/>
          </a:prstGeom>
          <a:noFill/>
        </p:spPr>
        <p:txBody>
          <a:bodyPr wrap="square" lIns="0" rIns="0" tIns="0" bIns="0">
            <a:spAutoFit/>
          </a:bodyPr>
          <a:lstStyle/>
          <a:p>
            <a:pPr algn="l">
              <a:lnSpc>
                <a:spcPct val="125000"/>
              </a:lnSpc>
            </a:pPr>
            <a:r>
              <a:rPr sz="950" b="1" spc="120">
                <a:solidFill>
                  <a:srgbClr val="0B6E5B"/>
                </a:solidFill>
                <a:latin typeface="Consolas"/>
              </a:rPr>
              <a:t>EFFICIENT  ·  SELECTED</a:t>
            </a:r>
          </a:p>
        </p:txBody>
      </p:sp>
      <p:sp>
        <p:nvSpPr>
          <p:cNvPr id="9" name="TextBox 8"/>
          <p:cNvSpPr txBox="1"/>
          <p:nvPr/>
        </p:nvSpPr>
        <p:spPr>
          <a:xfrm>
            <a:off x="969264" y="3127248"/>
            <a:ext cx="3017520" cy="365760"/>
          </a:xfrm>
          <a:prstGeom prst="rect">
            <a:avLst/>
          </a:prstGeom>
          <a:noFill/>
        </p:spPr>
        <p:txBody>
          <a:bodyPr wrap="square" lIns="0" rIns="0" tIns="0" bIns="0">
            <a:spAutoFit/>
          </a:bodyPr>
          <a:lstStyle/>
          <a:p>
            <a:pPr algn="l">
              <a:lnSpc>
                <a:spcPct val="125000"/>
              </a:lnSpc>
            </a:pPr>
            <a:r>
              <a:rPr sz="1600" b="1">
                <a:solidFill>
                  <a:srgbClr val="0F1E24"/>
                </a:solidFill>
                <a:latin typeface="Georgia"/>
              </a:rPr>
              <a:t>Gemini 2.5 Flash-Lite</a:t>
            </a:r>
          </a:p>
        </p:txBody>
      </p:sp>
      <p:sp>
        <p:nvSpPr>
          <p:cNvPr id="10" name="TextBox 9"/>
          <p:cNvSpPr txBox="1"/>
          <p:nvPr/>
        </p:nvSpPr>
        <p:spPr>
          <a:xfrm>
            <a:off x="969264" y="3611880"/>
            <a:ext cx="3017520" cy="640080"/>
          </a:xfrm>
          <a:prstGeom prst="rect">
            <a:avLst/>
          </a:prstGeom>
          <a:noFill/>
        </p:spPr>
        <p:txBody>
          <a:bodyPr wrap="square" lIns="0" rIns="0" tIns="0" bIns="0">
            <a:spAutoFit/>
          </a:bodyPr>
          <a:lstStyle/>
          <a:p>
            <a:pPr algn="l">
              <a:lnSpc>
                <a:spcPct val="125000"/>
              </a:lnSpc>
            </a:pPr>
            <a:r>
              <a:rPr sz="3400" b="1">
                <a:solidFill>
                  <a:srgbClr val="A45B14"/>
                </a:solidFill>
                <a:latin typeface="Consolas"/>
              </a:rPr>
              <a:t>$6.65</a:t>
            </a:r>
          </a:p>
        </p:txBody>
      </p:sp>
      <p:sp>
        <p:nvSpPr>
          <p:cNvPr id="11" name="TextBox 10"/>
          <p:cNvSpPr txBox="1"/>
          <p:nvPr/>
        </p:nvSpPr>
        <p:spPr>
          <a:xfrm>
            <a:off x="969264" y="4261104"/>
            <a:ext cx="3017520" cy="228600"/>
          </a:xfrm>
          <a:prstGeom prst="rect">
            <a:avLst/>
          </a:prstGeom>
          <a:noFill/>
        </p:spPr>
        <p:txBody>
          <a:bodyPr wrap="square" lIns="0" rIns="0" tIns="0" bIns="0">
            <a:spAutoFit/>
          </a:bodyPr>
          <a:lstStyle/>
          <a:p>
            <a:pPr algn="l">
              <a:lnSpc>
                <a:spcPct val="125000"/>
              </a:lnSpc>
            </a:pPr>
            <a:r>
              <a:rPr sz="1000" b="0">
                <a:solidFill>
                  <a:srgbClr val="6B8087"/>
                </a:solidFill>
                <a:latin typeface="Segoe UI"/>
              </a:rPr>
              <a:t>per client / month</a:t>
            </a:r>
          </a:p>
        </p:txBody>
      </p:sp>
      <p:sp>
        <p:nvSpPr>
          <p:cNvPr id="12" name="TextBox 11"/>
          <p:cNvSpPr txBox="1"/>
          <p:nvPr/>
        </p:nvSpPr>
        <p:spPr>
          <a:xfrm>
            <a:off x="969264" y="4572000"/>
            <a:ext cx="3017520" cy="548640"/>
          </a:xfrm>
          <a:prstGeom prst="rect">
            <a:avLst/>
          </a:prstGeom>
          <a:noFill/>
        </p:spPr>
        <p:txBody>
          <a:bodyPr wrap="square" lIns="0" rIns="0" tIns="0" bIns="0">
            <a:spAutoFit/>
          </a:bodyPr>
          <a:lstStyle/>
          <a:p>
            <a:pPr algn="l">
              <a:lnSpc>
                <a:spcPct val="130000"/>
              </a:lnSpc>
            </a:pPr>
            <a:r>
              <a:rPr sz="1100" b="0">
                <a:solidFill>
                  <a:srgbClr val="3D5259"/>
                </a:solidFill>
                <a:latin typeface="Segoe UI"/>
              </a:rPr>
              <a:t>The default. Routing, replies and lead capture across all channels.</a:t>
            </a:r>
          </a:p>
        </p:txBody>
      </p:sp>
      <p:sp>
        <p:nvSpPr>
          <p:cNvPr id="13" name="TextBox 12"/>
          <p:cNvSpPr txBox="1"/>
          <p:nvPr/>
        </p:nvSpPr>
        <p:spPr>
          <a:xfrm>
            <a:off x="969264" y="5138928"/>
            <a:ext cx="3017520" cy="228600"/>
          </a:xfrm>
          <a:prstGeom prst="rect">
            <a:avLst/>
          </a:prstGeom>
          <a:noFill/>
        </p:spPr>
        <p:txBody>
          <a:bodyPr wrap="square" lIns="0" rIns="0" tIns="0" bIns="0">
            <a:spAutoFit/>
          </a:bodyPr>
          <a:lstStyle/>
          <a:p>
            <a:pPr algn="l">
              <a:lnSpc>
                <a:spcPct val="125000"/>
              </a:lnSpc>
            </a:pPr>
            <a:r>
              <a:rPr sz="1000" b="0">
                <a:solidFill>
                  <a:srgbClr val="3D5259"/>
                </a:solidFill>
                <a:latin typeface="Consolas"/>
              </a:rPr>
              <a:t>$0.10 in  ·  $0.40 out / 1M</a:t>
            </a:r>
          </a:p>
        </p:txBody>
      </p:sp>
      <p:sp>
        <p:nvSpPr>
          <p:cNvPr id="14" name="Rounded Rectangle 13"/>
          <p:cNvSpPr/>
          <p:nvPr/>
        </p:nvSpPr>
        <p:spPr>
          <a:xfrm>
            <a:off x="4517136" y="2606040"/>
            <a:ext cx="3529584" cy="283464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773168" y="2816352"/>
            <a:ext cx="3017520" cy="274320"/>
          </a:xfrm>
          <a:prstGeom prst="rect">
            <a:avLst/>
          </a:prstGeom>
          <a:noFill/>
        </p:spPr>
        <p:txBody>
          <a:bodyPr wrap="square" lIns="0" rIns="0" tIns="0" bIns="0">
            <a:spAutoFit/>
          </a:bodyPr>
          <a:lstStyle/>
          <a:p>
            <a:pPr algn="l">
              <a:lnSpc>
                <a:spcPct val="125000"/>
              </a:lnSpc>
            </a:pPr>
            <a:r>
              <a:rPr sz="950" b="0" spc="120">
                <a:solidFill>
                  <a:srgbClr val="6B8087"/>
                </a:solidFill>
                <a:latin typeface="Consolas"/>
              </a:rPr>
              <a:t>BALANCED</a:t>
            </a:r>
          </a:p>
        </p:txBody>
      </p:sp>
      <p:sp>
        <p:nvSpPr>
          <p:cNvPr id="16" name="TextBox 15"/>
          <p:cNvSpPr txBox="1"/>
          <p:nvPr/>
        </p:nvSpPr>
        <p:spPr>
          <a:xfrm>
            <a:off x="4773168" y="3127248"/>
            <a:ext cx="3017520" cy="365760"/>
          </a:xfrm>
          <a:prstGeom prst="rect">
            <a:avLst/>
          </a:prstGeom>
          <a:noFill/>
        </p:spPr>
        <p:txBody>
          <a:bodyPr wrap="square" lIns="0" rIns="0" tIns="0" bIns="0">
            <a:spAutoFit/>
          </a:bodyPr>
          <a:lstStyle/>
          <a:p>
            <a:pPr algn="l">
              <a:lnSpc>
                <a:spcPct val="125000"/>
              </a:lnSpc>
            </a:pPr>
            <a:r>
              <a:rPr sz="1600" b="1">
                <a:solidFill>
                  <a:srgbClr val="0F1E24"/>
                </a:solidFill>
                <a:latin typeface="Georgia"/>
              </a:rPr>
              <a:t>Gemini 2.5 Flash</a:t>
            </a:r>
          </a:p>
        </p:txBody>
      </p:sp>
      <p:sp>
        <p:nvSpPr>
          <p:cNvPr id="17" name="TextBox 16"/>
          <p:cNvSpPr txBox="1"/>
          <p:nvPr/>
        </p:nvSpPr>
        <p:spPr>
          <a:xfrm>
            <a:off x="4773168" y="3611880"/>
            <a:ext cx="3017520" cy="640080"/>
          </a:xfrm>
          <a:prstGeom prst="rect">
            <a:avLst/>
          </a:prstGeom>
          <a:noFill/>
        </p:spPr>
        <p:txBody>
          <a:bodyPr wrap="square" lIns="0" rIns="0" tIns="0" bIns="0">
            <a:spAutoFit/>
          </a:bodyPr>
          <a:lstStyle/>
          <a:p>
            <a:pPr algn="l">
              <a:lnSpc>
                <a:spcPct val="125000"/>
              </a:lnSpc>
            </a:pPr>
            <a:r>
              <a:rPr sz="3400" b="1">
                <a:solidFill>
                  <a:srgbClr val="A45B14"/>
                </a:solidFill>
                <a:latin typeface="Consolas"/>
              </a:rPr>
              <a:t>$23.83</a:t>
            </a:r>
          </a:p>
        </p:txBody>
      </p:sp>
      <p:sp>
        <p:nvSpPr>
          <p:cNvPr id="18" name="TextBox 17"/>
          <p:cNvSpPr txBox="1"/>
          <p:nvPr/>
        </p:nvSpPr>
        <p:spPr>
          <a:xfrm>
            <a:off x="4773168" y="4261104"/>
            <a:ext cx="3017520" cy="228600"/>
          </a:xfrm>
          <a:prstGeom prst="rect">
            <a:avLst/>
          </a:prstGeom>
          <a:noFill/>
        </p:spPr>
        <p:txBody>
          <a:bodyPr wrap="square" lIns="0" rIns="0" tIns="0" bIns="0">
            <a:spAutoFit/>
          </a:bodyPr>
          <a:lstStyle/>
          <a:p>
            <a:pPr algn="l">
              <a:lnSpc>
                <a:spcPct val="125000"/>
              </a:lnSpc>
            </a:pPr>
            <a:r>
              <a:rPr sz="1000" b="0">
                <a:solidFill>
                  <a:srgbClr val="6B8087"/>
                </a:solidFill>
                <a:latin typeface="Segoe UI"/>
              </a:rPr>
              <a:t>per client / month</a:t>
            </a:r>
          </a:p>
        </p:txBody>
      </p:sp>
      <p:sp>
        <p:nvSpPr>
          <p:cNvPr id="19" name="TextBox 18"/>
          <p:cNvSpPr txBox="1"/>
          <p:nvPr/>
        </p:nvSpPr>
        <p:spPr>
          <a:xfrm>
            <a:off x="4773168" y="4572000"/>
            <a:ext cx="3017520" cy="548640"/>
          </a:xfrm>
          <a:prstGeom prst="rect">
            <a:avLst/>
          </a:prstGeom>
          <a:noFill/>
        </p:spPr>
        <p:txBody>
          <a:bodyPr wrap="square" lIns="0" rIns="0" tIns="0" bIns="0">
            <a:spAutoFit/>
          </a:bodyPr>
          <a:lstStyle/>
          <a:p>
            <a:pPr algn="l">
              <a:lnSpc>
                <a:spcPct val="130000"/>
              </a:lnSpc>
            </a:pPr>
            <a:r>
              <a:rPr sz="1100" b="0">
                <a:solidFill>
                  <a:srgbClr val="3D5259"/>
                </a:solidFill>
                <a:latin typeface="Segoe UI"/>
              </a:rPr>
              <a:t>Stronger reasoning for complex catalogues and policy-heavy answers.</a:t>
            </a:r>
          </a:p>
        </p:txBody>
      </p:sp>
      <p:sp>
        <p:nvSpPr>
          <p:cNvPr id="20" name="TextBox 19"/>
          <p:cNvSpPr txBox="1"/>
          <p:nvPr/>
        </p:nvSpPr>
        <p:spPr>
          <a:xfrm>
            <a:off x="4773168" y="5138928"/>
            <a:ext cx="3017520" cy="228600"/>
          </a:xfrm>
          <a:prstGeom prst="rect">
            <a:avLst/>
          </a:prstGeom>
          <a:noFill/>
        </p:spPr>
        <p:txBody>
          <a:bodyPr wrap="square" lIns="0" rIns="0" tIns="0" bIns="0">
            <a:spAutoFit/>
          </a:bodyPr>
          <a:lstStyle/>
          <a:p>
            <a:pPr algn="l">
              <a:lnSpc>
                <a:spcPct val="125000"/>
              </a:lnSpc>
            </a:pPr>
            <a:r>
              <a:rPr sz="1000" b="0">
                <a:solidFill>
                  <a:srgbClr val="3D5259"/>
                </a:solidFill>
                <a:latin typeface="Consolas"/>
              </a:rPr>
              <a:t>$0.30 in  ·  $2.50 out / 1M</a:t>
            </a:r>
          </a:p>
        </p:txBody>
      </p:sp>
      <p:sp>
        <p:nvSpPr>
          <p:cNvPr id="21" name="Rounded Rectangle 20"/>
          <p:cNvSpPr/>
          <p:nvPr/>
        </p:nvSpPr>
        <p:spPr>
          <a:xfrm>
            <a:off x="8321040" y="2606040"/>
            <a:ext cx="3529584" cy="283464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577072" y="2816352"/>
            <a:ext cx="3017520" cy="274320"/>
          </a:xfrm>
          <a:prstGeom prst="rect">
            <a:avLst/>
          </a:prstGeom>
          <a:noFill/>
        </p:spPr>
        <p:txBody>
          <a:bodyPr wrap="square" lIns="0" rIns="0" tIns="0" bIns="0">
            <a:spAutoFit/>
          </a:bodyPr>
          <a:lstStyle/>
          <a:p>
            <a:pPr algn="l">
              <a:lnSpc>
                <a:spcPct val="125000"/>
              </a:lnSpc>
            </a:pPr>
            <a:r>
              <a:rPr sz="950" b="0" spc="120">
                <a:solidFill>
                  <a:srgbClr val="6B8087"/>
                </a:solidFill>
                <a:latin typeface="Consolas"/>
              </a:rPr>
              <a:t>FASTEST</a:t>
            </a:r>
          </a:p>
        </p:txBody>
      </p:sp>
      <p:sp>
        <p:nvSpPr>
          <p:cNvPr id="23" name="TextBox 22"/>
          <p:cNvSpPr txBox="1"/>
          <p:nvPr/>
        </p:nvSpPr>
        <p:spPr>
          <a:xfrm>
            <a:off x="8577072" y="3127248"/>
            <a:ext cx="3017520" cy="365760"/>
          </a:xfrm>
          <a:prstGeom prst="rect">
            <a:avLst/>
          </a:prstGeom>
          <a:noFill/>
        </p:spPr>
        <p:txBody>
          <a:bodyPr wrap="square" lIns="0" rIns="0" tIns="0" bIns="0">
            <a:spAutoFit/>
          </a:bodyPr>
          <a:lstStyle/>
          <a:p>
            <a:pPr algn="l">
              <a:lnSpc>
                <a:spcPct val="125000"/>
              </a:lnSpc>
            </a:pPr>
            <a:r>
              <a:rPr sz="1600" b="1">
                <a:solidFill>
                  <a:srgbClr val="0F1E24"/>
                </a:solidFill>
                <a:latin typeface="Georgia"/>
              </a:rPr>
              <a:t>Groq Llama 3.3 70B</a:t>
            </a:r>
          </a:p>
        </p:txBody>
      </p:sp>
      <p:sp>
        <p:nvSpPr>
          <p:cNvPr id="24" name="TextBox 23"/>
          <p:cNvSpPr txBox="1"/>
          <p:nvPr/>
        </p:nvSpPr>
        <p:spPr>
          <a:xfrm>
            <a:off x="8577072" y="3611880"/>
            <a:ext cx="3017520" cy="640080"/>
          </a:xfrm>
          <a:prstGeom prst="rect">
            <a:avLst/>
          </a:prstGeom>
          <a:noFill/>
        </p:spPr>
        <p:txBody>
          <a:bodyPr wrap="square" lIns="0" rIns="0" tIns="0" bIns="0">
            <a:spAutoFit/>
          </a:bodyPr>
          <a:lstStyle/>
          <a:p>
            <a:pPr algn="l">
              <a:lnSpc>
                <a:spcPct val="125000"/>
              </a:lnSpc>
            </a:pPr>
            <a:r>
              <a:rPr sz="3400" b="1">
                <a:solidFill>
                  <a:srgbClr val="A45B14"/>
                </a:solidFill>
                <a:latin typeface="Consolas"/>
              </a:rPr>
              <a:t>$28.05</a:t>
            </a:r>
          </a:p>
        </p:txBody>
      </p:sp>
      <p:sp>
        <p:nvSpPr>
          <p:cNvPr id="25" name="TextBox 24"/>
          <p:cNvSpPr txBox="1"/>
          <p:nvPr/>
        </p:nvSpPr>
        <p:spPr>
          <a:xfrm>
            <a:off x="8577072" y="4261104"/>
            <a:ext cx="3017520" cy="228600"/>
          </a:xfrm>
          <a:prstGeom prst="rect">
            <a:avLst/>
          </a:prstGeom>
          <a:noFill/>
        </p:spPr>
        <p:txBody>
          <a:bodyPr wrap="square" lIns="0" rIns="0" tIns="0" bIns="0">
            <a:spAutoFit/>
          </a:bodyPr>
          <a:lstStyle/>
          <a:p>
            <a:pPr algn="l">
              <a:lnSpc>
                <a:spcPct val="125000"/>
              </a:lnSpc>
            </a:pPr>
            <a:r>
              <a:rPr sz="1000" b="0">
                <a:solidFill>
                  <a:srgbClr val="6B8087"/>
                </a:solidFill>
                <a:latin typeface="Segoe UI"/>
              </a:rPr>
              <a:t>per client / month</a:t>
            </a:r>
          </a:p>
        </p:txBody>
      </p:sp>
      <p:sp>
        <p:nvSpPr>
          <p:cNvPr id="26" name="TextBox 25"/>
          <p:cNvSpPr txBox="1"/>
          <p:nvPr/>
        </p:nvSpPr>
        <p:spPr>
          <a:xfrm>
            <a:off x="8577072" y="4572000"/>
            <a:ext cx="3017520" cy="548640"/>
          </a:xfrm>
          <a:prstGeom prst="rect">
            <a:avLst/>
          </a:prstGeom>
          <a:noFill/>
        </p:spPr>
        <p:txBody>
          <a:bodyPr wrap="square" lIns="0" rIns="0" tIns="0" bIns="0">
            <a:spAutoFit/>
          </a:bodyPr>
          <a:lstStyle/>
          <a:p>
            <a:pPr algn="l">
              <a:lnSpc>
                <a:spcPct val="130000"/>
              </a:lnSpc>
            </a:pPr>
            <a:r>
              <a:rPr sz="1100" b="0">
                <a:solidFill>
                  <a:srgbClr val="3D5259"/>
                </a:solidFill>
                <a:latin typeface="Segoe UI"/>
              </a:rPr>
              <a:t>Sub-second replies at 1,800+ tokens/sec. The tier for voice and live chat.</a:t>
            </a:r>
          </a:p>
        </p:txBody>
      </p:sp>
      <p:sp>
        <p:nvSpPr>
          <p:cNvPr id="27" name="TextBox 26"/>
          <p:cNvSpPr txBox="1"/>
          <p:nvPr/>
        </p:nvSpPr>
        <p:spPr>
          <a:xfrm>
            <a:off x="8577072" y="5138928"/>
            <a:ext cx="3017520" cy="228600"/>
          </a:xfrm>
          <a:prstGeom prst="rect">
            <a:avLst/>
          </a:prstGeom>
          <a:noFill/>
        </p:spPr>
        <p:txBody>
          <a:bodyPr wrap="square" lIns="0" rIns="0" tIns="0" bIns="0">
            <a:spAutoFit/>
          </a:bodyPr>
          <a:lstStyle/>
          <a:p>
            <a:pPr algn="l">
              <a:lnSpc>
                <a:spcPct val="125000"/>
              </a:lnSpc>
            </a:pPr>
            <a:r>
              <a:rPr sz="1000" b="0">
                <a:solidFill>
                  <a:srgbClr val="3D5259"/>
                </a:solidFill>
                <a:latin typeface="Consolas"/>
              </a:rPr>
              <a:t>$0.59 in  ·  $0.79 out / 1M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548640" cy="274320"/>
          </a:xfrm>
          <a:prstGeom prst="rect">
            <a:avLst/>
          </a:prstGeom>
          <a:noFill/>
        </p:spPr>
        <p:txBody>
          <a:bodyPr wrap="square" lIns="0" rIns="0" tIns="0" bIns="0">
            <a:spAutoFit/>
          </a:bodyPr>
          <a:lstStyle/>
          <a:p>
            <a:pPr algn="l">
              <a:lnSpc>
                <a:spcPct val="125000"/>
              </a:lnSpc>
            </a:pPr>
            <a:r>
              <a:rPr sz="1100" b="1" spc="130">
                <a:solidFill>
                  <a:srgbClr val="0B6E5B"/>
                </a:solidFill>
                <a:latin typeface="Consolas"/>
              </a:rPr>
              <a:t>03</a:t>
            </a:r>
          </a:p>
        </p:txBody>
      </p:sp>
      <p:sp>
        <p:nvSpPr>
          <p:cNvPr id="4" name="TextBox 3"/>
          <p:cNvSpPr txBox="1"/>
          <p:nvPr/>
        </p:nvSpPr>
        <p:spPr>
          <a:xfrm>
            <a:off x="1188720" y="457200"/>
            <a:ext cx="8229600" cy="274320"/>
          </a:xfrm>
          <a:prstGeom prst="rect">
            <a:avLst/>
          </a:prstGeom>
          <a:noFill/>
        </p:spPr>
        <p:txBody>
          <a:bodyPr wrap="square" lIns="0" rIns="0" tIns="0" bIns="0">
            <a:spAutoFit/>
          </a:bodyPr>
          <a:lstStyle/>
          <a:p>
            <a:pPr algn="l">
              <a:lnSpc>
                <a:spcPct val="125000"/>
              </a:lnSpc>
            </a:pPr>
            <a:r>
              <a:rPr sz="1100" b="0" spc="130">
                <a:solidFill>
                  <a:srgbClr val="6B8087"/>
                </a:solidFill>
                <a:latin typeface="Consolas"/>
              </a:rPr>
              <a:t>WHERE THE COST COMES FROM</a:t>
            </a:r>
          </a:p>
        </p:txBody>
      </p:sp>
      <p:sp>
        <p:nvSpPr>
          <p:cNvPr id="5" name="TextBox 4"/>
          <p:cNvSpPr txBox="1"/>
          <p:nvPr/>
        </p:nvSpPr>
        <p:spPr>
          <a:xfrm>
            <a:off x="713232" y="868680"/>
            <a:ext cx="10765231" cy="914400"/>
          </a:xfrm>
          <a:prstGeom prst="rect">
            <a:avLst/>
          </a:prstGeom>
          <a:noFill/>
        </p:spPr>
        <p:txBody>
          <a:bodyPr wrap="square" lIns="0" rIns="0" tIns="0" bIns="0">
            <a:spAutoFit/>
          </a:bodyPr>
          <a:lstStyle/>
          <a:p>
            <a:pPr algn="l">
              <a:lnSpc>
                <a:spcPct val="106000"/>
              </a:lnSpc>
            </a:pPr>
            <a:r>
              <a:rPr sz="3000" b="1">
                <a:solidFill>
                  <a:srgbClr val="0F1E24"/>
                </a:solidFill>
                <a:latin typeface="Georgia"/>
              </a:rPr>
              <a:t>Three model calls per customer message</a:t>
            </a:r>
          </a:p>
        </p:txBody>
      </p:sp>
      <p:sp>
        <p:nvSpPr>
          <p:cNvPr id="6" name="TextBox 5"/>
          <p:cNvSpPr txBox="1"/>
          <p:nvPr/>
        </p:nvSpPr>
        <p:spPr>
          <a:xfrm>
            <a:off x="713232" y="1572768"/>
            <a:ext cx="8778240" cy="822960"/>
          </a:xfrm>
          <a:prstGeom prst="rect">
            <a:avLst/>
          </a:prstGeom>
          <a:noFill/>
        </p:spPr>
        <p:txBody>
          <a:bodyPr wrap="square" lIns="0" rIns="0" tIns="0" bIns="0">
            <a:spAutoFit/>
          </a:bodyPr>
          <a:lstStyle/>
          <a:p>
            <a:pPr algn="l">
              <a:lnSpc>
                <a:spcPct val="140000"/>
              </a:lnSpc>
            </a:pPr>
            <a:r>
              <a:rPr sz="1300" b="0">
                <a:solidFill>
                  <a:srgbClr val="3D5259"/>
                </a:solidFill>
                <a:latin typeface="Segoe UI"/>
              </a:rPr>
              <a:t>Every inbound message runs the same pipeline. The reply the customer reads is the output of the middle call, so outbound messages are not a separate cost line.</a:t>
            </a:r>
          </a:p>
        </p:txBody>
      </p:sp>
      <p:sp>
        <p:nvSpPr>
          <p:cNvPr id="7" name="Rounded Rectangle 6"/>
          <p:cNvSpPr/>
          <p:nvPr/>
        </p:nvSpPr>
        <p:spPr>
          <a:xfrm>
            <a:off x="713232" y="2560320"/>
            <a:ext cx="3529584" cy="1874519"/>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50976" y="2743200"/>
            <a:ext cx="3072384" cy="228600"/>
          </a:xfrm>
          <a:prstGeom prst="rect">
            <a:avLst/>
          </a:prstGeom>
          <a:noFill/>
        </p:spPr>
        <p:txBody>
          <a:bodyPr wrap="square" lIns="0" rIns="0" tIns="0" bIns="0">
            <a:spAutoFit/>
          </a:bodyPr>
          <a:lstStyle/>
          <a:p>
            <a:pPr algn="l">
              <a:lnSpc>
                <a:spcPct val="125000"/>
              </a:lnSpc>
            </a:pPr>
            <a:r>
              <a:rPr sz="950" b="0" spc="120">
                <a:solidFill>
                  <a:srgbClr val="6B8087"/>
                </a:solidFill>
                <a:latin typeface="Consolas"/>
              </a:rPr>
              <a:t>CALL 1</a:t>
            </a:r>
          </a:p>
        </p:txBody>
      </p:sp>
      <p:sp>
        <p:nvSpPr>
          <p:cNvPr id="9" name="TextBox 8"/>
          <p:cNvSpPr txBox="1"/>
          <p:nvPr/>
        </p:nvSpPr>
        <p:spPr>
          <a:xfrm>
            <a:off x="950976" y="3017520"/>
            <a:ext cx="3072384" cy="320040"/>
          </a:xfrm>
          <a:prstGeom prst="rect">
            <a:avLst/>
          </a:prstGeom>
          <a:noFill/>
        </p:spPr>
        <p:txBody>
          <a:bodyPr wrap="square" lIns="0" rIns="0" tIns="0" bIns="0">
            <a:spAutoFit/>
          </a:bodyPr>
          <a:lstStyle/>
          <a:p>
            <a:pPr algn="l">
              <a:lnSpc>
                <a:spcPct val="125000"/>
              </a:lnSpc>
            </a:pPr>
            <a:r>
              <a:rPr sz="1500" b="1">
                <a:solidFill>
                  <a:srgbClr val="0F1E24"/>
                </a:solidFill>
                <a:latin typeface="Georgia"/>
              </a:rPr>
              <a:t>Route</a:t>
            </a:r>
          </a:p>
        </p:txBody>
      </p:sp>
      <p:sp>
        <p:nvSpPr>
          <p:cNvPr id="10" name="TextBox 9"/>
          <p:cNvSpPr txBox="1"/>
          <p:nvPr/>
        </p:nvSpPr>
        <p:spPr>
          <a:xfrm>
            <a:off x="950976" y="3429000"/>
            <a:ext cx="3072384" cy="640080"/>
          </a:xfrm>
          <a:prstGeom prst="rect">
            <a:avLst/>
          </a:prstGeom>
          <a:noFill/>
        </p:spPr>
        <p:txBody>
          <a:bodyPr wrap="square" lIns="0" rIns="0" tIns="0" bIns="0">
            <a:spAutoFit/>
          </a:bodyPr>
          <a:lstStyle/>
          <a:p>
            <a:pPr algn="l">
              <a:lnSpc>
                <a:spcPct val="130000"/>
              </a:lnSpc>
            </a:pPr>
            <a:r>
              <a:rPr sz="1100" b="0">
                <a:solidFill>
                  <a:srgbClr val="3D5259"/>
                </a:solidFill>
                <a:latin typeface="Segoe UI"/>
              </a:rPr>
              <a:t>Decides which business tool should fire, or whether to hand the conversation to a person.</a:t>
            </a:r>
          </a:p>
        </p:txBody>
      </p:sp>
      <p:sp>
        <p:nvSpPr>
          <p:cNvPr id="11" name="TextBox 10"/>
          <p:cNvSpPr txBox="1"/>
          <p:nvPr/>
        </p:nvSpPr>
        <p:spPr>
          <a:xfrm>
            <a:off x="950976" y="4096512"/>
            <a:ext cx="3072384" cy="228600"/>
          </a:xfrm>
          <a:prstGeom prst="rect">
            <a:avLst/>
          </a:prstGeom>
          <a:noFill/>
        </p:spPr>
        <p:txBody>
          <a:bodyPr wrap="square" lIns="0" rIns="0" tIns="0" bIns="0">
            <a:spAutoFit/>
          </a:bodyPr>
          <a:lstStyle/>
          <a:p>
            <a:pPr algn="l">
              <a:lnSpc>
                <a:spcPct val="125000"/>
              </a:lnSpc>
            </a:pPr>
            <a:r>
              <a:rPr sz="1000" b="1">
                <a:solidFill>
                  <a:srgbClr val="1F7A4D"/>
                </a:solidFill>
                <a:latin typeface="Consolas"/>
              </a:rPr>
              <a:t>1,200 → 520 in     80 out</a:t>
            </a:r>
          </a:p>
        </p:txBody>
      </p:sp>
      <p:sp>
        <p:nvSpPr>
          <p:cNvPr id="12" name="Rounded Rectangle 11"/>
          <p:cNvSpPr/>
          <p:nvPr/>
        </p:nvSpPr>
        <p:spPr>
          <a:xfrm>
            <a:off x="4517136" y="2560320"/>
            <a:ext cx="3529584" cy="1874519"/>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2743200"/>
            <a:ext cx="3072384" cy="228600"/>
          </a:xfrm>
          <a:prstGeom prst="rect">
            <a:avLst/>
          </a:prstGeom>
          <a:noFill/>
        </p:spPr>
        <p:txBody>
          <a:bodyPr wrap="square" lIns="0" rIns="0" tIns="0" bIns="0">
            <a:spAutoFit/>
          </a:bodyPr>
          <a:lstStyle/>
          <a:p>
            <a:pPr algn="l">
              <a:lnSpc>
                <a:spcPct val="125000"/>
              </a:lnSpc>
            </a:pPr>
            <a:r>
              <a:rPr sz="950" b="0" spc="120">
                <a:solidFill>
                  <a:srgbClr val="6B8087"/>
                </a:solidFill>
                <a:latin typeface="Consolas"/>
              </a:rPr>
              <a:t>CALL 2</a:t>
            </a:r>
          </a:p>
        </p:txBody>
      </p:sp>
      <p:sp>
        <p:nvSpPr>
          <p:cNvPr id="14" name="TextBox 13"/>
          <p:cNvSpPr txBox="1"/>
          <p:nvPr/>
        </p:nvSpPr>
        <p:spPr>
          <a:xfrm>
            <a:off x="4754880" y="3017520"/>
            <a:ext cx="3072384" cy="320040"/>
          </a:xfrm>
          <a:prstGeom prst="rect">
            <a:avLst/>
          </a:prstGeom>
          <a:noFill/>
        </p:spPr>
        <p:txBody>
          <a:bodyPr wrap="square" lIns="0" rIns="0" tIns="0" bIns="0">
            <a:spAutoFit/>
          </a:bodyPr>
          <a:lstStyle/>
          <a:p>
            <a:pPr algn="l">
              <a:lnSpc>
                <a:spcPct val="125000"/>
              </a:lnSpc>
            </a:pPr>
            <a:r>
              <a:rPr sz="1500" b="1">
                <a:solidFill>
                  <a:srgbClr val="0F1E24"/>
                </a:solidFill>
                <a:latin typeface="Georgia"/>
              </a:rPr>
              <a:t>Reply</a:t>
            </a:r>
          </a:p>
        </p:txBody>
      </p:sp>
      <p:sp>
        <p:nvSpPr>
          <p:cNvPr id="15" name="TextBox 14"/>
          <p:cNvSpPr txBox="1"/>
          <p:nvPr/>
        </p:nvSpPr>
        <p:spPr>
          <a:xfrm>
            <a:off x="4754880" y="3429000"/>
            <a:ext cx="3072384" cy="640080"/>
          </a:xfrm>
          <a:prstGeom prst="rect">
            <a:avLst/>
          </a:prstGeom>
          <a:noFill/>
        </p:spPr>
        <p:txBody>
          <a:bodyPr wrap="square" lIns="0" rIns="0" tIns="0" bIns="0">
            <a:spAutoFit/>
          </a:bodyPr>
          <a:lstStyle/>
          <a:p>
            <a:pPr algn="l">
              <a:lnSpc>
                <a:spcPct val="130000"/>
              </a:lnSpc>
            </a:pPr>
            <a:r>
              <a:rPr sz="1100" b="0">
                <a:solidFill>
                  <a:srgbClr val="3D5259"/>
                </a:solidFill>
                <a:latin typeface="Segoe UI"/>
              </a:rPr>
              <a:t>Writes the answer using recent history, facts already known about the customer, and retrieved reference data.</a:t>
            </a:r>
          </a:p>
        </p:txBody>
      </p:sp>
      <p:sp>
        <p:nvSpPr>
          <p:cNvPr id="16" name="TextBox 15"/>
          <p:cNvSpPr txBox="1"/>
          <p:nvPr/>
        </p:nvSpPr>
        <p:spPr>
          <a:xfrm>
            <a:off x="4754880" y="4096512"/>
            <a:ext cx="3072384" cy="228600"/>
          </a:xfrm>
          <a:prstGeom prst="rect">
            <a:avLst/>
          </a:prstGeom>
          <a:noFill/>
        </p:spPr>
        <p:txBody>
          <a:bodyPr wrap="square" lIns="0" rIns="0" tIns="0" bIns="0">
            <a:spAutoFit/>
          </a:bodyPr>
          <a:lstStyle/>
          <a:p>
            <a:pPr algn="l">
              <a:lnSpc>
                <a:spcPct val="125000"/>
              </a:lnSpc>
            </a:pPr>
            <a:r>
              <a:rPr sz="1000" b="1">
                <a:solidFill>
                  <a:srgbClr val="1F7A4D"/>
                </a:solidFill>
                <a:latin typeface="Consolas"/>
              </a:rPr>
              <a:t>2,900 → 2,400 in     150 out</a:t>
            </a:r>
          </a:p>
        </p:txBody>
      </p:sp>
      <p:sp>
        <p:nvSpPr>
          <p:cNvPr id="17" name="Rounded Rectangle 16"/>
          <p:cNvSpPr/>
          <p:nvPr/>
        </p:nvSpPr>
        <p:spPr>
          <a:xfrm>
            <a:off x="8321040" y="2560320"/>
            <a:ext cx="3529584" cy="1874519"/>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558784" y="2743200"/>
            <a:ext cx="3072384" cy="228600"/>
          </a:xfrm>
          <a:prstGeom prst="rect">
            <a:avLst/>
          </a:prstGeom>
          <a:noFill/>
        </p:spPr>
        <p:txBody>
          <a:bodyPr wrap="square" lIns="0" rIns="0" tIns="0" bIns="0">
            <a:spAutoFit/>
          </a:bodyPr>
          <a:lstStyle/>
          <a:p>
            <a:pPr algn="l">
              <a:lnSpc>
                <a:spcPct val="125000"/>
              </a:lnSpc>
            </a:pPr>
            <a:r>
              <a:rPr sz="950" b="0" spc="120">
                <a:solidFill>
                  <a:srgbClr val="6B8087"/>
                </a:solidFill>
                <a:latin typeface="Consolas"/>
              </a:rPr>
              <a:t>CALL 3</a:t>
            </a:r>
          </a:p>
        </p:txBody>
      </p:sp>
      <p:sp>
        <p:nvSpPr>
          <p:cNvPr id="19" name="TextBox 18"/>
          <p:cNvSpPr txBox="1"/>
          <p:nvPr/>
        </p:nvSpPr>
        <p:spPr>
          <a:xfrm>
            <a:off x="8558784" y="3017520"/>
            <a:ext cx="3072384" cy="320040"/>
          </a:xfrm>
          <a:prstGeom prst="rect">
            <a:avLst/>
          </a:prstGeom>
          <a:noFill/>
        </p:spPr>
        <p:txBody>
          <a:bodyPr wrap="square" lIns="0" rIns="0" tIns="0" bIns="0">
            <a:spAutoFit/>
          </a:bodyPr>
          <a:lstStyle/>
          <a:p>
            <a:pPr algn="l">
              <a:lnSpc>
                <a:spcPct val="125000"/>
              </a:lnSpc>
            </a:pPr>
            <a:r>
              <a:rPr sz="1500" b="1">
                <a:solidFill>
                  <a:srgbClr val="0F1E24"/>
                </a:solidFill>
                <a:latin typeface="Georgia"/>
              </a:rPr>
              <a:t>Capture</a:t>
            </a:r>
          </a:p>
        </p:txBody>
      </p:sp>
      <p:sp>
        <p:nvSpPr>
          <p:cNvPr id="20" name="TextBox 19"/>
          <p:cNvSpPr txBox="1"/>
          <p:nvPr/>
        </p:nvSpPr>
        <p:spPr>
          <a:xfrm>
            <a:off x="8558784" y="3429000"/>
            <a:ext cx="3072384" cy="640080"/>
          </a:xfrm>
          <a:prstGeom prst="rect">
            <a:avLst/>
          </a:prstGeom>
          <a:noFill/>
        </p:spPr>
        <p:txBody>
          <a:bodyPr wrap="square" lIns="0" rIns="0" tIns="0" bIns="0">
            <a:spAutoFit/>
          </a:bodyPr>
          <a:lstStyle/>
          <a:p>
            <a:pPr algn="l">
              <a:lnSpc>
                <a:spcPct val="130000"/>
              </a:lnSpc>
            </a:pPr>
            <a:r>
              <a:rPr sz="1100" b="0">
                <a:solidFill>
                  <a:srgbClr val="3D5259"/>
                </a:solidFill>
                <a:latin typeface="Segoe UI"/>
              </a:rPr>
              <a:t>Extracts name, phone, email and intent into the customer record.</a:t>
            </a:r>
          </a:p>
        </p:txBody>
      </p:sp>
      <p:sp>
        <p:nvSpPr>
          <p:cNvPr id="21" name="TextBox 20"/>
          <p:cNvSpPr txBox="1"/>
          <p:nvPr/>
        </p:nvSpPr>
        <p:spPr>
          <a:xfrm>
            <a:off x="8558784" y="4096512"/>
            <a:ext cx="3072384" cy="228600"/>
          </a:xfrm>
          <a:prstGeom prst="rect">
            <a:avLst/>
          </a:prstGeom>
          <a:noFill/>
        </p:spPr>
        <p:txBody>
          <a:bodyPr wrap="square" lIns="0" rIns="0" tIns="0" bIns="0">
            <a:spAutoFit/>
          </a:bodyPr>
          <a:lstStyle/>
          <a:p>
            <a:pPr algn="l">
              <a:lnSpc>
                <a:spcPct val="125000"/>
              </a:lnSpc>
            </a:pPr>
            <a:r>
              <a:rPr sz="1000" b="1">
                <a:solidFill>
                  <a:srgbClr val="1F7A4D"/>
                </a:solidFill>
                <a:latin typeface="Consolas"/>
              </a:rPr>
              <a:t>600 → 300 in     60 out</a:t>
            </a:r>
          </a:p>
        </p:txBody>
      </p:sp>
      <p:sp>
        <p:nvSpPr>
          <p:cNvPr id="22" name="Rounded Rectangle 21"/>
          <p:cNvSpPr/>
          <p:nvPr/>
        </p:nvSpPr>
        <p:spPr>
          <a:xfrm>
            <a:off x="713232" y="4617720"/>
            <a:ext cx="10765231" cy="150876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13232" y="4672584"/>
            <a:ext cx="38100" cy="1399032"/>
          </a:xfrm>
          <a:prstGeom prst="rect">
            <a:avLst/>
          </a:prstGeom>
          <a:solidFill>
            <a:srgbClr val="0B6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800600"/>
            <a:ext cx="10216591" cy="320040"/>
          </a:xfrm>
          <a:prstGeom prst="rect">
            <a:avLst/>
          </a:prstGeom>
          <a:noFill/>
        </p:spPr>
        <p:txBody>
          <a:bodyPr wrap="square" lIns="0" rIns="0" tIns="0" bIns="0">
            <a:spAutoFit/>
          </a:bodyPr>
          <a:lstStyle/>
          <a:p>
            <a:pPr algn="l">
              <a:lnSpc>
                <a:spcPct val="125000"/>
              </a:lnSpc>
            </a:pPr>
            <a:r>
              <a:rPr sz="1500" b="1">
                <a:solidFill>
                  <a:srgbClr val="0F1E24"/>
                </a:solidFill>
                <a:latin typeface="Georgia"/>
              </a:rPr>
              <a:t>Cost does not grow as conversations get longer</a:t>
            </a:r>
          </a:p>
        </p:txBody>
      </p:sp>
      <p:sp>
        <p:nvSpPr>
          <p:cNvPr id="25" name="TextBox 24"/>
          <p:cNvSpPr txBox="1"/>
          <p:nvPr/>
        </p:nvSpPr>
        <p:spPr>
          <a:xfrm>
            <a:off x="969264" y="5184648"/>
            <a:ext cx="10216591" cy="777240"/>
          </a:xfrm>
          <a:prstGeom prst="rect">
            <a:avLst/>
          </a:prstGeom>
          <a:noFill/>
        </p:spPr>
        <p:txBody>
          <a:bodyPr wrap="square" lIns="0" rIns="0" tIns="0" bIns="0">
            <a:spAutoFit/>
          </a:bodyPr>
          <a:lstStyle/>
          <a:p>
            <a:pPr algn="l">
              <a:lnSpc>
                <a:spcPct val="135000"/>
              </a:lnSpc>
            </a:pPr>
            <a:r>
              <a:rPr sz="1200" b="0">
                <a:solidFill>
                  <a:srgbClr val="3D5259"/>
                </a:solidFill>
                <a:latin typeface="Segoe UI"/>
              </a:rPr>
              <a:t>Threads persist for months and reach hundreds of messages, but the model receives a fixed window — recent turns, a rolling summary, and the structured facts already captured. A three-hundred-message relationship costs the same per message as a new one, so spend scales with message volume alone — the same axis revenue scales 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548640" cy="274320"/>
          </a:xfrm>
          <a:prstGeom prst="rect">
            <a:avLst/>
          </a:prstGeom>
          <a:noFill/>
        </p:spPr>
        <p:txBody>
          <a:bodyPr wrap="square" lIns="0" rIns="0" tIns="0" bIns="0">
            <a:spAutoFit/>
          </a:bodyPr>
          <a:lstStyle/>
          <a:p>
            <a:pPr algn="l">
              <a:lnSpc>
                <a:spcPct val="125000"/>
              </a:lnSpc>
            </a:pPr>
            <a:r>
              <a:rPr sz="1100" b="1" spc="130">
                <a:solidFill>
                  <a:srgbClr val="0B6E5B"/>
                </a:solidFill>
                <a:latin typeface="Consolas"/>
              </a:rPr>
              <a:t>04</a:t>
            </a:r>
          </a:p>
        </p:txBody>
      </p:sp>
      <p:sp>
        <p:nvSpPr>
          <p:cNvPr id="4" name="TextBox 3"/>
          <p:cNvSpPr txBox="1"/>
          <p:nvPr/>
        </p:nvSpPr>
        <p:spPr>
          <a:xfrm>
            <a:off x="1188720" y="457200"/>
            <a:ext cx="8229600" cy="274320"/>
          </a:xfrm>
          <a:prstGeom prst="rect">
            <a:avLst/>
          </a:prstGeom>
          <a:noFill/>
        </p:spPr>
        <p:txBody>
          <a:bodyPr wrap="square" lIns="0" rIns="0" tIns="0" bIns="0">
            <a:spAutoFit/>
          </a:bodyPr>
          <a:lstStyle/>
          <a:p>
            <a:pPr algn="l">
              <a:lnSpc>
                <a:spcPct val="125000"/>
              </a:lnSpc>
            </a:pPr>
            <a:r>
              <a:rPr sz="1100" b="0" spc="130">
                <a:solidFill>
                  <a:srgbClr val="6B8087"/>
                </a:solidFill>
                <a:latin typeface="Consolas"/>
              </a:rPr>
              <a:t>RATE CARD</a:t>
            </a:r>
          </a:p>
        </p:txBody>
      </p:sp>
      <p:sp>
        <p:nvSpPr>
          <p:cNvPr id="5" name="TextBox 4"/>
          <p:cNvSpPr txBox="1"/>
          <p:nvPr/>
        </p:nvSpPr>
        <p:spPr>
          <a:xfrm>
            <a:off x="713232" y="868680"/>
            <a:ext cx="10765231" cy="914400"/>
          </a:xfrm>
          <a:prstGeom prst="rect">
            <a:avLst/>
          </a:prstGeom>
          <a:noFill/>
        </p:spPr>
        <p:txBody>
          <a:bodyPr wrap="square" lIns="0" rIns="0" tIns="0" bIns="0">
            <a:spAutoFit/>
          </a:bodyPr>
          <a:lstStyle/>
          <a:p>
            <a:pPr algn="l">
              <a:lnSpc>
                <a:spcPct val="106000"/>
              </a:lnSpc>
            </a:pPr>
            <a:r>
              <a:rPr sz="3000" b="1">
                <a:solidFill>
                  <a:srgbClr val="0F1E24"/>
                </a:solidFill>
                <a:latin typeface="Georgia"/>
              </a:rPr>
              <a:t>Cost per 1,000 customer messages</a:t>
            </a:r>
          </a:p>
        </p:txBody>
      </p:sp>
      <p:sp>
        <p:nvSpPr>
          <p:cNvPr id="6" name="TextBox 5"/>
          <p:cNvSpPr txBox="1"/>
          <p:nvPr/>
        </p:nvSpPr>
        <p:spPr>
          <a:xfrm>
            <a:off x="713232" y="1572768"/>
            <a:ext cx="8778240" cy="822960"/>
          </a:xfrm>
          <a:prstGeom prst="rect">
            <a:avLst/>
          </a:prstGeom>
          <a:noFill/>
        </p:spPr>
        <p:txBody>
          <a:bodyPr wrap="square" lIns="0" rIns="0" tIns="0" bIns="0">
            <a:spAutoFit/>
          </a:bodyPr>
          <a:lstStyle/>
          <a:p>
            <a:pPr algn="l">
              <a:lnSpc>
                <a:spcPct val="140000"/>
              </a:lnSpc>
            </a:pPr>
            <a:r>
              <a:rPr sz="1300" b="0">
                <a:solidFill>
                  <a:srgbClr val="3D5259"/>
                </a:solidFill>
                <a:latin typeface="Segoe UI"/>
              </a:rPr>
              <a:t>Derived from 2,680 input and 290 output tokens per message after optimisation. Input dominates: supplying context costs roughly eight times more than the reply.</a:t>
            </a:r>
          </a:p>
        </p:txBody>
      </p:sp>
      <p:graphicFrame>
        <p:nvGraphicFramePr>
          <p:cNvPr id="7" name="Table 6"/>
          <p:cNvGraphicFramePr>
            <a:graphicFrameLocks noGrp="1"/>
          </p:cNvGraphicFramePr>
          <p:nvPr/>
        </p:nvGraphicFramePr>
        <p:xfrm>
          <a:off x="713232" y="2606040"/>
          <a:ext cx="11292840" cy="1444752"/>
        </p:xfrm>
        <a:graphic>
          <a:graphicData uri="http://schemas.openxmlformats.org/drawingml/2006/table">
            <a:tbl>
              <a:tblPr>
                <a:tableStyleId>{5C22544A-7EE6-4342-B048-85BDC9FD1C3A}</a:tableStyleId>
              </a:tblPr>
              <a:tblGrid>
                <a:gridCol w="2011680"/>
                <a:gridCol w="4206240"/>
                <a:gridCol w="1691640"/>
                <a:gridCol w="1691640"/>
                <a:gridCol w="1691640"/>
              </a:tblGrid>
              <a:tr h="402336">
                <a:tc>
                  <a:txBody>
                    <a:bodyPr/>
                    <a:lstStyle/>
                    <a:p>
                      <a:pPr algn="l"/>
                      <a:r>
                        <a:rPr sz="950" b="1">
                          <a:solidFill>
                            <a:srgbClr val="6B8087"/>
                          </a:solidFill>
                          <a:latin typeface="Consolas"/>
                        </a:rPr>
                        <a:t>Tier</a:t>
                      </a:r>
                    </a:p>
                  </a:txBody>
                  <a:tcPr anchor="ctr" marL="118872" marR="118872" marT="0" marB="0">
                    <a:solidFill>
                      <a:srgbClr val="EDF2F0"/>
                    </a:solidFill>
                  </a:tcPr>
                </a:tc>
                <a:tc>
                  <a:txBody>
                    <a:bodyPr/>
                    <a:lstStyle/>
                    <a:p>
                      <a:pPr algn="l"/>
                      <a:r>
                        <a:rPr sz="950" b="1">
                          <a:solidFill>
                            <a:srgbClr val="6B8087"/>
                          </a:solidFill>
                          <a:latin typeface="Consolas"/>
                        </a:rPr>
                        <a:t>Model</a:t>
                      </a:r>
                    </a:p>
                  </a:txBody>
                  <a:tcPr anchor="ctr" marL="118872" marR="118872" marT="0" marB="0">
                    <a:solidFill>
                      <a:srgbClr val="EDF2F0"/>
                    </a:solidFill>
                  </a:tcPr>
                </a:tc>
                <a:tc>
                  <a:txBody>
                    <a:bodyPr/>
                    <a:lstStyle/>
                    <a:p>
                      <a:pPr algn="r"/>
                      <a:r>
                        <a:rPr sz="950" b="1">
                          <a:solidFill>
                            <a:srgbClr val="6B8087"/>
                          </a:solidFill>
                          <a:latin typeface="Consolas"/>
                        </a:rPr>
                        <a:t>Input</a:t>
                      </a:r>
                    </a:p>
                  </a:txBody>
                  <a:tcPr anchor="ctr" marL="118872" marR="118872" marT="0" marB="0">
                    <a:solidFill>
                      <a:srgbClr val="EDF2F0"/>
                    </a:solidFill>
                  </a:tcPr>
                </a:tc>
                <a:tc>
                  <a:txBody>
                    <a:bodyPr/>
                    <a:lstStyle/>
                    <a:p>
                      <a:pPr algn="r"/>
                      <a:r>
                        <a:rPr sz="950" b="1">
                          <a:solidFill>
                            <a:srgbClr val="6B8087"/>
                          </a:solidFill>
                          <a:latin typeface="Consolas"/>
                        </a:rPr>
                        <a:t>Output</a:t>
                      </a:r>
                    </a:p>
                  </a:txBody>
                  <a:tcPr anchor="ctr" marL="118872" marR="118872" marT="0" marB="0">
                    <a:solidFill>
                      <a:srgbClr val="EDF2F0"/>
                    </a:solidFill>
                  </a:tcPr>
                </a:tc>
                <a:tc>
                  <a:txBody>
                    <a:bodyPr/>
                    <a:lstStyle/>
                    <a:p>
                      <a:pPr algn="r"/>
                      <a:r>
                        <a:rPr sz="950" b="1">
                          <a:solidFill>
                            <a:srgbClr val="6B8087"/>
                          </a:solidFill>
                          <a:latin typeface="Consolas"/>
                        </a:rPr>
                        <a:t>Total</a:t>
                      </a:r>
                    </a:p>
                  </a:txBody>
                  <a:tcPr anchor="ctr" marL="118872" marR="118872" marT="0" marB="0">
                    <a:solidFill>
                      <a:srgbClr val="EDF2F0"/>
                    </a:solidFill>
                  </a:tcPr>
                </a:tc>
              </a:tr>
              <a:tr h="347472">
                <a:tc>
                  <a:txBody>
                    <a:bodyPr/>
                    <a:lstStyle/>
                    <a:p>
                      <a:pPr algn="l"/>
                      <a:r>
                        <a:rPr sz="1150" b="0">
                          <a:solidFill>
                            <a:srgbClr val="0F1E24"/>
                          </a:solidFill>
                          <a:latin typeface="Segoe UI"/>
                        </a:rPr>
                        <a:t>Efficient</a:t>
                      </a:r>
                    </a:p>
                  </a:txBody>
                  <a:tcPr anchor="ctr" marL="118872" marR="118872" marT="0" marB="0">
                    <a:solidFill>
                      <a:srgbClr val="FFFFFF"/>
                    </a:solidFill>
                  </a:tcPr>
                </a:tc>
                <a:tc>
                  <a:txBody>
                    <a:bodyPr/>
                    <a:lstStyle/>
                    <a:p>
                      <a:pPr algn="l"/>
                      <a:r>
                        <a:rPr sz="1150" b="0">
                          <a:solidFill>
                            <a:srgbClr val="0F1E24"/>
                          </a:solidFill>
                          <a:latin typeface="Segoe UI"/>
                        </a:rPr>
                        <a:t>Gemini 2.5 Flash-Lite</a:t>
                      </a:r>
                    </a:p>
                  </a:txBody>
                  <a:tcPr anchor="ctr" marL="118872" marR="118872" marT="0" marB="0">
                    <a:solidFill>
                      <a:srgbClr val="FFFFFF"/>
                    </a:solidFill>
                  </a:tcPr>
                </a:tc>
                <a:tc>
                  <a:txBody>
                    <a:bodyPr/>
                    <a:lstStyle/>
                    <a:p>
                      <a:pPr algn="r"/>
                      <a:r>
                        <a:rPr sz="1150" b="0">
                          <a:solidFill>
                            <a:srgbClr val="0F1E24"/>
                          </a:solidFill>
                          <a:latin typeface="Consolas"/>
                        </a:rPr>
                        <a:t>$0.268</a:t>
                      </a:r>
                    </a:p>
                  </a:txBody>
                  <a:tcPr anchor="ctr" marL="118872" marR="118872" marT="0" marB="0">
                    <a:solidFill>
                      <a:srgbClr val="FFFFFF"/>
                    </a:solidFill>
                  </a:tcPr>
                </a:tc>
                <a:tc>
                  <a:txBody>
                    <a:bodyPr/>
                    <a:lstStyle/>
                    <a:p>
                      <a:pPr algn="r"/>
                      <a:r>
                        <a:rPr sz="1150" b="0">
                          <a:solidFill>
                            <a:srgbClr val="0F1E24"/>
                          </a:solidFill>
                          <a:latin typeface="Consolas"/>
                        </a:rPr>
                        <a:t>$0.116</a:t>
                      </a:r>
                    </a:p>
                  </a:txBody>
                  <a:tcPr anchor="ctr" marL="118872" marR="118872" marT="0" marB="0">
                    <a:solidFill>
                      <a:srgbClr val="FFFFFF"/>
                    </a:solidFill>
                  </a:tcPr>
                </a:tc>
                <a:tc>
                  <a:txBody>
                    <a:bodyPr/>
                    <a:lstStyle/>
                    <a:p>
                      <a:pPr algn="r"/>
                      <a:r>
                        <a:rPr sz="1150" b="0">
                          <a:solidFill>
                            <a:srgbClr val="0B6E5B"/>
                          </a:solidFill>
                          <a:latin typeface="Consolas"/>
                        </a:rPr>
                        <a:t>$0.384</a:t>
                      </a:r>
                    </a:p>
                  </a:txBody>
                  <a:tcPr anchor="ctr" marL="118872" marR="118872" marT="0" marB="0">
                    <a:solidFill>
                      <a:srgbClr val="E2F0EB"/>
                    </a:solidFill>
                  </a:tcPr>
                </a:tc>
              </a:tr>
              <a:tr h="347472">
                <a:tc>
                  <a:txBody>
                    <a:bodyPr/>
                    <a:lstStyle/>
                    <a:p>
                      <a:pPr algn="l"/>
                      <a:r>
                        <a:rPr sz="1150" b="0">
                          <a:solidFill>
                            <a:srgbClr val="0F1E24"/>
                          </a:solidFill>
                          <a:latin typeface="Segoe UI"/>
                        </a:rPr>
                        <a:t>Balanced</a:t>
                      </a:r>
                    </a:p>
                  </a:txBody>
                  <a:tcPr anchor="ctr" marL="118872" marR="118872" marT="0" marB="0">
                    <a:solidFill>
                      <a:srgbClr val="FFFFFF"/>
                    </a:solidFill>
                  </a:tcPr>
                </a:tc>
                <a:tc>
                  <a:txBody>
                    <a:bodyPr/>
                    <a:lstStyle/>
                    <a:p>
                      <a:pPr algn="l"/>
                      <a:r>
                        <a:rPr sz="1150" b="0">
                          <a:solidFill>
                            <a:srgbClr val="0F1E24"/>
                          </a:solidFill>
                          <a:latin typeface="Segoe UI"/>
                        </a:rPr>
                        <a:t>Gemini 2.5 Flash</a:t>
                      </a:r>
                    </a:p>
                  </a:txBody>
                  <a:tcPr anchor="ctr" marL="118872" marR="118872" marT="0" marB="0">
                    <a:solidFill>
                      <a:srgbClr val="FFFFFF"/>
                    </a:solidFill>
                  </a:tcPr>
                </a:tc>
                <a:tc>
                  <a:txBody>
                    <a:bodyPr/>
                    <a:lstStyle/>
                    <a:p>
                      <a:pPr algn="r"/>
                      <a:r>
                        <a:rPr sz="1150" b="0">
                          <a:solidFill>
                            <a:srgbClr val="0F1E24"/>
                          </a:solidFill>
                          <a:latin typeface="Consolas"/>
                        </a:rPr>
                        <a:t>$0.804</a:t>
                      </a:r>
                    </a:p>
                  </a:txBody>
                  <a:tcPr anchor="ctr" marL="118872" marR="118872" marT="0" marB="0">
                    <a:solidFill>
                      <a:srgbClr val="FFFFFF"/>
                    </a:solidFill>
                  </a:tcPr>
                </a:tc>
                <a:tc>
                  <a:txBody>
                    <a:bodyPr/>
                    <a:lstStyle/>
                    <a:p>
                      <a:pPr algn="r"/>
                      <a:r>
                        <a:rPr sz="1150" b="0">
                          <a:solidFill>
                            <a:srgbClr val="0F1E24"/>
                          </a:solidFill>
                          <a:latin typeface="Consolas"/>
                        </a:rPr>
                        <a:t>$0.725</a:t>
                      </a:r>
                    </a:p>
                  </a:txBody>
                  <a:tcPr anchor="ctr" marL="118872" marR="118872" marT="0" marB="0">
                    <a:solidFill>
                      <a:srgbClr val="FFFFFF"/>
                    </a:solidFill>
                  </a:tcPr>
                </a:tc>
                <a:tc>
                  <a:txBody>
                    <a:bodyPr/>
                    <a:lstStyle/>
                    <a:p>
                      <a:pPr algn="r"/>
                      <a:r>
                        <a:rPr sz="1150" b="0">
                          <a:solidFill>
                            <a:srgbClr val="0B6E5B"/>
                          </a:solidFill>
                          <a:latin typeface="Consolas"/>
                        </a:rPr>
                        <a:t>$1.529</a:t>
                      </a:r>
                    </a:p>
                  </a:txBody>
                  <a:tcPr anchor="ctr" marL="118872" marR="118872" marT="0" marB="0">
                    <a:solidFill>
                      <a:srgbClr val="E2F0EB"/>
                    </a:solidFill>
                  </a:tcPr>
                </a:tc>
              </a:tr>
              <a:tr h="347472">
                <a:tc>
                  <a:txBody>
                    <a:bodyPr/>
                    <a:lstStyle/>
                    <a:p>
                      <a:pPr algn="l"/>
                      <a:r>
                        <a:rPr sz="1150" b="0">
                          <a:solidFill>
                            <a:srgbClr val="0F1E24"/>
                          </a:solidFill>
                          <a:latin typeface="Segoe UI"/>
                        </a:rPr>
                        <a:t>Fastest</a:t>
                      </a:r>
                    </a:p>
                  </a:txBody>
                  <a:tcPr anchor="ctr" marL="118872" marR="118872" marT="0" marB="0">
                    <a:solidFill>
                      <a:srgbClr val="FFFFFF"/>
                    </a:solidFill>
                  </a:tcPr>
                </a:tc>
                <a:tc>
                  <a:txBody>
                    <a:bodyPr/>
                    <a:lstStyle/>
                    <a:p>
                      <a:pPr algn="l"/>
                      <a:r>
                        <a:rPr sz="1150" b="0">
                          <a:solidFill>
                            <a:srgbClr val="0F1E24"/>
                          </a:solidFill>
                          <a:latin typeface="Segoe UI"/>
                        </a:rPr>
                        <a:t>Groq Llama 3.3 70B</a:t>
                      </a:r>
                    </a:p>
                  </a:txBody>
                  <a:tcPr anchor="ctr" marL="118872" marR="118872" marT="0" marB="0">
                    <a:solidFill>
                      <a:srgbClr val="FFFFFF"/>
                    </a:solidFill>
                  </a:tcPr>
                </a:tc>
                <a:tc>
                  <a:txBody>
                    <a:bodyPr/>
                    <a:lstStyle/>
                    <a:p>
                      <a:pPr algn="r"/>
                      <a:r>
                        <a:rPr sz="1150" b="0">
                          <a:solidFill>
                            <a:srgbClr val="0F1E24"/>
                          </a:solidFill>
                          <a:latin typeface="Consolas"/>
                        </a:rPr>
                        <a:t>$1.581</a:t>
                      </a:r>
                    </a:p>
                  </a:txBody>
                  <a:tcPr anchor="ctr" marL="118872" marR="118872" marT="0" marB="0">
                    <a:solidFill>
                      <a:srgbClr val="FFFFFF"/>
                    </a:solidFill>
                  </a:tcPr>
                </a:tc>
                <a:tc>
                  <a:txBody>
                    <a:bodyPr/>
                    <a:lstStyle/>
                    <a:p>
                      <a:pPr algn="r"/>
                      <a:r>
                        <a:rPr sz="1150" b="0">
                          <a:solidFill>
                            <a:srgbClr val="0F1E24"/>
                          </a:solidFill>
                          <a:latin typeface="Consolas"/>
                        </a:rPr>
                        <a:t>$0.229</a:t>
                      </a:r>
                    </a:p>
                  </a:txBody>
                  <a:tcPr anchor="ctr" marL="118872" marR="118872" marT="0" marB="0">
                    <a:solidFill>
                      <a:srgbClr val="FFFFFF"/>
                    </a:solidFill>
                  </a:tcPr>
                </a:tc>
                <a:tc>
                  <a:txBody>
                    <a:bodyPr/>
                    <a:lstStyle/>
                    <a:p>
                      <a:pPr algn="r"/>
                      <a:r>
                        <a:rPr sz="1150" b="0">
                          <a:solidFill>
                            <a:srgbClr val="0B6E5B"/>
                          </a:solidFill>
                          <a:latin typeface="Consolas"/>
                        </a:rPr>
                        <a:t>$1.810</a:t>
                      </a:r>
                    </a:p>
                  </a:txBody>
                  <a:tcPr anchor="ctr" marL="118872" marR="118872" marT="0" marB="0">
                    <a:solidFill>
                      <a:srgbClr val="E2F0EB"/>
                    </a:solidFill>
                  </a:tcPr>
                </a:tc>
              </a:tr>
            </a:tbl>
          </a:graphicData>
        </a:graphic>
      </p:graphicFrame>
      <p:sp>
        <p:nvSpPr>
          <p:cNvPr id="8" name="Rounded Rectangle 7"/>
          <p:cNvSpPr/>
          <p:nvPr/>
        </p:nvSpPr>
        <p:spPr>
          <a:xfrm>
            <a:off x="713232" y="4343400"/>
            <a:ext cx="10765231" cy="114300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13232" y="4398264"/>
            <a:ext cx="38100" cy="1033272"/>
          </a:xfrm>
          <a:prstGeom prst="rect">
            <a:avLst/>
          </a:prstGeom>
          <a:solidFill>
            <a:srgbClr val="0B6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4526280"/>
            <a:ext cx="10216591" cy="320040"/>
          </a:xfrm>
          <a:prstGeom prst="rect">
            <a:avLst/>
          </a:prstGeom>
          <a:noFill/>
        </p:spPr>
        <p:txBody>
          <a:bodyPr wrap="square" lIns="0" rIns="0" tIns="0" bIns="0">
            <a:spAutoFit/>
          </a:bodyPr>
          <a:lstStyle/>
          <a:p>
            <a:pPr algn="l">
              <a:lnSpc>
                <a:spcPct val="125000"/>
              </a:lnSpc>
            </a:pPr>
            <a:r>
              <a:rPr sz="1500" b="1">
                <a:solidFill>
                  <a:srgbClr val="0F1E24"/>
                </a:solidFill>
                <a:latin typeface="Georgia"/>
              </a:rPr>
              <a:t>Input is the cost, not the answer</a:t>
            </a:r>
          </a:p>
        </p:txBody>
      </p:sp>
      <p:sp>
        <p:nvSpPr>
          <p:cNvPr id="11" name="TextBox 10"/>
          <p:cNvSpPr txBox="1"/>
          <p:nvPr/>
        </p:nvSpPr>
        <p:spPr>
          <a:xfrm>
            <a:off x="969264" y="4910328"/>
            <a:ext cx="10216591" cy="411480"/>
          </a:xfrm>
          <a:prstGeom prst="rect">
            <a:avLst/>
          </a:prstGeom>
          <a:noFill/>
        </p:spPr>
        <p:txBody>
          <a:bodyPr wrap="square" lIns="0" rIns="0" tIns="0" bIns="0">
            <a:spAutoFit/>
          </a:bodyPr>
          <a:lstStyle/>
          <a:p>
            <a:pPr algn="l">
              <a:lnSpc>
                <a:spcPct val="135000"/>
              </a:lnSpc>
            </a:pPr>
            <a:r>
              <a:rPr sz="1200" b="0">
                <a:solidFill>
                  <a:srgbClr val="3D5259"/>
                </a:solidFill>
                <a:latin typeface="Segoe UI"/>
              </a:rPr>
              <a:t>A reply is about 150 output tokens against 2,400 input tokens of context. Every optimisation therefore targets what we send the model, not what it writes 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548640" cy="274320"/>
          </a:xfrm>
          <a:prstGeom prst="rect">
            <a:avLst/>
          </a:prstGeom>
          <a:noFill/>
        </p:spPr>
        <p:txBody>
          <a:bodyPr wrap="square" lIns="0" rIns="0" tIns="0" bIns="0">
            <a:spAutoFit/>
          </a:bodyPr>
          <a:lstStyle/>
          <a:p>
            <a:pPr algn="l">
              <a:lnSpc>
                <a:spcPct val="125000"/>
              </a:lnSpc>
            </a:pPr>
            <a:r>
              <a:rPr sz="1100" b="1" spc="130">
                <a:solidFill>
                  <a:srgbClr val="0B6E5B"/>
                </a:solidFill>
                <a:latin typeface="Consolas"/>
              </a:rPr>
              <a:t>05</a:t>
            </a:r>
          </a:p>
        </p:txBody>
      </p:sp>
      <p:sp>
        <p:nvSpPr>
          <p:cNvPr id="4" name="TextBox 3"/>
          <p:cNvSpPr txBox="1"/>
          <p:nvPr/>
        </p:nvSpPr>
        <p:spPr>
          <a:xfrm>
            <a:off x="1188720" y="457200"/>
            <a:ext cx="8229600" cy="274320"/>
          </a:xfrm>
          <a:prstGeom prst="rect">
            <a:avLst/>
          </a:prstGeom>
          <a:noFill/>
        </p:spPr>
        <p:txBody>
          <a:bodyPr wrap="square" lIns="0" rIns="0" tIns="0" bIns="0">
            <a:spAutoFit/>
          </a:bodyPr>
          <a:lstStyle/>
          <a:p>
            <a:pPr algn="l">
              <a:lnSpc>
                <a:spcPct val="125000"/>
              </a:lnSpc>
            </a:pPr>
            <a:r>
              <a:rPr sz="1100" b="0" spc="130">
                <a:solidFill>
                  <a:srgbClr val="6B8087"/>
                </a:solidFill>
                <a:latin typeface="Consolas"/>
              </a:rPr>
              <a:t>SCALE</a:t>
            </a:r>
          </a:p>
        </p:txBody>
      </p:sp>
      <p:sp>
        <p:nvSpPr>
          <p:cNvPr id="5" name="TextBox 4"/>
          <p:cNvSpPr txBox="1"/>
          <p:nvPr/>
        </p:nvSpPr>
        <p:spPr>
          <a:xfrm>
            <a:off x="713232" y="868680"/>
            <a:ext cx="10765231" cy="914400"/>
          </a:xfrm>
          <a:prstGeom prst="rect">
            <a:avLst/>
          </a:prstGeom>
          <a:noFill/>
        </p:spPr>
        <p:txBody>
          <a:bodyPr wrap="square" lIns="0" rIns="0" tIns="0" bIns="0">
            <a:spAutoFit/>
          </a:bodyPr>
          <a:lstStyle/>
          <a:p>
            <a:pPr algn="l">
              <a:lnSpc>
                <a:spcPct val="106000"/>
              </a:lnSpc>
            </a:pPr>
            <a:r>
              <a:rPr sz="3000" b="1">
                <a:solidFill>
                  <a:srgbClr val="0F1E24"/>
                </a:solidFill>
                <a:latin typeface="Georgia"/>
              </a:rPr>
              <a:t>Annual AI spend at 10, 50 and 100 clients</a:t>
            </a:r>
          </a:p>
        </p:txBody>
      </p:sp>
      <p:sp>
        <p:nvSpPr>
          <p:cNvPr id="6" name="TextBox 5"/>
          <p:cNvSpPr txBox="1"/>
          <p:nvPr/>
        </p:nvSpPr>
        <p:spPr>
          <a:xfrm>
            <a:off x="713232" y="1572768"/>
            <a:ext cx="8778240" cy="822960"/>
          </a:xfrm>
          <a:prstGeom prst="rect">
            <a:avLst/>
          </a:prstGeom>
          <a:noFill/>
        </p:spPr>
        <p:txBody>
          <a:bodyPr wrap="square" lIns="0" rIns="0" tIns="0" bIns="0">
            <a:spAutoFit/>
          </a:bodyPr>
          <a:lstStyle/>
          <a:p>
            <a:pPr algn="l">
              <a:lnSpc>
                <a:spcPct val="140000"/>
              </a:lnSpc>
            </a:pPr>
            <a:r>
              <a:rPr sz="1300" b="0">
                <a:solidFill>
                  <a:srgbClr val="3D5259"/>
                </a:solidFill>
                <a:latin typeface="Segoe UI"/>
              </a:rPr>
              <a:t>At 15,000 customer messages per client per month, across the three hosted tiers.</a:t>
            </a:r>
          </a:p>
        </p:txBody>
      </p:sp>
      <p:graphicFrame>
        <p:nvGraphicFramePr>
          <p:cNvPr id="7" name="Table 6"/>
          <p:cNvGraphicFramePr>
            <a:graphicFrameLocks noGrp="1"/>
          </p:cNvGraphicFramePr>
          <p:nvPr/>
        </p:nvGraphicFramePr>
        <p:xfrm>
          <a:off x="713232" y="2377440"/>
          <a:ext cx="10744200" cy="1444752"/>
        </p:xfrm>
        <a:graphic>
          <a:graphicData uri="http://schemas.openxmlformats.org/drawingml/2006/table">
            <a:tbl>
              <a:tblPr>
                <a:tableStyleId>{5C22544A-7EE6-4342-B048-85BDC9FD1C3A}</a:tableStyleId>
              </a:tblPr>
              <a:tblGrid>
                <a:gridCol w="1554480"/>
                <a:gridCol w="2834640"/>
                <a:gridCol w="2148840"/>
                <a:gridCol w="2148840"/>
                <a:gridCol w="2057400"/>
              </a:tblGrid>
              <a:tr h="402336">
                <a:tc>
                  <a:txBody>
                    <a:bodyPr/>
                    <a:lstStyle/>
                    <a:p>
                      <a:pPr algn="l"/>
                      <a:r>
                        <a:rPr sz="950" b="1">
                          <a:solidFill>
                            <a:srgbClr val="6B8087"/>
                          </a:solidFill>
                          <a:latin typeface="Consolas"/>
                        </a:rPr>
                        <a:t>Clients</a:t>
                      </a:r>
                    </a:p>
                  </a:txBody>
                  <a:tcPr anchor="ctr" marL="118872" marR="118872" marT="0" marB="0">
                    <a:solidFill>
                      <a:srgbClr val="EDF2F0"/>
                    </a:solidFill>
                  </a:tcPr>
                </a:tc>
                <a:tc>
                  <a:txBody>
                    <a:bodyPr/>
                    <a:lstStyle/>
                    <a:p>
                      <a:pPr algn="r"/>
                      <a:r>
                        <a:rPr sz="950" b="1">
                          <a:solidFill>
                            <a:srgbClr val="6B8087"/>
                          </a:solidFill>
                          <a:latin typeface="Consolas"/>
                        </a:rPr>
                        <a:t>Messages / month</a:t>
                      </a:r>
                    </a:p>
                  </a:txBody>
                  <a:tcPr anchor="ctr" marL="118872" marR="118872" marT="0" marB="0">
                    <a:solidFill>
                      <a:srgbClr val="EDF2F0"/>
                    </a:solidFill>
                  </a:tcPr>
                </a:tc>
                <a:tc>
                  <a:txBody>
                    <a:bodyPr/>
                    <a:lstStyle/>
                    <a:p>
                      <a:pPr algn="r"/>
                      <a:r>
                        <a:rPr sz="950" b="1">
                          <a:solidFill>
                            <a:srgbClr val="6B8087"/>
                          </a:solidFill>
                          <a:latin typeface="Consolas"/>
                        </a:rPr>
                        <a:t>Efficient</a:t>
                      </a:r>
                    </a:p>
                  </a:txBody>
                  <a:tcPr anchor="ctr" marL="118872" marR="118872" marT="0" marB="0">
                    <a:solidFill>
                      <a:srgbClr val="EDF2F0"/>
                    </a:solidFill>
                  </a:tcPr>
                </a:tc>
                <a:tc>
                  <a:txBody>
                    <a:bodyPr/>
                    <a:lstStyle/>
                    <a:p>
                      <a:pPr algn="r"/>
                      <a:r>
                        <a:rPr sz="950" b="1">
                          <a:solidFill>
                            <a:srgbClr val="6B8087"/>
                          </a:solidFill>
                          <a:latin typeface="Consolas"/>
                        </a:rPr>
                        <a:t>Balanced</a:t>
                      </a:r>
                    </a:p>
                  </a:txBody>
                  <a:tcPr anchor="ctr" marL="118872" marR="118872" marT="0" marB="0">
                    <a:solidFill>
                      <a:srgbClr val="EDF2F0"/>
                    </a:solidFill>
                  </a:tcPr>
                </a:tc>
                <a:tc>
                  <a:txBody>
                    <a:bodyPr/>
                    <a:lstStyle/>
                    <a:p>
                      <a:pPr algn="r"/>
                      <a:r>
                        <a:rPr sz="950" b="1">
                          <a:solidFill>
                            <a:srgbClr val="6B8087"/>
                          </a:solidFill>
                          <a:latin typeface="Consolas"/>
                        </a:rPr>
                        <a:t>Fastest</a:t>
                      </a:r>
                    </a:p>
                  </a:txBody>
                  <a:tcPr anchor="ctr" marL="118872" marR="118872" marT="0" marB="0">
                    <a:solidFill>
                      <a:srgbClr val="EDF2F0"/>
                    </a:solidFill>
                  </a:tcPr>
                </a:tc>
              </a:tr>
              <a:tr h="347472">
                <a:tc>
                  <a:txBody>
                    <a:bodyPr/>
                    <a:lstStyle/>
                    <a:p>
                      <a:pPr algn="l"/>
                      <a:r>
                        <a:rPr sz="1150" b="0">
                          <a:solidFill>
                            <a:srgbClr val="0F1E24"/>
                          </a:solidFill>
                          <a:latin typeface="Segoe UI"/>
                        </a:rPr>
                        <a:t>10</a:t>
                      </a:r>
                    </a:p>
                  </a:txBody>
                  <a:tcPr anchor="ctr" marL="118872" marR="118872" marT="0" marB="0">
                    <a:solidFill>
                      <a:srgbClr val="FFFFFF"/>
                    </a:solidFill>
                  </a:tcPr>
                </a:tc>
                <a:tc>
                  <a:txBody>
                    <a:bodyPr/>
                    <a:lstStyle/>
                    <a:p>
                      <a:pPr algn="r"/>
                      <a:r>
                        <a:rPr sz="1150" b="0">
                          <a:solidFill>
                            <a:srgbClr val="0F1E24"/>
                          </a:solidFill>
                          <a:latin typeface="Consolas"/>
                        </a:rPr>
                        <a:t>150,000</a:t>
                      </a:r>
                    </a:p>
                  </a:txBody>
                  <a:tcPr anchor="ctr" marL="118872" marR="118872" marT="0" marB="0">
                    <a:solidFill>
                      <a:srgbClr val="FFFFFF"/>
                    </a:solidFill>
                  </a:tcPr>
                </a:tc>
                <a:tc>
                  <a:txBody>
                    <a:bodyPr/>
                    <a:lstStyle/>
                    <a:p>
                      <a:pPr algn="r"/>
                      <a:r>
                        <a:rPr sz="1150" b="0">
                          <a:solidFill>
                            <a:srgbClr val="0B6E5B"/>
                          </a:solidFill>
                          <a:latin typeface="Consolas"/>
                        </a:rPr>
                        <a:t>$691</a:t>
                      </a:r>
                    </a:p>
                  </a:txBody>
                  <a:tcPr anchor="ctr" marL="118872" marR="118872" marT="0" marB="0">
                    <a:solidFill>
                      <a:srgbClr val="E2F0EB"/>
                    </a:solidFill>
                  </a:tcPr>
                </a:tc>
                <a:tc>
                  <a:txBody>
                    <a:bodyPr/>
                    <a:lstStyle/>
                    <a:p>
                      <a:pPr algn="r"/>
                      <a:r>
                        <a:rPr sz="1150" b="0">
                          <a:solidFill>
                            <a:srgbClr val="0F1E24"/>
                          </a:solidFill>
                          <a:latin typeface="Consolas"/>
                        </a:rPr>
                        <a:t>$2,752</a:t>
                      </a:r>
                    </a:p>
                  </a:txBody>
                  <a:tcPr anchor="ctr" marL="118872" marR="118872" marT="0" marB="0">
                    <a:solidFill>
                      <a:srgbClr val="FFFFFF"/>
                    </a:solidFill>
                  </a:tcPr>
                </a:tc>
                <a:tc>
                  <a:txBody>
                    <a:bodyPr/>
                    <a:lstStyle/>
                    <a:p>
                      <a:pPr algn="r"/>
                      <a:r>
                        <a:rPr sz="1150" b="0">
                          <a:solidFill>
                            <a:srgbClr val="0F1E24"/>
                          </a:solidFill>
                          <a:latin typeface="Consolas"/>
                        </a:rPr>
                        <a:t>$3,259</a:t>
                      </a:r>
                    </a:p>
                  </a:txBody>
                  <a:tcPr anchor="ctr" marL="118872" marR="118872" marT="0" marB="0">
                    <a:solidFill>
                      <a:srgbClr val="FFFFFF"/>
                    </a:solidFill>
                  </a:tcPr>
                </a:tc>
              </a:tr>
              <a:tr h="347472">
                <a:tc>
                  <a:txBody>
                    <a:bodyPr/>
                    <a:lstStyle/>
                    <a:p>
                      <a:pPr algn="l"/>
                      <a:r>
                        <a:rPr sz="1150" b="0">
                          <a:solidFill>
                            <a:srgbClr val="0F1E24"/>
                          </a:solidFill>
                          <a:latin typeface="Segoe UI"/>
                        </a:rPr>
                        <a:t>50</a:t>
                      </a:r>
                    </a:p>
                  </a:txBody>
                  <a:tcPr anchor="ctr" marL="118872" marR="118872" marT="0" marB="0">
                    <a:solidFill>
                      <a:srgbClr val="FFFFFF"/>
                    </a:solidFill>
                  </a:tcPr>
                </a:tc>
                <a:tc>
                  <a:txBody>
                    <a:bodyPr/>
                    <a:lstStyle/>
                    <a:p>
                      <a:pPr algn="r"/>
                      <a:r>
                        <a:rPr sz="1150" b="0">
                          <a:solidFill>
                            <a:srgbClr val="0F1E24"/>
                          </a:solidFill>
                          <a:latin typeface="Consolas"/>
                        </a:rPr>
                        <a:t>750,000</a:t>
                      </a:r>
                    </a:p>
                  </a:txBody>
                  <a:tcPr anchor="ctr" marL="118872" marR="118872" marT="0" marB="0">
                    <a:solidFill>
                      <a:srgbClr val="FFFFFF"/>
                    </a:solidFill>
                  </a:tcPr>
                </a:tc>
                <a:tc>
                  <a:txBody>
                    <a:bodyPr/>
                    <a:lstStyle/>
                    <a:p>
                      <a:pPr algn="r"/>
                      <a:r>
                        <a:rPr sz="1150" b="0">
                          <a:solidFill>
                            <a:srgbClr val="0B6E5B"/>
                          </a:solidFill>
                          <a:latin typeface="Consolas"/>
                        </a:rPr>
                        <a:t>$3,456</a:t>
                      </a:r>
                    </a:p>
                  </a:txBody>
                  <a:tcPr anchor="ctr" marL="118872" marR="118872" marT="0" marB="0">
                    <a:solidFill>
                      <a:srgbClr val="E2F0EB"/>
                    </a:solidFill>
                  </a:tcPr>
                </a:tc>
                <a:tc>
                  <a:txBody>
                    <a:bodyPr/>
                    <a:lstStyle/>
                    <a:p>
                      <a:pPr algn="r"/>
                      <a:r>
                        <a:rPr sz="1150" b="0">
                          <a:solidFill>
                            <a:srgbClr val="0F1E24"/>
                          </a:solidFill>
                          <a:latin typeface="Consolas"/>
                        </a:rPr>
                        <a:t>$13,761</a:t>
                      </a:r>
                    </a:p>
                  </a:txBody>
                  <a:tcPr anchor="ctr" marL="118872" marR="118872" marT="0" marB="0">
                    <a:solidFill>
                      <a:srgbClr val="FFFFFF"/>
                    </a:solidFill>
                  </a:tcPr>
                </a:tc>
                <a:tc>
                  <a:txBody>
                    <a:bodyPr/>
                    <a:lstStyle/>
                    <a:p>
                      <a:pPr algn="r"/>
                      <a:r>
                        <a:rPr sz="1150" b="0">
                          <a:solidFill>
                            <a:srgbClr val="0F1E24"/>
                          </a:solidFill>
                          <a:latin typeface="Consolas"/>
                        </a:rPr>
                        <a:t>$16,293</a:t>
                      </a:r>
                    </a:p>
                  </a:txBody>
                  <a:tcPr anchor="ctr" marL="118872" marR="118872" marT="0" marB="0">
                    <a:solidFill>
                      <a:srgbClr val="FFFFFF"/>
                    </a:solidFill>
                  </a:tcPr>
                </a:tc>
              </a:tr>
              <a:tr h="347472">
                <a:tc>
                  <a:txBody>
                    <a:bodyPr/>
                    <a:lstStyle/>
                    <a:p>
                      <a:pPr algn="l"/>
                      <a:r>
                        <a:rPr sz="1150" b="1">
                          <a:solidFill>
                            <a:srgbClr val="0F1E24"/>
                          </a:solidFill>
                          <a:latin typeface="Segoe UI"/>
                        </a:rPr>
                        <a:t>100</a:t>
                      </a:r>
                    </a:p>
                  </a:txBody>
                  <a:tcPr anchor="ctr" marL="118872" marR="118872" marT="0" marB="0">
                    <a:solidFill>
                      <a:srgbClr val="EDF2F0"/>
                    </a:solidFill>
                  </a:tcPr>
                </a:tc>
                <a:tc>
                  <a:txBody>
                    <a:bodyPr/>
                    <a:lstStyle/>
                    <a:p>
                      <a:pPr algn="r"/>
                      <a:r>
                        <a:rPr sz="1150" b="1">
                          <a:solidFill>
                            <a:srgbClr val="0F1E24"/>
                          </a:solidFill>
                          <a:latin typeface="Consolas"/>
                        </a:rPr>
                        <a:t>1,500,000</a:t>
                      </a:r>
                    </a:p>
                  </a:txBody>
                  <a:tcPr anchor="ctr" marL="118872" marR="118872" marT="0" marB="0">
                    <a:solidFill>
                      <a:srgbClr val="EDF2F0"/>
                    </a:solidFill>
                  </a:tcPr>
                </a:tc>
                <a:tc>
                  <a:txBody>
                    <a:bodyPr/>
                    <a:lstStyle/>
                    <a:p>
                      <a:pPr algn="r"/>
                      <a:r>
                        <a:rPr sz="1150" b="1">
                          <a:solidFill>
                            <a:srgbClr val="0B6E5B"/>
                          </a:solidFill>
                          <a:latin typeface="Consolas"/>
                        </a:rPr>
                        <a:t>$6,912</a:t>
                      </a:r>
                    </a:p>
                  </a:txBody>
                  <a:tcPr anchor="ctr" marL="118872" marR="118872" marT="0" marB="0">
                    <a:solidFill>
                      <a:srgbClr val="E2F0EB"/>
                    </a:solidFill>
                  </a:tcPr>
                </a:tc>
                <a:tc>
                  <a:txBody>
                    <a:bodyPr/>
                    <a:lstStyle/>
                    <a:p>
                      <a:pPr algn="r"/>
                      <a:r>
                        <a:rPr sz="1150" b="1">
                          <a:solidFill>
                            <a:srgbClr val="0F1E24"/>
                          </a:solidFill>
                          <a:latin typeface="Consolas"/>
                        </a:rPr>
                        <a:t>$27,522</a:t>
                      </a:r>
                    </a:p>
                  </a:txBody>
                  <a:tcPr anchor="ctr" marL="118872" marR="118872" marT="0" marB="0">
                    <a:solidFill>
                      <a:srgbClr val="EDF2F0"/>
                    </a:solidFill>
                  </a:tcPr>
                </a:tc>
                <a:tc>
                  <a:txBody>
                    <a:bodyPr/>
                    <a:lstStyle/>
                    <a:p>
                      <a:pPr algn="r"/>
                      <a:r>
                        <a:rPr sz="1150" b="1">
                          <a:solidFill>
                            <a:srgbClr val="0F1E24"/>
                          </a:solidFill>
                          <a:latin typeface="Consolas"/>
                        </a:rPr>
                        <a:t>$32,585</a:t>
                      </a:r>
                    </a:p>
                  </a:txBody>
                  <a:tcPr anchor="ctr" marL="118872" marR="118872" marT="0" marB="0">
                    <a:solidFill>
                      <a:srgbClr val="EDF2F0"/>
                    </a:solidFill>
                  </a:tcPr>
                </a:tc>
              </a:tr>
            </a:tbl>
          </a:graphicData>
        </a:graphic>
      </p:graphicFrame>
      <p:sp>
        <p:nvSpPr>
          <p:cNvPr id="8" name="TextBox 7"/>
          <p:cNvSpPr txBox="1"/>
          <p:nvPr/>
        </p:nvSpPr>
        <p:spPr>
          <a:xfrm>
            <a:off x="713232" y="4114800"/>
            <a:ext cx="10765231" cy="914400"/>
          </a:xfrm>
          <a:prstGeom prst="rect">
            <a:avLst/>
          </a:prstGeom>
          <a:noFill/>
        </p:spPr>
        <p:txBody>
          <a:bodyPr wrap="square" lIns="0" rIns="0" tIns="0" bIns="0">
            <a:spAutoFit/>
          </a:bodyPr>
          <a:lstStyle/>
          <a:p>
            <a:pPr algn="l">
              <a:lnSpc>
                <a:spcPct val="106000"/>
              </a:lnSpc>
            </a:pPr>
            <a:r>
              <a:rPr sz="1900" b="1">
                <a:solidFill>
                  <a:srgbClr val="0F1E24"/>
                </a:solidFill>
                <a:latin typeface="Georgia"/>
              </a:rPr>
              <a:t>Total cost of operation — efficient tier, server included</a:t>
            </a:r>
          </a:p>
        </p:txBody>
      </p:sp>
      <p:graphicFrame>
        <p:nvGraphicFramePr>
          <p:cNvPr id="9" name="Table 8"/>
          <p:cNvGraphicFramePr>
            <a:graphicFrameLocks noGrp="1"/>
          </p:cNvGraphicFramePr>
          <p:nvPr/>
        </p:nvGraphicFramePr>
        <p:xfrm>
          <a:off x="713232" y="4709160"/>
          <a:ext cx="10762488" cy="1444752"/>
        </p:xfrm>
        <a:graphic>
          <a:graphicData uri="http://schemas.openxmlformats.org/drawingml/2006/table">
            <a:tbl>
              <a:tblPr>
                <a:tableStyleId>{5C22544A-7EE6-4342-B048-85BDC9FD1C3A}</a:tableStyleId>
              </a:tblPr>
              <a:tblGrid>
                <a:gridCol w="1371600"/>
                <a:gridCol w="1737360"/>
                <a:gridCol w="1737360"/>
                <a:gridCol w="1828800"/>
                <a:gridCol w="2103120"/>
                <a:gridCol w="1984248"/>
              </a:tblGrid>
              <a:tr h="402336">
                <a:tc>
                  <a:txBody>
                    <a:bodyPr/>
                    <a:lstStyle/>
                    <a:p>
                      <a:pPr algn="l"/>
                      <a:r>
                        <a:rPr sz="950" b="1">
                          <a:solidFill>
                            <a:srgbClr val="6B8087"/>
                          </a:solidFill>
                          <a:latin typeface="Consolas"/>
                        </a:rPr>
                        <a:t>Clients</a:t>
                      </a:r>
                    </a:p>
                  </a:txBody>
                  <a:tcPr anchor="ctr" marL="118872" marR="118872" marT="0" marB="0">
                    <a:solidFill>
                      <a:srgbClr val="EDF2F0"/>
                    </a:solidFill>
                  </a:tcPr>
                </a:tc>
                <a:tc>
                  <a:txBody>
                    <a:bodyPr/>
                    <a:lstStyle/>
                    <a:p>
                      <a:pPr algn="r"/>
                      <a:r>
                        <a:rPr sz="950" b="1">
                          <a:solidFill>
                            <a:srgbClr val="6B8087"/>
                          </a:solidFill>
                          <a:latin typeface="Consolas"/>
                        </a:rPr>
                        <a:t>Server / yr</a:t>
                      </a:r>
                    </a:p>
                  </a:txBody>
                  <a:tcPr anchor="ctr" marL="118872" marR="118872" marT="0" marB="0">
                    <a:solidFill>
                      <a:srgbClr val="EDF2F0"/>
                    </a:solidFill>
                  </a:tcPr>
                </a:tc>
                <a:tc>
                  <a:txBody>
                    <a:bodyPr/>
                    <a:lstStyle/>
                    <a:p>
                      <a:pPr algn="r"/>
                      <a:r>
                        <a:rPr sz="950" b="1">
                          <a:solidFill>
                            <a:srgbClr val="6B8087"/>
                          </a:solidFill>
                          <a:latin typeface="Consolas"/>
                        </a:rPr>
                        <a:t>AI / yr</a:t>
                      </a:r>
                    </a:p>
                  </a:txBody>
                  <a:tcPr anchor="ctr" marL="118872" marR="118872" marT="0" marB="0">
                    <a:solidFill>
                      <a:srgbClr val="EDF2F0"/>
                    </a:solidFill>
                  </a:tcPr>
                </a:tc>
                <a:tc>
                  <a:txBody>
                    <a:bodyPr/>
                    <a:lstStyle/>
                    <a:p>
                      <a:pPr algn="r"/>
                      <a:r>
                        <a:rPr sz="950" b="1">
                          <a:solidFill>
                            <a:srgbClr val="6B8087"/>
                          </a:solidFill>
                          <a:latin typeface="Consolas"/>
                        </a:rPr>
                        <a:t>Total / yr</a:t>
                      </a:r>
                    </a:p>
                  </a:txBody>
                  <a:tcPr anchor="ctr" marL="118872" marR="118872" marT="0" marB="0">
                    <a:solidFill>
                      <a:srgbClr val="EDF2F0"/>
                    </a:solidFill>
                  </a:tcPr>
                </a:tc>
                <a:tc>
                  <a:txBody>
                    <a:bodyPr/>
                    <a:lstStyle/>
                    <a:p>
                      <a:pPr algn="r"/>
                      <a:r>
                        <a:rPr sz="950" b="1">
                          <a:solidFill>
                            <a:srgbClr val="6B8087"/>
                          </a:solidFill>
                          <a:latin typeface="Consolas"/>
                        </a:rPr>
                        <a:t>PKR / yr</a:t>
                      </a:r>
                    </a:p>
                  </a:txBody>
                  <a:tcPr anchor="ctr" marL="118872" marR="118872" marT="0" marB="0">
                    <a:solidFill>
                      <a:srgbClr val="EDF2F0"/>
                    </a:solidFill>
                  </a:tcPr>
                </a:tc>
                <a:tc>
                  <a:txBody>
                    <a:bodyPr/>
                    <a:lstStyle/>
                    <a:p>
                      <a:pPr algn="r"/>
                      <a:r>
                        <a:rPr sz="950" b="1">
                          <a:solidFill>
                            <a:srgbClr val="6B8087"/>
                          </a:solidFill>
                          <a:latin typeface="Consolas"/>
                        </a:rPr>
                        <a:t>Per client / mo</a:t>
                      </a:r>
                    </a:p>
                  </a:txBody>
                  <a:tcPr anchor="ctr" marL="118872" marR="118872" marT="0" marB="0">
                    <a:solidFill>
                      <a:srgbClr val="EDF2F0"/>
                    </a:solidFill>
                  </a:tcPr>
                </a:tc>
              </a:tr>
              <a:tr h="347472">
                <a:tc>
                  <a:txBody>
                    <a:bodyPr/>
                    <a:lstStyle/>
                    <a:p>
                      <a:pPr algn="l"/>
                      <a:r>
                        <a:rPr sz="1150" b="0">
                          <a:solidFill>
                            <a:srgbClr val="0F1E24"/>
                          </a:solidFill>
                          <a:latin typeface="Segoe UI"/>
                        </a:rPr>
                        <a:t>10</a:t>
                      </a:r>
                    </a:p>
                  </a:txBody>
                  <a:tcPr anchor="ctr" marL="118872" marR="118872" marT="0" marB="0">
                    <a:solidFill>
                      <a:srgbClr val="FFFFFF"/>
                    </a:solidFill>
                  </a:tcPr>
                </a:tc>
                <a:tc>
                  <a:txBody>
                    <a:bodyPr/>
                    <a:lstStyle/>
                    <a:p>
                      <a:pPr algn="r"/>
                      <a:r>
                        <a:rPr sz="1150" b="0">
                          <a:solidFill>
                            <a:srgbClr val="0F1E24"/>
                          </a:solidFill>
                          <a:latin typeface="Consolas"/>
                        </a:rPr>
                        <a:t>$214</a:t>
                      </a:r>
                    </a:p>
                  </a:txBody>
                  <a:tcPr anchor="ctr" marL="118872" marR="118872" marT="0" marB="0">
                    <a:solidFill>
                      <a:srgbClr val="FFFFFF"/>
                    </a:solidFill>
                  </a:tcPr>
                </a:tc>
                <a:tc>
                  <a:txBody>
                    <a:bodyPr/>
                    <a:lstStyle/>
                    <a:p>
                      <a:pPr algn="r"/>
                      <a:r>
                        <a:rPr sz="1150" b="0">
                          <a:solidFill>
                            <a:srgbClr val="0F1E24"/>
                          </a:solidFill>
                          <a:latin typeface="Consolas"/>
                        </a:rPr>
                        <a:t>$691</a:t>
                      </a:r>
                    </a:p>
                  </a:txBody>
                  <a:tcPr anchor="ctr" marL="118872" marR="118872" marT="0" marB="0">
                    <a:solidFill>
                      <a:srgbClr val="FFFFFF"/>
                    </a:solidFill>
                  </a:tcPr>
                </a:tc>
                <a:tc>
                  <a:txBody>
                    <a:bodyPr/>
                    <a:lstStyle/>
                    <a:p>
                      <a:pPr algn="r"/>
                      <a:r>
                        <a:rPr sz="1150" b="0">
                          <a:solidFill>
                            <a:srgbClr val="0F1E24"/>
                          </a:solidFill>
                          <a:latin typeface="Consolas"/>
                        </a:rPr>
                        <a:t>$905</a:t>
                      </a:r>
                    </a:p>
                  </a:txBody>
                  <a:tcPr anchor="ctr" marL="118872" marR="118872" marT="0" marB="0">
                    <a:solidFill>
                      <a:srgbClr val="FFFFFF"/>
                    </a:solidFill>
                  </a:tcPr>
                </a:tc>
                <a:tc>
                  <a:txBody>
                    <a:bodyPr/>
                    <a:lstStyle/>
                    <a:p>
                      <a:pPr algn="r"/>
                      <a:r>
                        <a:rPr sz="1150" b="0">
                          <a:solidFill>
                            <a:srgbClr val="0F1E24"/>
                          </a:solidFill>
                          <a:latin typeface="Consolas"/>
                        </a:rPr>
                        <a:t>253,500</a:t>
                      </a:r>
                    </a:p>
                  </a:txBody>
                  <a:tcPr anchor="ctr" marL="118872" marR="118872" marT="0" marB="0">
                    <a:solidFill>
                      <a:srgbClr val="FFFFFF"/>
                    </a:solidFill>
                  </a:tcPr>
                </a:tc>
                <a:tc>
                  <a:txBody>
                    <a:bodyPr/>
                    <a:lstStyle/>
                    <a:p>
                      <a:pPr algn="r"/>
                      <a:r>
                        <a:rPr sz="1150" b="0">
                          <a:solidFill>
                            <a:srgbClr val="0B6E5B"/>
                          </a:solidFill>
                          <a:latin typeface="Consolas"/>
                        </a:rPr>
                        <a:t>$7.54</a:t>
                      </a:r>
                    </a:p>
                  </a:txBody>
                  <a:tcPr anchor="ctr" marL="118872" marR="118872" marT="0" marB="0">
                    <a:solidFill>
                      <a:srgbClr val="E2F0EB"/>
                    </a:solidFill>
                  </a:tcPr>
                </a:tc>
              </a:tr>
              <a:tr h="347472">
                <a:tc>
                  <a:txBody>
                    <a:bodyPr/>
                    <a:lstStyle/>
                    <a:p>
                      <a:pPr algn="l"/>
                      <a:r>
                        <a:rPr sz="1150" b="0">
                          <a:solidFill>
                            <a:srgbClr val="0F1E24"/>
                          </a:solidFill>
                          <a:latin typeface="Segoe UI"/>
                        </a:rPr>
                        <a:t>50</a:t>
                      </a:r>
                    </a:p>
                  </a:txBody>
                  <a:tcPr anchor="ctr" marL="118872" marR="118872" marT="0" marB="0">
                    <a:solidFill>
                      <a:srgbClr val="FFFFFF"/>
                    </a:solidFill>
                  </a:tcPr>
                </a:tc>
                <a:tc>
                  <a:txBody>
                    <a:bodyPr/>
                    <a:lstStyle/>
                    <a:p>
                      <a:pPr algn="r"/>
                      <a:r>
                        <a:rPr sz="1150" b="0">
                          <a:solidFill>
                            <a:srgbClr val="0F1E24"/>
                          </a:solidFill>
                          <a:latin typeface="Consolas"/>
                        </a:rPr>
                        <a:t>$643</a:t>
                      </a:r>
                    </a:p>
                  </a:txBody>
                  <a:tcPr anchor="ctr" marL="118872" marR="118872" marT="0" marB="0">
                    <a:solidFill>
                      <a:srgbClr val="FFFFFF"/>
                    </a:solidFill>
                  </a:tcPr>
                </a:tc>
                <a:tc>
                  <a:txBody>
                    <a:bodyPr/>
                    <a:lstStyle/>
                    <a:p>
                      <a:pPr algn="r"/>
                      <a:r>
                        <a:rPr sz="1150" b="0">
                          <a:solidFill>
                            <a:srgbClr val="0F1E24"/>
                          </a:solidFill>
                          <a:latin typeface="Consolas"/>
                        </a:rPr>
                        <a:t>$3,456</a:t>
                      </a:r>
                    </a:p>
                  </a:txBody>
                  <a:tcPr anchor="ctr" marL="118872" marR="118872" marT="0" marB="0">
                    <a:solidFill>
                      <a:srgbClr val="FFFFFF"/>
                    </a:solidFill>
                  </a:tcPr>
                </a:tc>
                <a:tc>
                  <a:txBody>
                    <a:bodyPr/>
                    <a:lstStyle/>
                    <a:p>
                      <a:pPr algn="r"/>
                      <a:r>
                        <a:rPr sz="1150" b="0">
                          <a:solidFill>
                            <a:srgbClr val="0F1E24"/>
                          </a:solidFill>
                          <a:latin typeface="Consolas"/>
                        </a:rPr>
                        <a:t>$4,099</a:t>
                      </a:r>
                    </a:p>
                  </a:txBody>
                  <a:tcPr anchor="ctr" marL="118872" marR="118872" marT="0" marB="0">
                    <a:solidFill>
                      <a:srgbClr val="FFFFFF"/>
                    </a:solidFill>
                  </a:tcPr>
                </a:tc>
                <a:tc>
                  <a:txBody>
                    <a:bodyPr/>
                    <a:lstStyle/>
                    <a:p>
                      <a:pPr algn="r"/>
                      <a:r>
                        <a:rPr sz="1150" b="0">
                          <a:solidFill>
                            <a:srgbClr val="0F1E24"/>
                          </a:solidFill>
                          <a:latin typeface="Consolas"/>
                        </a:rPr>
                        <a:t>1,147,700</a:t>
                      </a:r>
                    </a:p>
                  </a:txBody>
                  <a:tcPr anchor="ctr" marL="118872" marR="118872" marT="0" marB="0">
                    <a:solidFill>
                      <a:srgbClr val="FFFFFF"/>
                    </a:solidFill>
                  </a:tcPr>
                </a:tc>
                <a:tc>
                  <a:txBody>
                    <a:bodyPr/>
                    <a:lstStyle/>
                    <a:p>
                      <a:pPr algn="r"/>
                      <a:r>
                        <a:rPr sz="1150" b="0">
                          <a:solidFill>
                            <a:srgbClr val="0B6E5B"/>
                          </a:solidFill>
                          <a:latin typeface="Consolas"/>
                        </a:rPr>
                        <a:t>$6.83</a:t>
                      </a:r>
                    </a:p>
                  </a:txBody>
                  <a:tcPr anchor="ctr" marL="118872" marR="118872" marT="0" marB="0">
                    <a:solidFill>
                      <a:srgbClr val="E2F0EB"/>
                    </a:solidFill>
                  </a:tcPr>
                </a:tc>
              </a:tr>
              <a:tr h="347472">
                <a:tc>
                  <a:txBody>
                    <a:bodyPr/>
                    <a:lstStyle/>
                    <a:p>
                      <a:pPr algn="l"/>
                      <a:r>
                        <a:rPr sz="1150" b="1">
                          <a:solidFill>
                            <a:srgbClr val="0F1E24"/>
                          </a:solidFill>
                          <a:latin typeface="Segoe UI"/>
                        </a:rPr>
                        <a:t>100</a:t>
                      </a:r>
                    </a:p>
                  </a:txBody>
                  <a:tcPr anchor="ctr" marL="118872" marR="118872" marT="0" marB="0">
                    <a:solidFill>
                      <a:srgbClr val="EDF2F0"/>
                    </a:solidFill>
                  </a:tcPr>
                </a:tc>
                <a:tc>
                  <a:txBody>
                    <a:bodyPr/>
                    <a:lstStyle/>
                    <a:p>
                      <a:pPr algn="r"/>
                      <a:r>
                        <a:rPr sz="1150" b="1">
                          <a:solidFill>
                            <a:srgbClr val="0F1E24"/>
                          </a:solidFill>
                          <a:latin typeface="Consolas"/>
                        </a:rPr>
                        <a:t>$1,071</a:t>
                      </a:r>
                    </a:p>
                  </a:txBody>
                  <a:tcPr anchor="ctr" marL="118872" marR="118872" marT="0" marB="0">
                    <a:solidFill>
                      <a:srgbClr val="EDF2F0"/>
                    </a:solidFill>
                  </a:tcPr>
                </a:tc>
                <a:tc>
                  <a:txBody>
                    <a:bodyPr/>
                    <a:lstStyle/>
                    <a:p>
                      <a:pPr algn="r"/>
                      <a:r>
                        <a:rPr sz="1150" b="1">
                          <a:solidFill>
                            <a:srgbClr val="0F1E24"/>
                          </a:solidFill>
                          <a:latin typeface="Consolas"/>
                        </a:rPr>
                        <a:t>$6,912</a:t>
                      </a:r>
                    </a:p>
                  </a:txBody>
                  <a:tcPr anchor="ctr" marL="118872" marR="118872" marT="0" marB="0">
                    <a:solidFill>
                      <a:srgbClr val="EDF2F0"/>
                    </a:solidFill>
                  </a:tcPr>
                </a:tc>
                <a:tc>
                  <a:txBody>
                    <a:bodyPr/>
                    <a:lstStyle/>
                    <a:p>
                      <a:pPr algn="r"/>
                      <a:r>
                        <a:rPr sz="1150" b="1">
                          <a:solidFill>
                            <a:srgbClr val="0F1E24"/>
                          </a:solidFill>
                          <a:latin typeface="Consolas"/>
                        </a:rPr>
                        <a:t>$7,983</a:t>
                      </a:r>
                    </a:p>
                  </a:txBody>
                  <a:tcPr anchor="ctr" marL="118872" marR="118872" marT="0" marB="0">
                    <a:solidFill>
                      <a:srgbClr val="EDF2F0"/>
                    </a:solidFill>
                  </a:tcPr>
                </a:tc>
                <a:tc>
                  <a:txBody>
                    <a:bodyPr/>
                    <a:lstStyle/>
                    <a:p>
                      <a:pPr algn="r"/>
                      <a:r>
                        <a:rPr sz="1150" b="1">
                          <a:solidFill>
                            <a:srgbClr val="0F1E24"/>
                          </a:solidFill>
                          <a:latin typeface="Consolas"/>
                        </a:rPr>
                        <a:t>2,235,200</a:t>
                      </a:r>
                    </a:p>
                  </a:txBody>
                  <a:tcPr anchor="ctr" marL="118872" marR="118872" marT="0" marB="0">
                    <a:solidFill>
                      <a:srgbClr val="EDF2F0"/>
                    </a:solidFill>
                  </a:tcPr>
                </a:tc>
                <a:tc>
                  <a:txBody>
                    <a:bodyPr/>
                    <a:lstStyle/>
                    <a:p>
                      <a:pPr algn="r"/>
                      <a:r>
                        <a:rPr sz="1150" b="1">
                          <a:solidFill>
                            <a:srgbClr val="0B6E5B"/>
                          </a:solidFill>
                          <a:latin typeface="Consolas"/>
                        </a:rPr>
                        <a:t>$6.65</a:t>
                      </a:r>
                    </a:p>
                  </a:txBody>
                  <a:tcPr anchor="ctr" marL="118872" marR="118872" marT="0" marB="0">
                    <a:solidFill>
                      <a:srgbClr val="E2F0EB"/>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548640" cy="274320"/>
          </a:xfrm>
          <a:prstGeom prst="rect">
            <a:avLst/>
          </a:prstGeom>
          <a:noFill/>
        </p:spPr>
        <p:txBody>
          <a:bodyPr wrap="square" lIns="0" rIns="0" tIns="0" bIns="0">
            <a:spAutoFit/>
          </a:bodyPr>
          <a:lstStyle/>
          <a:p>
            <a:pPr algn="l">
              <a:lnSpc>
                <a:spcPct val="125000"/>
              </a:lnSpc>
            </a:pPr>
            <a:r>
              <a:rPr sz="1100" b="1" spc="130">
                <a:solidFill>
                  <a:srgbClr val="0B6E5B"/>
                </a:solidFill>
                <a:latin typeface="Consolas"/>
              </a:rPr>
              <a:t>06</a:t>
            </a:r>
          </a:p>
        </p:txBody>
      </p:sp>
      <p:sp>
        <p:nvSpPr>
          <p:cNvPr id="4" name="TextBox 3"/>
          <p:cNvSpPr txBox="1"/>
          <p:nvPr/>
        </p:nvSpPr>
        <p:spPr>
          <a:xfrm>
            <a:off x="1188720" y="457200"/>
            <a:ext cx="8229600" cy="274320"/>
          </a:xfrm>
          <a:prstGeom prst="rect">
            <a:avLst/>
          </a:prstGeom>
          <a:noFill/>
        </p:spPr>
        <p:txBody>
          <a:bodyPr wrap="square" lIns="0" rIns="0" tIns="0" bIns="0">
            <a:spAutoFit/>
          </a:bodyPr>
          <a:lstStyle/>
          <a:p>
            <a:pPr algn="l">
              <a:lnSpc>
                <a:spcPct val="125000"/>
              </a:lnSpc>
            </a:pPr>
            <a:r>
              <a:rPr sz="1100" b="0" spc="130">
                <a:solidFill>
                  <a:srgbClr val="6B8087"/>
                </a:solidFill>
                <a:latin typeface="Consolas"/>
              </a:rPr>
              <a:t>OPTION TWO — RENT GPUS</a:t>
            </a:r>
          </a:p>
        </p:txBody>
      </p:sp>
      <p:sp>
        <p:nvSpPr>
          <p:cNvPr id="5" name="TextBox 4"/>
          <p:cNvSpPr txBox="1"/>
          <p:nvPr/>
        </p:nvSpPr>
        <p:spPr>
          <a:xfrm>
            <a:off x="713232" y="868680"/>
            <a:ext cx="10765231" cy="914400"/>
          </a:xfrm>
          <a:prstGeom prst="rect">
            <a:avLst/>
          </a:prstGeom>
          <a:noFill/>
        </p:spPr>
        <p:txBody>
          <a:bodyPr wrap="square" lIns="0" rIns="0" tIns="0" bIns="0">
            <a:spAutoFit/>
          </a:bodyPr>
          <a:lstStyle/>
          <a:p>
            <a:pPr algn="l">
              <a:lnSpc>
                <a:spcPct val="106000"/>
              </a:lnSpc>
            </a:pPr>
            <a:r>
              <a:rPr sz="3000" b="1">
                <a:solidFill>
                  <a:srgbClr val="0F1E24"/>
                </a:solidFill>
                <a:latin typeface="Georgia"/>
              </a:rPr>
              <a:t>Running our own model on rented hardware</a:t>
            </a:r>
          </a:p>
        </p:txBody>
      </p:sp>
      <p:sp>
        <p:nvSpPr>
          <p:cNvPr id="6" name="TextBox 5"/>
          <p:cNvSpPr txBox="1"/>
          <p:nvPr/>
        </p:nvSpPr>
        <p:spPr>
          <a:xfrm>
            <a:off x="713232" y="1572768"/>
            <a:ext cx="8778240" cy="822960"/>
          </a:xfrm>
          <a:prstGeom prst="rect">
            <a:avLst/>
          </a:prstGeom>
          <a:noFill/>
        </p:spPr>
        <p:txBody>
          <a:bodyPr wrap="square" lIns="0" rIns="0" tIns="0" bIns="0">
            <a:spAutoFit/>
          </a:bodyPr>
          <a:lstStyle/>
          <a:p>
            <a:pPr algn="l">
              <a:lnSpc>
                <a:spcPct val="140000"/>
              </a:lnSpc>
            </a:pPr>
            <a:r>
              <a:rPr sz="1300" b="0">
                <a:solidFill>
                  <a:srgbClr val="3D5259"/>
                </a:solidFill>
                <a:latin typeface="Segoe UI"/>
              </a:rPr>
              <a:t>Self-hosting replaces the per-token bill with an hourly one. A GPU is paid for 24 hours a day whether messages arrive or not, so the economics depend entirely on utilisation.</a:t>
            </a:r>
          </a:p>
        </p:txBody>
      </p:sp>
      <p:graphicFrame>
        <p:nvGraphicFramePr>
          <p:cNvPr id="7" name="Table 6"/>
          <p:cNvGraphicFramePr>
            <a:graphicFrameLocks noGrp="1"/>
          </p:cNvGraphicFramePr>
          <p:nvPr/>
        </p:nvGraphicFramePr>
        <p:xfrm>
          <a:off x="713232" y="2606040"/>
          <a:ext cx="10835640" cy="1444752"/>
        </p:xfrm>
        <a:graphic>
          <a:graphicData uri="http://schemas.openxmlformats.org/drawingml/2006/table">
            <a:tbl>
              <a:tblPr>
                <a:tableStyleId>{5C22544A-7EE6-4342-B048-85BDC9FD1C3A}</a:tableStyleId>
              </a:tblPr>
              <a:tblGrid>
                <a:gridCol w="1965960"/>
                <a:gridCol w="2286000"/>
                <a:gridCol w="914400"/>
                <a:gridCol w="1371600"/>
                <a:gridCol w="1417320"/>
                <a:gridCol w="1463040"/>
                <a:gridCol w="1417320"/>
              </a:tblGrid>
              <a:tr h="402336">
                <a:tc>
                  <a:txBody>
                    <a:bodyPr/>
                    <a:lstStyle/>
                    <a:p>
                      <a:pPr algn="l"/>
                      <a:r>
                        <a:rPr sz="950" b="1">
                          <a:solidFill>
                            <a:srgbClr val="6B8087"/>
                          </a:solidFill>
                          <a:latin typeface="Consolas"/>
                        </a:rPr>
                        <a:t>Model class</a:t>
                      </a:r>
                    </a:p>
                  </a:txBody>
                  <a:tcPr anchor="ctr" marL="118872" marR="118872" marT="0" marB="0">
                    <a:solidFill>
                      <a:srgbClr val="EDF2F0"/>
                    </a:solidFill>
                  </a:tcPr>
                </a:tc>
                <a:tc>
                  <a:txBody>
                    <a:bodyPr/>
                    <a:lstStyle/>
                    <a:p>
                      <a:pPr algn="l"/>
                      <a:r>
                        <a:rPr sz="950" b="1">
                          <a:solidFill>
                            <a:srgbClr val="6B8087"/>
                          </a:solidFill>
                          <a:latin typeface="Consolas"/>
                        </a:rPr>
                        <a:t>Hardware</a:t>
                      </a:r>
                    </a:p>
                  </a:txBody>
                  <a:tcPr anchor="ctr" marL="118872" marR="118872" marT="0" marB="0">
                    <a:solidFill>
                      <a:srgbClr val="EDF2F0"/>
                    </a:solidFill>
                  </a:tcPr>
                </a:tc>
                <a:tc>
                  <a:txBody>
                    <a:bodyPr/>
                    <a:lstStyle/>
                    <a:p>
                      <a:pPr algn="r"/>
                      <a:r>
                        <a:rPr sz="950" b="1">
                          <a:solidFill>
                            <a:srgbClr val="6B8087"/>
                          </a:solidFill>
                          <a:latin typeface="Consolas"/>
                        </a:rPr>
                        <a:t>$ / hr</a:t>
                      </a:r>
                    </a:p>
                  </a:txBody>
                  <a:tcPr anchor="ctr" marL="118872" marR="118872" marT="0" marB="0">
                    <a:solidFill>
                      <a:srgbClr val="EDF2F0"/>
                    </a:solidFill>
                  </a:tcPr>
                </a:tc>
                <a:tc>
                  <a:txBody>
                    <a:bodyPr/>
                    <a:lstStyle/>
                    <a:p>
                      <a:pPr algn="r"/>
                      <a:r>
                        <a:rPr sz="950" b="1">
                          <a:solidFill>
                            <a:srgbClr val="6B8087"/>
                          </a:solidFill>
                          <a:latin typeface="Consolas"/>
                        </a:rPr>
                        <a:t>Capacity</a:t>
                      </a:r>
                    </a:p>
                  </a:txBody>
                  <a:tcPr anchor="ctr" marL="118872" marR="118872" marT="0" marB="0">
                    <a:solidFill>
                      <a:srgbClr val="EDF2F0"/>
                    </a:solidFill>
                  </a:tcPr>
                </a:tc>
                <a:tc>
                  <a:txBody>
                    <a:bodyPr/>
                    <a:lstStyle/>
                    <a:p>
                      <a:pPr algn="r"/>
                      <a:r>
                        <a:rPr sz="950" b="1">
                          <a:solidFill>
                            <a:srgbClr val="6B8087"/>
                          </a:solidFill>
                          <a:latin typeface="Consolas"/>
                        </a:rPr>
                        <a:t>10 clients</a:t>
                      </a:r>
                    </a:p>
                  </a:txBody>
                  <a:tcPr anchor="ctr" marL="118872" marR="118872" marT="0" marB="0">
                    <a:solidFill>
                      <a:srgbClr val="EDF2F0"/>
                    </a:solidFill>
                  </a:tcPr>
                </a:tc>
                <a:tc>
                  <a:txBody>
                    <a:bodyPr/>
                    <a:lstStyle/>
                    <a:p>
                      <a:pPr algn="r"/>
                      <a:r>
                        <a:rPr sz="950" b="1">
                          <a:solidFill>
                            <a:srgbClr val="6B8087"/>
                          </a:solidFill>
                          <a:latin typeface="Consolas"/>
                        </a:rPr>
                        <a:t>50 clients</a:t>
                      </a:r>
                    </a:p>
                  </a:txBody>
                  <a:tcPr anchor="ctr" marL="118872" marR="118872" marT="0" marB="0">
                    <a:solidFill>
                      <a:srgbClr val="EDF2F0"/>
                    </a:solidFill>
                  </a:tcPr>
                </a:tc>
                <a:tc>
                  <a:txBody>
                    <a:bodyPr/>
                    <a:lstStyle/>
                    <a:p>
                      <a:pPr algn="r"/>
                      <a:r>
                        <a:rPr sz="950" b="1">
                          <a:solidFill>
                            <a:srgbClr val="6B8087"/>
                          </a:solidFill>
                          <a:latin typeface="Consolas"/>
                        </a:rPr>
                        <a:t>100 clients</a:t>
                      </a:r>
                    </a:p>
                  </a:txBody>
                  <a:tcPr anchor="ctr" marL="118872" marR="118872" marT="0" marB="0">
                    <a:solidFill>
                      <a:srgbClr val="EDF2F0"/>
                    </a:solidFill>
                  </a:tcPr>
                </a:tc>
              </a:tr>
              <a:tr h="347472">
                <a:tc>
                  <a:txBody>
                    <a:bodyPr/>
                    <a:lstStyle/>
                    <a:p>
                      <a:pPr algn="l"/>
                      <a:r>
                        <a:rPr sz="1150" b="0">
                          <a:solidFill>
                            <a:srgbClr val="0F1E24"/>
                          </a:solidFill>
                          <a:latin typeface="Segoe UI"/>
                        </a:rPr>
                        <a:t>Efficient — 8B</a:t>
                      </a:r>
                    </a:p>
                  </a:txBody>
                  <a:tcPr anchor="ctr" marL="118872" marR="118872" marT="0" marB="0">
                    <a:solidFill>
                      <a:srgbClr val="FFFFFF"/>
                    </a:solidFill>
                  </a:tcPr>
                </a:tc>
                <a:tc>
                  <a:txBody>
                    <a:bodyPr/>
                    <a:lstStyle/>
                    <a:p>
                      <a:pPr algn="l"/>
                      <a:r>
                        <a:rPr sz="1150" b="0">
                          <a:solidFill>
                            <a:srgbClr val="0F1E24"/>
                          </a:solidFill>
                          <a:latin typeface="Segoe UI"/>
                        </a:rPr>
                        <a:t>NVIDIA L4 24GB</a:t>
                      </a:r>
                    </a:p>
                  </a:txBody>
                  <a:tcPr anchor="ctr" marL="118872" marR="118872" marT="0" marB="0">
                    <a:solidFill>
                      <a:srgbClr val="FFFFFF"/>
                    </a:solidFill>
                  </a:tcPr>
                </a:tc>
                <a:tc>
                  <a:txBody>
                    <a:bodyPr/>
                    <a:lstStyle/>
                    <a:p>
                      <a:pPr algn="r"/>
                      <a:r>
                        <a:rPr sz="1150" b="0">
                          <a:solidFill>
                            <a:srgbClr val="0F1E24"/>
                          </a:solidFill>
                          <a:latin typeface="Consolas"/>
                        </a:rPr>
                        <a:t>0.75</a:t>
                      </a:r>
                    </a:p>
                  </a:txBody>
                  <a:tcPr anchor="ctr" marL="118872" marR="118872" marT="0" marB="0">
                    <a:solidFill>
                      <a:srgbClr val="FFFFFF"/>
                    </a:solidFill>
                  </a:tcPr>
                </a:tc>
                <a:tc>
                  <a:txBody>
                    <a:bodyPr/>
                    <a:lstStyle/>
                    <a:p>
                      <a:pPr algn="r"/>
                      <a:r>
                        <a:rPr sz="1150" b="0">
                          <a:solidFill>
                            <a:srgbClr val="0F1E24"/>
                          </a:solidFill>
                          <a:latin typeface="Consolas"/>
                        </a:rPr>
                        <a:t>~35 / GPU</a:t>
                      </a:r>
                    </a:p>
                  </a:txBody>
                  <a:tcPr anchor="ctr" marL="118872" marR="118872" marT="0" marB="0">
                    <a:solidFill>
                      <a:srgbClr val="FFFFFF"/>
                    </a:solidFill>
                  </a:tcPr>
                </a:tc>
                <a:tc>
                  <a:txBody>
                    <a:bodyPr/>
                    <a:lstStyle/>
                    <a:p>
                      <a:pPr algn="r"/>
                      <a:r>
                        <a:rPr sz="1150" b="0">
                          <a:solidFill>
                            <a:srgbClr val="0F1E24"/>
                          </a:solidFill>
                          <a:latin typeface="Consolas"/>
                        </a:rPr>
                        <a:t>$6,570</a:t>
                      </a:r>
                    </a:p>
                  </a:txBody>
                  <a:tcPr anchor="ctr" marL="118872" marR="118872" marT="0" marB="0">
                    <a:solidFill>
                      <a:srgbClr val="FFFFFF"/>
                    </a:solidFill>
                  </a:tcPr>
                </a:tc>
                <a:tc>
                  <a:txBody>
                    <a:bodyPr/>
                    <a:lstStyle/>
                    <a:p>
                      <a:pPr algn="r"/>
                      <a:r>
                        <a:rPr sz="1150" b="0">
                          <a:solidFill>
                            <a:srgbClr val="0F1E24"/>
                          </a:solidFill>
                          <a:latin typeface="Consolas"/>
                        </a:rPr>
                        <a:t>$13,140</a:t>
                      </a:r>
                    </a:p>
                  </a:txBody>
                  <a:tcPr anchor="ctr" marL="118872" marR="118872" marT="0" marB="0">
                    <a:solidFill>
                      <a:srgbClr val="FFFFFF"/>
                    </a:solidFill>
                  </a:tcPr>
                </a:tc>
                <a:tc>
                  <a:txBody>
                    <a:bodyPr/>
                    <a:lstStyle/>
                    <a:p>
                      <a:pPr algn="r"/>
                      <a:r>
                        <a:rPr sz="1150" b="0">
                          <a:solidFill>
                            <a:srgbClr val="0F1E24"/>
                          </a:solidFill>
                          <a:latin typeface="Consolas"/>
                        </a:rPr>
                        <a:t>$19,710</a:t>
                      </a:r>
                    </a:p>
                  </a:txBody>
                  <a:tcPr anchor="ctr" marL="118872" marR="118872" marT="0" marB="0">
                    <a:solidFill>
                      <a:srgbClr val="FFFFFF"/>
                    </a:solidFill>
                  </a:tcPr>
                </a:tc>
              </a:tr>
              <a:tr h="347472">
                <a:tc>
                  <a:txBody>
                    <a:bodyPr/>
                    <a:lstStyle/>
                    <a:p>
                      <a:pPr algn="l"/>
                      <a:r>
                        <a:rPr sz="1150" b="0">
                          <a:solidFill>
                            <a:srgbClr val="0F1E24"/>
                          </a:solidFill>
                          <a:latin typeface="Segoe UI"/>
                        </a:rPr>
                        <a:t>Good — 70B</a:t>
                      </a:r>
                    </a:p>
                  </a:txBody>
                  <a:tcPr anchor="ctr" marL="118872" marR="118872" marT="0" marB="0">
                    <a:solidFill>
                      <a:srgbClr val="FFFFFF"/>
                    </a:solidFill>
                  </a:tcPr>
                </a:tc>
                <a:tc>
                  <a:txBody>
                    <a:bodyPr/>
                    <a:lstStyle/>
                    <a:p>
                      <a:pPr algn="l"/>
                      <a:r>
                        <a:rPr sz="1150" b="0">
                          <a:solidFill>
                            <a:srgbClr val="0F1E24"/>
                          </a:solidFill>
                          <a:latin typeface="Segoe UI"/>
                        </a:rPr>
                        <a:t>NVIDIA A100 80GB</a:t>
                      </a:r>
                    </a:p>
                  </a:txBody>
                  <a:tcPr anchor="ctr" marL="118872" marR="118872" marT="0" marB="0">
                    <a:solidFill>
                      <a:srgbClr val="FFFFFF"/>
                    </a:solidFill>
                  </a:tcPr>
                </a:tc>
                <a:tc>
                  <a:txBody>
                    <a:bodyPr/>
                    <a:lstStyle/>
                    <a:p>
                      <a:pPr algn="r"/>
                      <a:r>
                        <a:rPr sz="1150" b="0">
                          <a:solidFill>
                            <a:srgbClr val="0F1E24"/>
                          </a:solidFill>
                          <a:latin typeface="Consolas"/>
                        </a:rPr>
                        <a:t>1.50</a:t>
                      </a:r>
                    </a:p>
                  </a:txBody>
                  <a:tcPr anchor="ctr" marL="118872" marR="118872" marT="0" marB="0">
                    <a:solidFill>
                      <a:srgbClr val="FFFFFF"/>
                    </a:solidFill>
                  </a:tcPr>
                </a:tc>
                <a:tc>
                  <a:txBody>
                    <a:bodyPr/>
                    <a:lstStyle/>
                    <a:p>
                      <a:pPr algn="r"/>
                      <a:r>
                        <a:rPr sz="1150" b="0">
                          <a:solidFill>
                            <a:srgbClr val="0F1E24"/>
                          </a:solidFill>
                          <a:latin typeface="Consolas"/>
                        </a:rPr>
                        <a:t>~15 / GPU</a:t>
                      </a:r>
                    </a:p>
                  </a:txBody>
                  <a:tcPr anchor="ctr" marL="118872" marR="118872" marT="0" marB="0">
                    <a:solidFill>
                      <a:srgbClr val="FFFFFF"/>
                    </a:solidFill>
                  </a:tcPr>
                </a:tc>
                <a:tc>
                  <a:txBody>
                    <a:bodyPr/>
                    <a:lstStyle/>
                    <a:p>
                      <a:pPr algn="r"/>
                      <a:r>
                        <a:rPr sz="1150" b="0">
                          <a:solidFill>
                            <a:srgbClr val="0F1E24"/>
                          </a:solidFill>
                          <a:latin typeface="Consolas"/>
                        </a:rPr>
                        <a:t>$13,140</a:t>
                      </a:r>
                    </a:p>
                  </a:txBody>
                  <a:tcPr anchor="ctr" marL="118872" marR="118872" marT="0" marB="0">
                    <a:solidFill>
                      <a:srgbClr val="FFFFFF"/>
                    </a:solidFill>
                  </a:tcPr>
                </a:tc>
                <a:tc>
                  <a:txBody>
                    <a:bodyPr/>
                    <a:lstStyle/>
                    <a:p>
                      <a:pPr algn="r"/>
                      <a:r>
                        <a:rPr sz="1150" b="0">
                          <a:solidFill>
                            <a:srgbClr val="0F1E24"/>
                          </a:solidFill>
                          <a:latin typeface="Consolas"/>
                        </a:rPr>
                        <a:t>$52,560</a:t>
                      </a:r>
                    </a:p>
                  </a:txBody>
                  <a:tcPr anchor="ctr" marL="118872" marR="118872" marT="0" marB="0">
                    <a:solidFill>
                      <a:srgbClr val="FFFFFF"/>
                    </a:solidFill>
                  </a:tcPr>
                </a:tc>
                <a:tc>
                  <a:txBody>
                    <a:bodyPr/>
                    <a:lstStyle/>
                    <a:p>
                      <a:pPr algn="r"/>
                      <a:r>
                        <a:rPr sz="1150" b="0">
                          <a:solidFill>
                            <a:srgbClr val="0F1E24"/>
                          </a:solidFill>
                          <a:latin typeface="Consolas"/>
                        </a:rPr>
                        <a:t>$91,980</a:t>
                      </a:r>
                    </a:p>
                  </a:txBody>
                  <a:tcPr anchor="ctr" marL="118872" marR="118872" marT="0" marB="0">
                    <a:solidFill>
                      <a:srgbClr val="FFFFFF"/>
                    </a:solidFill>
                  </a:tcPr>
                </a:tc>
              </a:tr>
              <a:tr h="347472">
                <a:tc>
                  <a:txBody>
                    <a:bodyPr/>
                    <a:lstStyle/>
                    <a:p>
                      <a:pPr algn="l"/>
                      <a:r>
                        <a:rPr sz="1150" b="1">
                          <a:solidFill>
                            <a:srgbClr val="0F1E24"/>
                          </a:solidFill>
                          <a:latin typeface="Segoe UI"/>
                        </a:rPr>
                        <a:t>Hosted API</a:t>
                      </a:r>
                    </a:p>
                  </a:txBody>
                  <a:tcPr anchor="ctr" marL="118872" marR="118872" marT="0" marB="0">
                    <a:solidFill>
                      <a:srgbClr val="EDF2F0"/>
                    </a:solidFill>
                  </a:tcPr>
                </a:tc>
                <a:tc>
                  <a:txBody>
                    <a:bodyPr/>
                    <a:lstStyle/>
                    <a:p>
                      <a:pPr algn="l"/>
                      <a:r>
                        <a:rPr sz="1150" b="1">
                          <a:solidFill>
                            <a:srgbClr val="0F1E24"/>
                          </a:solidFill>
                          <a:latin typeface="Segoe UI"/>
                        </a:rPr>
                        <a:t>Efficient tier</a:t>
                      </a:r>
                    </a:p>
                  </a:txBody>
                  <a:tcPr anchor="ctr" marL="118872" marR="118872" marT="0" marB="0">
                    <a:solidFill>
                      <a:srgbClr val="EDF2F0"/>
                    </a:solidFill>
                  </a:tcPr>
                </a:tc>
                <a:tc>
                  <a:txBody>
                    <a:bodyPr/>
                    <a:lstStyle/>
                    <a:p>
                      <a:pPr algn="r"/>
                      <a:r>
                        <a:rPr sz="1150" b="1">
                          <a:solidFill>
                            <a:srgbClr val="0F1E24"/>
                          </a:solidFill>
                          <a:latin typeface="Consolas"/>
                        </a:rPr>
                        <a:t>—</a:t>
                      </a:r>
                    </a:p>
                  </a:txBody>
                  <a:tcPr anchor="ctr" marL="118872" marR="118872" marT="0" marB="0">
                    <a:solidFill>
                      <a:srgbClr val="EDF2F0"/>
                    </a:solidFill>
                  </a:tcPr>
                </a:tc>
                <a:tc>
                  <a:txBody>
                    <a:bodyPr/>
                    <a:lstStyle/>
                    <a:p>
                      <a:pPr algn="r"/>
                      <a:r>
                        <a:rPr sz="1150" b="1">
                          <a:solidFill>
                            <a:srgbClr val="0F1E24"/>
                          </a:solidFill>
                          <a:latin typeface="Consolas"/>
                        </a:rPr>
                        <a:t>unlimited</a:t>
                      </a:r>
                    </a:p>
                  </a:txBody>
                  <a:tcPr anchor="ctr" marL="118872" marR="118872" marT="0" marB="0">
                    <a:solidFill>
                      <a:srgbClr val="EDF2F0"/>
                    </a:solidFill>
                  </a:tcPr>
                </a:tc>
                <a:tc>
                  <a:txBody>
                    <a:bodyPr/>
                    <a:lstStyle/>
                    <a:p>
                      <a:pPr algn="r"/>
                      <a:r>
                        <a:rPr sz="1150" b="1">
                          <a:solidFill>
                            <a:srgbClr val="0F1E24"/>
                          </a:solidFill>
                          <a:latin typeface="Consolas"/>
                        </a:rPr>
                        <a:t>$691</a:t>
                      </a:r>
                    </a:p>
                  </a:txBody>
                  <a:tcPr anchor="ctr" marL="118872" marR="118872" marT="0" marB="0">
                    <a:solidFill>
                      <a:srgbClr val="EDF2F0"/>
                    </a:solidFill>
                  </a:tcPr>
                </a:tc>
                <a:tc>
                  <a:txBody>
                    <a:bodyPr/>
                    <a:lstStyle/>
                    <a:p>
                      <a:pPr algn="r"/>
                      <a:r>
                        <a:rPr sz="1150" b="1">
                          <a:solidFill>
                            <a:srgbClr val="0F1E24"/>
                          </a:solidFill>
                          <a:latin typeface="Consolas"/>
                        </a:rPr>
                        <a:t>$3,456</a:t>
                      </a:r>
                    </a:p>
                  </a:txBody>
                  <a:tcPr anchor="ctr" marL="118872" marR="118872" marT="0" marB="0">
                    <a:solidFill>
                      <a:srgbClr val="EDF2F0"/>
                    </a:solidFill>
                  </a:tcPr>
                </a:tc>
                <a:tc>
                  <a:txBody>
                    <a:bodyPr/>
                    <a:lstStyle/>
                    <a:p>
                      <a:pPr algn="r"/>
                      <a:r>
                        <a:rPr sz="1150" b="1">
                          <a:solidFill>
                            <a:srgbClr val="0F1E24"/>
                          </a:solidFill>
                          <a:latin typeface="Consolas"/>
                        </a:rPr>
                        <a:t>$6,912</a:t>
                      </a:r>
                    </a:p>
                  </a:txBody>
                  <a:tcPr anchor="ctr" marL="118872" marR="118872" marT="0" marB="0">
                    <a:solidFill>
                      <a:srgbClr val="EDF2F0"/>
                    </a:solidFill>
                  </a:tcPr>
                </a:tc>
              </a:tr>
            </a:tbl>
          </a:graphicData>
        </a:graphic>
      </p:graphicFrame>
      <p:sp>
        <p:nvSpPr>
          <p:cNvPr id="8" name="Rounded Rectangle 7"/>
          <p:cNvSpPr/>
          <p:nvPr/>
        </p:nvSpPr>
        <p:spPr>
          <a:xfrm>
            <a:off x="713232" y="4434840"/>
            <a:ext cx="10765231" cy="141732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13232" y="4489704"/>
            <a:ext cx="38100" cy="1307592"/>
          </a:xfrm>
          <a:prstGeom prst="rect">
            <a:avLst/>
          </a:prstGeom>
          <a:solidFill>
            <a:srgbClr val="A45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4617720"/>
            <a:ext cx="10216591" cy="320040"/>
          </a:xfrm>
          <a:prstGeom prst="rect">
            <a:avLst/>
          </a:prstGeom>
          <a:noFill/>
        </p:spPr>
        <p:txBody>
          <a:bodyPr wrap="square" lIns="0" rIns="0" tIns="0" bIns="0">
            <a:spAutoFit/>
          </a:bodyPr>
          <a:lstStyle/>
          <a:p>
            <a:pPr algn="l">
              <a:lnSpc>
                <a:spcPct val="125000"/>
              </a:lnSpc>
            </a:pPr>
            <a:r>
              <a:rPr sz="1500" b="1">
                <a:solidFill>
                  <a:srgbClr val="0F1E24"/>
                </a:solidFill>
                <a:latin typeface="Georgia"/>
              </a:rPr>
              <a:t>Renting costs three to nine times more than the API</a:t>
            </a:r>
          </a:p>
        </p:txBody>
      </p:sp>
      <p:sp>
        <p:nvSpPr>
          <p:cNvPr id="11" name="TextBox 10"/>
          <p:cNvSpPr txBox="1"/>
          <p:nvPr/>
        </p:nvSpPr>
        <p:spPr>
          <a:xfrm>
            <a:off x="969264" y="5001768"/>
            <a:ext cx="10216591" cy="685800"/>
          </a:xfrm>
          <a:prstGeom prst="rect">
            <a:avLst/>
          </a:prstGeom>
          <a:noFill/>
        </p:spPr>
        <p:txBody>
          <a:bodyPr wrap="square" lIns="0" rIns="0" tIns="0" bIns="0">
            <a:spAutoFit/>
          </a:bodyPr>
          <a:lstStyle/>
          <a:p>
            <a:pPr algn="l">
              <a:lnSpc>
                <a:spcPct val="135000"/>
              </a:lnSpc>
            </a:pPr>
            <a:r>
              <a:rPr sz="1200" b="0">
                <a:solidFill>
                  <a:srgbClr val="3D5259"/>
                </a:solidFill>
                <a:latin typeface="Segoe UI"/>
              </a:rPr>
              <a:t>At 100 clients an efficient self-hosted model runs $19,710 a year against $6,912 for the API; the 70B comparison is $91,980 against $32,585. The gap is idle time — providers batch thousands of tenants onto one card, and a single tenant pays for the gaps.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548640" cy="274320"/>
          </a:xfrm>
          <a:prstGeom prst="rect">
            <a:avLst/>
          </a:prstGeom>
          <a:noFill/>
        </p:spPr>
        <p:txBody>
          <a:bodyPr wrap="square" lIns="0" rIns="0" tIns="0" bIns="0">
            <a:spAutoFit/>
          </a:bodyPr>
          <a:lstStyle/>
          <a:p>
            <a:pPr algn="l">
              <a:lnSpc>
                <a:spcPct val="125000"/>
              </a:lnSpc>
            </a:pPr>
            <a:r>
              <a:rPr sz="1100" b="1" spc="130">
                <a:solidFill>
                  <a:srgbClr val="0B6E5B"/>
                </a:solidFill>
                <a:latin typeface="Consolas"/>
              </a:rPr>
              <a:t>07</a:t>
            </a:r>
          </a:p>
        </p:txBody>
      </p:sp>
      <p:sp>
        <p:nvSpPr>
          <p:cNvPr id="4" name="TextBox 3"/>
          <p:cNvSpPr txBox="1"/>
          <p:nvPr/>
        </p:nvSpPr>
        <p:spPr>
          <a:xfrm>
            <a:off x="1188720" y="457200"/>
            <a:ext cx="8229600" cy="274320"/>
          </a:xfrm>
          <a:prstGeom prst="rect">
            <a:avLst/>
          </a:prstGeom>
          <a:noFill/>
        </p:spPr>
        <p:txBody>
          <a:bodyPr wrap="square" lIns="0" rIns="0" tIns="0" bIns="0">
            <a:spAutoFit/>
          </a:bodyPr>
          <a:lstStyle/>
          <a:p>
            <a:pPr algn="l">
              <a:lnSpc>
                <a:spcPct val="125000"/>
              </a:lnSpc>
            </a:pPr>
            <a:r>
              <a:rPr sz="1100" b="0" spc="130">
                <a:solidFill>
                  <a:srgbClr val="6B8087"/>
                </a:solidFill>
                <a:latin typeface="Consolas"/>
              </a:rPr>
              <a:t>OPTION THREE — BUY THE HARDWARE</a:t>
            </a:r>
          </a:p>
        </p:txBody>
      </p:sp>
      <p:sp>
        <p:nvSpPr>
          <p:cNvPr id="5" name="TextBox 4"/>
          <p:cNvSpPr txBox="1"/>
          <p:nvPr/>
        </p:nvSpPr>
        <p:spPr>
          <a:xfrm>
            <a:off x="713232" y="868680"/>
            <a:ext cx="10765231" cy="914400"/>
          </a:xfrm>
          <a:prstGeom prst="rect">
            <a:avLst/>
          </a:prstGeom>
          <a:noFill/>
        </p:spPr>
        <p:txBody>
          <a:bodyPr wrap="square" lIns="0" rIns="0" tIns="0" bIns="0">
            <a:spAutoFit/>
          </a:bodyPr>
          <a:lstStyle/>
          <a:p>
            <a:pPr algn="l">
              <a:lnSpc>
                <a:spcPct val="106000"/>
              </a:lnSpc>
            </a:pPr>
            <a:r>
              <a:rPr sz="3000" b="1">
                <a:solidFill>
                  <a:srgbClr val="0F1E24"/>
                </a:solidFill>
                <a:latin typeface="Georgia"/>
              </a:rPr>
              <a:t>What it costs to own and run a machine 24/7</a:t>
            </a:r>
          </a:p>
        </p:txBody>
      </p:sp>
      <p:sp>
        <p:nvSpPr>
          <p:cNvPr id="6" name="TextBox 5"/>
          <p:cNvSpPr txBox="1"/>
          <p:nvPr/>
        </p:nvSpPr>
        <p:spPr>
          <a:xfrm>
            <a:off x="713232" y="1572768"/>
            <a:ext cx="8778240" cy="822960"/>
          </a:xfrm>
          <a:prstGeom prst="rect">
            <a:avLst/>
          </a:prstGeom>
          <a:noFill/>
        </p:spPr>
        <p:txBody>
          <a:bodyPr wrap="square" lIns="0" rIns="0" tIns="0" bIns="0">
            <a:spAutoFit/>
          </a:bodyPr>
          <a:lstStyle/>
          <a:p>
            <a:pPr algn="l">
              <a:lnSpc>
                <a:spcPct val="140000"/>
              </a:lnSpc>
            </a:pPr>
            <a:r>
              <a:rPr sz="1300" b="0">
                <a:solidFill>
                  <a:srgbClr val="3D5259"/>
                </a:solidFill>
                <a:latin typeface="Segoe UI"/>
              </a:rPr>
              <a:t>Buying replaces the hourly bill with capital, electricity and operations. Two builds, one per model class, with the full cost of keeping them alive.</a:t>
            </a:r>
          </a:p>
        </p:txBody>
      </p:sp>
      <p:graphicFrame>
        <p:nvGraphicFramePr>
          <p:cNvPr id="7" name="Table 6"/>
          <p:cNvGraphicFramePr>
            <a:graphicFrameLocks noGrp="1"/>
          </p:cNvGraphicFramePr>
          <p:nvPr/>
        </p:nvGraphicFramePr>
        <p:xfrm>
          <a:off x="713232" y="2514600"/>
          <a:ext cx="10762488" cy="3529584"/>
        </p:xfrm>
        <a:graphic>
          <a:graphicData uri="http://schemas.openxmlformats.org/drawingml/2006/table">
            <a:tbl>
              <a:tblPr>
                <a:tableStyleId>{5C22544A-7EE6-4342-B048-85BDC9FD1C3A}</a:tableStyleId>
              </a:tblPr>
              <a:tblGrid>
                <a:gridCol w="3931920"/>
                <a:gridCol w="3429000"/>
                <a:gridCol w="3401568"/>
              </a:tblGrid>
              <a:tr h="402336">
                <a:tc>
                  <a:txBody>
                    <a:bodyPr/>
                    <a:lstStyle/>
                    <a:p>
                      <a:pPr algn="l"/>
                      <a:r>
                        <a:rPr sz="950" b="1">
                          <a:solidFill>
                            <a:srgbClr val="6B8087"/>
                          </a:solidFill>
                          <a:latin typeface="Consolas"/>
                        </a:rPr>
                        <a:t>Line</a:t>
                      </a:r>
                    </a:p>
                  </a:txBody>
                  <a:tcPr anchor="ctr" marL="118872" marR="118872" marT="0" marB="0">
                    <a:solidFill>
                      <a:srgbClr val="EDF2F0"/>
                    </a:solidFill>
                  </a:tcPr>
                </a:tc>
                <a:tc>
                  <a:txBody>
                    <a:bodyPr/>
                    <a:lstStyle/>
                    <a:p>
                      <a:pPr algn="r"/>
                      <a:r>
                        <a:rPr sz="950" b="1">
                          <a:solidFill>
                            <a:srgbClr val="6B8087"/>
                          </a:solidFill>
                          <a:latin typeface="Consolas"/>
                        </a:rPr>
                        <a:t>Efficient build — 8B</a:t>
                      </a:r>
                    </a:p>
                  </a:txBody>
                  <a:tcPr anchor="ctr" marL="118872" marR="118872" marT="0" marB="0">
                    <a:solidFill>
                      <a:srgbClr val="EDF2F0"/>
                    </a:solidFill>
                  </a:tcPr>
                </a:tc>
                <a:tc>
                  <a:txBody>
                    <a:bodyPr/>
                    <a:lstStyle/>
                    <a:p>
                      <a:pPr algn="r"/>
                      <a:r>
                        <a:rPr sz="950" b="1">
                          <a:solidFill>
                            <a:srgbClr val="6B8087"/>
                          </a:solidFill>
                          <a:latin typeface="Consolas"/>
                        </a:rPr>
                        <a:t>Good build — 70B</a:t>
                      </a:r>
                    </a:p>
                  </a:txBody>
                  <a:tcPr anchor="ctr" marL="118872" marR="118872" marT="0" marB="0">
                    <a:solidFill>
                      <a:srgbClr val="EDF2F0"/>
                    </a:solidFill>
                  </a:tcPr>
                </a:tc>
              </a:tr>
              <a:tr h="347472">
                <a:tc>
                  <a:txBody>
                    <a:bodyPr/>
                    <a:lstStyle/>
                    <a:p>
                      <a:pPr algn="l"/>
                      <a:r>
                        <a:rPr sz="1100" b="0">
                          <a:solidFill>
                            <a:srgbClr val="0F1E24"/>
                          </a:solidFill>
                          <a:latin typeface="Segoe UI"/>
                        </a:rPr>
                        <a:t>GPUs</a:t>
                      </a:r>
                    </a:p>
                  </a:txBody>
                  <a:tcPr anchor="ctr" marL="118872" marR="118872" marT="0" marB="0">
                    <a:solidFill>
                      <a:srgbClr val="FFFFFF"/>
                    </a:solidFill>
                  </a:tcPr>
                </a:tc>
                <a:tc>
                  <a:txBody>
                    <a:bodyPr/>
                    <a:lstStyle/>
                    <a:p>
                      <a:pPr algn="r"/>
                      <a:r>
                        <a:rPr sz="1100" b="0">
                          <a:solidFill>
                            <a:srgbClr val="0F1E24"/>
                          </a:solidFill>
                          <a:latin typeface="Consolas"/>
                        </a:rPr>
                        <a:t>2 × RTX 4090 24GB — $3,800</a:t>
                      </a:r>
                    </a:p>
                  </a:txBody>
                  <a:tcPr anchor="ctr" marL="118872" marR="118872" marT="0" marB="0">
                    <a:solidFill>
                      <a:srgbClr val="FFFFFF"/>
                    </a:solidFill>
                  </a:tcPr>
                </a:tc>
                <a:tc>
                  <a:txBody>
                    <a:bodyPr/>
                    <a:lstStyle/>
                    <a:p>
                      <a:pPr algn="r"/>
                      <a:r>
                        <a:rPr sz="1100" b="0">
                          <a:solidFill>
                            <a:srgbClr val="0F1E24"/>
                          </a:solidFill>
                          <a:latin typeface="Consolas"/>
                        </a:rPr>
                        <a:t>4 × RTX 4090 24GB — $7,600</a:t>
                      </a:r>
                    </a:p>
                  </a:txBody>
                  <a:tcPr anchor="ctr" marL="118872" marR="118872" marT="0" marB="0">
                    <a:solidFill>
                      <a:srgbClr val="FFFFFF"/>
                    </a:solidFill>
                  </a:tcPr>
                </a:tc>
              </a:tr>
              <a:tr h="347472">
                <a:tc>
                  <a:txBody>
                    <a:bodyPr/>
                    <a:lstStyle/>
                    <a:p>
                      <a:pPr algn="l"/>
                      <a:r>
                        <a:rPr sz="1100" b="0">
                          <a:solidFill>
                            <a:srgbClr val="0F1E24"/>
                          </a:solidFill>
                          <a:latin typeface="Segoe UI"/>
                        </a:rPr>
                        <a:t>Server platform, RAM, NVMe</a:t>
                      </a:r>
                    </a:p>
                  </a:txBody>
                  <a:tcPr anchor="ctr" marL="118872" marR="118872" marT="0" marB="0">
                    <a:solidFill>
                      <a:srgbClr val="FFFFFF"/>
                    </a:solidFill>
                  </a:tcPr>
                </a:tc>
                <a:tc>
                  <a:txBody>
                    <a:bodyPr/>
                    <a:lstStyle/>
                    <a:p>
                      <a:pPr algn="r"/>
                      <a:r>
                        <a:rPr sz="1100" b="0">
                          <a:solidFill>
                            <a:srgbClr val="0F1E24"/>
                          </a:solidFill>
                          <a:latin typeface="Consolas"/>
                        </a:rPr>
                        <a:t>$3,000</a:t>
                      </a:r>
                    </a:p>
                  </a:txBody>
                  <a:tcPr anchor="ctr" marL="118872" marR="118872" marT="0" marB="0">
                    <a:solidFill>
                      <a:srgbClr val="FFFFFF"/>
                    </a:solidFill>
                  </a:tcPr>
                </a:tc>
                <a:tc>
                  <a:txBody>
                    <a:bodyPr/>
                    <a:lstStyle/>
                    <a:p>
                      <a:pPr algn="r"/>
                      <a:r>
                        <a:rPr sz="1100" b="0">
                          <a:solidFill>
                            <a:srgbClr val="0F1E24"/>
                          </a:solidFill>
                          <a:latin typeface="Consolas"/>
                        </a:rPr>
                        <a:t>$5,000</a:t>
                      </a:r>
                    </a:p>
                  </a:txBody>
                  <a:tcPr anchor="ctr" marL="118872" marR="118872" marT="0" marB="0">
                    <a:solidFill>
                      <a:srgbClr val="FFFFFF"/>
                    </a:solidFill>
                  </a:tcPr>
                </a:tc>
              </a:tr>
              <a:tr h="347472">
                <a:tc>
                  <a:txBody>
                    <a:bodyPr/>
                    <a:lstStyle/>
                    <a:p>
                      <a:pPr algn="l"/>
                      <a:r>
                        <a:rPr sz="1100" b="0">
                          <a:solidFill>
                            <a:srgbClr val="0F1E24"/>
                          </a:solidFill>
                          <a:latin typeface="Segoe UI"/>
                        </a:rPr>
                        <a:t>UPS and cooling</a:t>
                      </a:r>
                    </a:p>
                  </a:txBody>
                  <a:tcPr anchor="ctr" marL="118872" marR="118872" marT="0" marB="0">
                    <a:solidFill>
                      <a:srgbClr val="FFFFFF"/>
                    </a:solidFill>
                  </a:tcPr>
                </a:tc>
                <a:tc>
                  <a:txBody>
                    <a:bodyPr/>
                    <a:lstStyle/>
                    <a:p>
                      <a:pPr algn="r"/>
                      <a:r>
                        <a:rPr sz="1100" b="0">
                          <a:solidFill>
                            <a:srgbClr val="0F1E24"/>
                          </a:solidFill>
                          <a:latin typeface="Consolas"/>
                        </a:rPr>
                        <a:t>$1,200</a:t>
                      </a:r>
                    </a:p>
                  </a:txBody>
                  <a:tcPr anchor="ctr" marL="118872" marR="118872" marT="0" marB="0">
                    <a:solidFill>
                      <a:srgbClr val="FFFFFF"/>
                    </a:solidFill>
                  </a:tcPr>
                </a:tc>
                <a:tc>
                  <a:txBody>
                    <a:bodyPr/>
                    <a:lstStyle/>
                    <a:p>
                      <a:pPr algn="r"/>
                      <a:r>
                        <a:rPr sz="1100" b="0">
                          <a:solidFill>
                            <a:srgbClr val="0F1E24"/>
                          </a:solidFill>
                          <a:latin typeface="Consolas"/>
                        </a:rPr>
                        <a:t>$2,000</a:t>
                      </a:r>
                    </a:p>
                  </a:txBody>
                  <a:tcPr anchor="ctr" marL="118872" marR="118872" marT="0" marB="0">
                    <a:solidFill>
                      <a:srgbClr val="FFFFFF"/>
                    </a:solidFill>
                  </a:tcPr>
                </a:tc>
              </a:tr>
              <a:tr h="347472">
                <a:tc>
                  <a:txBody>
                    <a:bodyPr/>
                    <a:lstStyle/>
                    <a:p>
                      <a:pPr algn="l"/>
                      <a:r>
                        <a:rPr sz="1100" b="0">
                          <a:solidFill>
                            <a:srgbClr val="0F1E24"/>
                          </a:solidFill>
                          <a:latin typeface="Segoe UI"/>
                        </a:rPr>
                        <a:t>Capital cost</a:t>
                      </a:r>
                    </a:p>
                  </a:txBody>
                  <a:tcPr anchor="ctr" marL="118872" marR="118872" marT="0" marB="0">
                    <a:solidFill>
                      <a:srgbClr val="FFFFFF"/>
                    </a:solidFill>
                  </a:tcPr>
                </a:tc>
                <a:tc>
                  <a:txBody>
                    <a:bodyPr/>
                    <a:lstStyle/>
                    <a:p>
                      <a:pPr algn="r"/>
                      <a:r>
                        <a:rPr sz="1100" b="0">
                          <a:solidFill>
                            <a:srgbClr val="0F1E24"/>
                          </a:solidFill>
                          <a:latin typeface="Consolas"/>
                        </a:rPr>
                        <a:t>$8,000  ·  PKR 2.24M</a:t>
                      </a:r>
                    </a:p>
                  </a:txBody>
                  <a:tcPr anchor="ctr" marL="118872" marR="118872" marT="0" marB="0">
                    <a:solidFill>
                      <a:srgbClr val="FFFFFF"/>
                    </a:solidFill>
                  </a:tcPr>
                </a:tc>
                <a:tc>
                  <a:txBody>
                    <a:bodyPr/>
                    <a:lstStyle/>
                    <a:p>
                      <a:pPr algn="r"/>
                      <a:r>
                        <a:rPr sz="1100" b="0">
                          <a:solidFill>
                            <a:srgbClr val="0F1E24"/>
                          </a:solidFill>
                          <a:latin typeface="Consolas"/>
                        </a:rPr>
                        <a:t>$14,600  ·  PKR 4.09M</a:t>
                      </a:r>
                    </a:p>
                  </a:txBody>
                  <a:tcPr anchor="ctr" marL="118872" marR="118872" marT="0" marB="0">
                    <a:solidFill>
                      <a:srgbClr val="FFFFFF"/>
                    </a:solidFill>
                  </a:tcPr>
                </a:tc>
              </a:tr>
              <a:tr h="347472">
                <a:tc>
                  <a:txBody>
                    <a:bodyPr/>
                    <a:lstStyle/>
                    <a:p>
                      <a:pPr algn="l"/>
                      <a:r>
                        <a:rPr sz="1100" b="0">
                          <a:solidFill>
                            <a:srgbClr val="0F1E24"/>
                          </a:solidFill>
                          <a:latin typeface="Segoe UI"/>
                        </a:rPr>
                        <a:t>Draw under load</a:t>
                      </a:r>
                    </a:p>
                  </a:txBody>
                  <a:tcPr anchor="ctr" marL="118872" marR="118872" marT="0" marB="0">
                    <a:solidFill>
                      <a:srgbClr val="FFFFFF"/>
                    </a:solidFill>
                  </a:tcPr>
                </a:tc>
                <a:tc>
                  <a:txBody>
                    <a:bodyPr/>
                    <a:lstStyle/>
                    <a:p>
                      <a:pPr algn="r"/>
                      <a:r>
                        <a:rPr sz="1100" b="0">
                          <a:solidFill>
                            <a:srgbClr val="0F1E24"/>
                          </a:solidFill>
                          <a:latin typeface="Consolas"/>
                        </a:rPr>
                        <a:t>1,150 W</a:t>
                      </a:r>
                    </a:p>
                  </a:txBody>
                  <a:tcPr anchor="ctr" marL="118872" marR="118872" marT="0" marB="0">
                    <a:solidFill>
                      <a:srgbClr val="FFFFFF"/>
                    </a:solidFill>
                  </a:tcPr>
                </a:tc>
                <a:tc>
                  <a:txBody>
                    <a:bodyPr/>
                    <a:lstStyle/>
                    <a:p>
                      <a:pPr algn="r"/>
                      <a:r>
                        <a:rPr sz="1100" b="0">
                          <a:solidFill>
                            <a:srgbClr val="0F1E24"/>
                          </a:solidFill>
                          <a:latin typeface="Consolas"/>
                        </a:rPr>
                        <a:t>2,100 W</a:t>
                      </a:r>
                    </a:p>
                  </a:txBody>
                  <a:tcPr anchor="ctr" marL="118872" marR="118872" marT="0" marB="0">
                    <a:solidFill>
                      <a:srgbClr val="FFFFFF"/>
                    </a:solidFill>
                  </a:tcPr>
                </a:tc>
              </a:tr>
              <a:tr h="347472">
                <a:tc>
                  <a:txBody>
                    <a:bodyPr/>
                    <a:lstStyle/>
                    <a:p>
                      <a:pPr algn="l"/>
                      <a:r>
                        <a:rPr sz="1100" b="0">
                          <a:solidFill>
                            <a:srgbClr val="0F1E24"/>
                          </a:solidFill>
                          <a:latin typeface="Segoe UI"/>
                        </a:rPr>
                        <a:t>Electricity, 24/7</a:t>
                      </a:r>
                    </a:p>
                  </a:txBody>
                  <a:tcPr anchor="ctr" marL="118872" marR="118872" marT="0" marB="0">
                    <a:solidFill>
                      <a:srgbClr val="FFFFFF"/>
                    </a:solidFill>
                  </a:tcPr>
                </a:tc>
                <a:tc>
                  <a:txBody>
                    <a:bodyPr/>
                    <a:lstStyle/>
                    <a:p>
                      <a:pPr algn="r"/>
                      <a:r>
                        <a:rPr sz="1100" b="0">
                          <a:solidFill>
                            <a:srgbClr val="0F1E24"/>
                          </a:solidFill>
                          <a:latin typeface="Consolas"/>
                        </a:rPr>
                        <a:t>10,074 kWh / yr</a:t>
                      </a:r>
                    </a:p>
                  </a:txBody>
                  <a:tcPr anchor="ctr" marL="118872" marR="118872" marT="0" marB="0">
                    <a:solidFill>
                      <a:srgbClr val="FFFFFF"/>
                    </a:solidFill>
                  </a:tcPr>
                </a:tc>
                <a:tc>
                  <a:txBody>
                    <a:bodyPr/>
                    <a:lstStyle/>
                    <a:p>
                      <a:pPr algn="r"/>
                      <a:r>
                        <a:rPr sz="1100" b="0">
                          <a:solidFill>
                            <a:srgbClr val="0F1E24"/>
                          </a:solidFill>
                          <a:latin typeface="Consolas"/>
                        </a:rPr>
                        <a:t>18,396 kWh / yr</a:t>
                      </a:r>
                    </a:p>
                  </a:txBody>
                  <a:tcPr anchor="ctr" marL="118872" marR="118872" marT="0" marB="0">
                    <a:solidFill>
                      <a:srgbClr val="FFFFFF"/>
                    </a:solidFill>
                  </a:tcPr>
                </a:tc>
              </a:tr>
              <a:tr h="347472">
                <a:tc>
                  <a:txBody>
                    <a:bodyPr/>
                    <a:lstStyle/>
                    <a:p>
                      <a:pPr algn="l"/>
                      <a:r>
                        <a:rPr sz="1100" b="0">
                          <a:solidFill>
                            <a:srgbClr val="0F1E24"/>
                          </a:solidFill>
                          <a:latin typeface="Segoe UI"/>
                        </a:rPr>
                        <a:t>Power + 25% cooling</a:t>
                      </a:r>
                    </a:p>
                  </a:txBody>
                  <a:tcPr anchor="ctr" marL="118872" marR="118872" marT="0" marB="0">
                    <a:solidFill>
                      <a:srgbClr val="FFFFFF"/>
                    </a:solidFill>
                  </a:tcPr>
                </a:tc>
                <a:tc>
                  <a:txBody>
                    <a:bodyPr/>
                    <a:lstStyle/>
                    <a:p>
                      <a:pPr algn="r"/>
                      <a:r>
                        <a:rPr sz="1100" b="0">
                          <a:solidFill>
                            <a:srgbClr val="0F1E24"/>
                          </a:solidFill>
                          <a:latin typeface="Consolas"/>
                        </a:rPr>
                        <a:t>$2,024 / yr</a:t>
                      </a:r>
                    </a:p>
                  </a:txBody>
                  <a:tcPr anchor="ctr" marL="118872" marR="118872" marT="0" marB="0">
                    <a:solidFill>
                      <a:srgbClr val="FFFFFF"/>
                    </a:solidFill>
                  </a:tcPr>
                </a:tc>
                <a:tc>
                  <a:txBody>
                    <a:bodyPr/>
                    <a:lstStyle/>
                    <a:p>
                      <a:pPr algn="r"/>
                      <a:r>
                        <a:rPr sz="1100" b="0">
                          <a:solidFill>
                            <a:srgbClr val="0F1E24"/>
                          </a:solidFill>
                          <a:latin typeface="Consolas"/>
                        </a:rPr>
                        <a:t>$3,695 / yr</a:t>
                      </a:r>
                    </a:p>
                  </a:txBody>
                  <a:tcPr anchor="ctr" marL="118872" marR="118872" marT="0" marB="0">
                    <a:solidFill>
                      <a:srgbClr val="FFFFFF"/>
                    </a:solidFill>
                  </a:tcPr>
                </a:tc>
              </a:tr>
              <a:tr h="347472">
                <a:tc>
                  <a:txBody>
                    <a:bodyPr/>
                    <a:lstStyle/>
                    <a:p>
                      <a:pPr algn="l"/>
                      <a:r>
                        <a:rPr sz="1100" b="0">
                          <a:solidFill>
                            <a:srgbClr val="0F1E24"/>
                          </a:solidFill>
                          <a:latin typeface="Segoe UI"/>
                        </a:rPr>
                        <a:t>Capacity</a:t>
                      </a:r>
                    </a:p>
                  </a:txBody>
                  <a:tcPr anchor="ctr" marL="118872" marR="118872" marT="0" marB="0">
                    <a:solidFill>
                      <a:srgbClr val="FFFFFF"/>
                    </a:solidFill>
                  </a:tcPr>
                </a:tc>
                <a:tc>
                  <a:txBody>
                    <a:bodyPr/>
                    <a:lstStyle/>
                    <a:p>
                      <a:pPr algn="r"/>
                      <a:r>
                        <a:rPr sz="1100" b="0">
                          <a:solidFill>
                            <a:srgbClr val="0F1E24"/>
                          </a:solidFill>
                          <a:latin typeface="Consolas"/>
                        </a:rPr>
                        <a:t>~85 clients</a:t>
                      </a:r>
                    </a:p>
                  </a:txBody>
                  <a:tcPr anchor="ctr" marL="118872" marR="118872" marT="0" marB="0">
                    <a:solidFill>
                      <a:srgbClr val="FFFFFF"/>
                    </a:solidFill>
                  </a:tcPr>
                </a:tc>
                <a:tc>
                  <a:txBody>
                    <a:bodyPr/>
                    <a:lstStyle/>
                    <a:p>
                      <a:pPr algn="r"/>
                      <a:r>
                        <a:rPr sz="1100" b="0">
                          <a:solidFill>
                            <a:srgbClr val="0F1E24"/>
                          </a:solidFill>
                          <a:latin typeface="Consolas"/>
                        </a:rPr>
                        <a:t>~28 clients</a:t>
                      </a:r>
                    </a:p>
                  </a:txBody>
                  <a:tcPr anchor="ctr" marL="118872" marR="118872" marT="0" marB="0">
                    <a:solidFill>
                      <a:srgbClr val="FFFFFF"/>
                    </a:solidFill>
                  </a:tcPr>
                </a:tc>
              </a:tr>
              <a:tr h="347472">
                <a:tc>
                  <a:txBody>
                    <a:bodyPr/>
                    <a:lstStyle/>
                    <a:p>
                      <a:pPr algn="l"/>
                      <a:r>
                        <a:rPr sz="1100" b="1">
                          <a:solidFill>
                            <a:srgbClr val="0F1E24"/>
                          </a:solidFill>
                          <a:latin typeface="Segoe UI"/>
                        </a:rPr>
                        <a:t>Three-year cost of ownership</a:t>
                      </a:r>
                    </a:p>
                  </a:txBody>
                  <a:tcPr anchor="ctr" marL="118872" marR="118872" marT="0" marB="0">
                    <a:solidFill>
                      <a:srgbClr val="EDF2F0"/>
                    </a:solidFill>
                  </a:tcPr>
                </a:tc>
                <a:tc>
                  <a:txBody>
                    <a:bodyPr/>
                    <a:lstStyle/>
                    <a:p>
                      <a:pPr algn="r"/>
                      <a:r>
                        <a:rPr sz="1100" b="1">
                          <a:solidFill>
                            <a:srgbClr val="0F1E24"/>
                          </a:solidFill>
                          <a:latin typeface="Consolas"/>
                        </a:rPr>
                        <a:t>$14,071</a:t>
                      </a:r>
                    </a:p>
                  </a:txBody>
                  <a:tcPr anchor="ctr" marL="118872" marR="118872" marT="0" marB="0">
                    <a:solidFill>
                      <a:srgbClr val="EDF2F0"/>
                    </a:solidFill>
                  </a:tcPr>
                </a:tc>
                <a:tc>
                  <a:txBody>
                    <a:bodyPr/>
                    <a:lstStyle/>
                    <a:p>
                      <a:pPr algn="r"/>
                      <a:r>
                        <a:rPr sz="1100" b="1">
                          <a:solidFill>
                            <a:srgbClr val="0F1E24"/>
                          </a:solidFill>
                          <a:latin typeface="Consolas"/>
                        </a:rPr>
                        <a:t>$25,685</a:t>
                      </a:r>
                    </a:p>
                  </a:txBody>
                  <a:tcPr anchor="ctr" marL="118872" marR="118872" marT="0" marB="0">
                    <a:solidFill>
                      <a:srgbClr val="EDF2F0"/>
                    </a:solidFill>
                  </a:tcPr>
                </a:tc>
              </a:tr>
            </a:tbl>
          </a:graphicData>
        </a:graphic>
      </p:graphicFrame>
      <p:sp>
        <p:nvSpPr>
          <p:cNvPr id="8" name="TextBox 7"/>
          <p:cNvSpPr txBox="1"/>
          <p:nvPr/>
        </p:nvSpPr>
        <p:spPr>
          <a:xfrm>
            <a:off x="713232" y="6291072"/>
            <a:ext cx="10765231" cy="365760"/>
          </a:xfrm>
          <a:prstGeom prst="rect">
            <a:avLst/>
          </a:prstGeom>
          <a:noFill/>
        </p:spPr>
        <p:txBody>
          <a:bodyPr wrap="square" lIns="0" rIns="0" tIns="0" bIns="0">
            <a:spAutoFit/>
          </a:bodyPr>
          <a:lstStyle/>
          <a:p>
            <a:pPr algn="l">
              <a:lnSpc>
                <a:spcPct val="120000"/>
              </a:lnSpc>
            </a:pPr>
            <a:r>
              <a:rPr sz="950" b="0">
                <a:solidFill>
                  <a:srgbClr val="6B8087"/>
                </a:solidFill>
                <a:latin typeface="Consolas"/>
              </a:rPr>
              <a:t>Capital costs exclude Pakistani import duty. Electricity at PKR 45/kWh, assuming uninterrupted supply.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548640" cy="274320"/>
          </a:xfrm>
          <a:prstGeom prst="rect">
            <a:avLst/>
          </a:prstGeom>
          <a:noFill/>
        </p:spPr>
        <p:txBody>
          <a:bodyPr wrap="square" lIns="0" rIns="0" tIns="0" bIns="0">
            <a:spAutoFit/>
          </a:bodyPr>
          <a:lstStyle/>
          <a:p>
            <a:pPr algn="l">
              <a:lnSpc>
                <a:spcPct val="125000"/>
              </a:lnSpc>
            </a:pPr>
            <a:r>
              <a:rPr sz="1100" b="1" spc="130">
                <a:solidFill>
                  <a:srgbClr val="0B6E5B"/>
                </a:solidFill>
                <a:latin typeface="Consolas"/>
              </a:rPr>
              <a:t>08</a:t>
            </a:r>
          </a:p>
        </p:txBody>
      </p:sp>
      <p:sp>
        <p:nvSpPr>
          <p:cNvPr id="4" name="TextBox 3"/>
          <p:cNvSpPr txBox="1"/>
          <p:nvPr/>
        </p:nvSpPr>
        <p:spPr>
          <a:xfrm>
            <a:off x="1188720" y="457200"/>
            <a:ext cx="8229600" cy="274320"/>
          </a:xfrm>
          <a:prstGeom prst="rect">
            <a:avLst/>
          </a:prstGeom>
          <a:noFill/>
        </p:spPr>
        <p:txBody>
          <a:bodyPr wrap="square" lIns="0" rIns="0" tIns="0" bIns="0">
            <a:spAutoFit/>
          </a:bodyPr>
          <a:lstStyle/>
          <a:p>
            <a:pPr algn="l">
              <a:lnSpc>
                <a:spcPct val="125000"/>
              </a:lnSpc>
            </a:pPr>
            <a:r>
              <a:rPr sz="1100" b="0" spc="130">
                <a:solidFill>
                  <a:srgbClr val="6B8087"/>
                </a:solidFill>
                <a:latin typeface="Consolas"/>
              </a:rPr>
              <a:t>BUILD VERSUS BUY</a:t>
            </a:r>
          </a:p>
        </p:txBody>
      </p:sp>
      <p:sp>
        <p:nvSpPr>
          <p:cNvPr id="5" name="TextBox 4"/>
          <p:cNvSpPr txBox="1"/>
          <p:nvPr/>
        </p:nvSpPr>
        <p:spPr>
          <a:xfrm>
            <a:off x="713232" y="868680"/>
            <a:ext cx="10765231" cy="914400"/>
          </a:xfrm>
          <a:prstGeom prst="rect">
            <a:avLst/>
          </a:prstGeom>
          <a:noFill/>
        </p:spPr>
        <p:txBody>
          <a:bodyPr wrap="square" lIns="0" rIns="0" tIns="0" bIns="0">
            <a:spAutoFit/>
          </a:bodyPr>
          <a:lstStyle/>
          <a:p>
            <a:pPr algn="l">
              <a:lnSpc>
                <a:spcPct val="106000"/>
              </a:lnSpc>
            </a:pPr>
            <a:r>
              <a:rPr sz="3000" b="1">
                <a:solidFill>
                  <a:srgbClr val="0F1E24"/>
                </a:solidFill>
                <a:latin typeface="Georgia"/>
              </a:rPr>
              <a:t>Hardware does not pay back until roughly 150 clients</a:t>
            </a:r>
          </a:p>
        </p:txBody>
      </p:sp>
      <p:sp>
        <p:nvSpPr>
          <p:cNvPr id="6" name="TextBox 5"/>
          <p:cNvSpPr txBox="1"/>
          <p:nvPr/>
        </p:nvSpPr>
        <p:spPr>
          <a:xfrm>
            <a:off x="713232" y="1572768"/>
            <a:ext cx="8778240" cy="822960"/>
          </a:xfrm>
          <a:prstGeom prst="rect">
            <a:avLst/>
          </a:prstGeom>
          <a:noFill/>
        </p:spPr>
        <p:txBody>
          <a:bodyPr wrap="square" lIns="0" rIns="0" tIns="0" bIns="0">
            <a:spAutoFit/>
          </a:bodyPr>
          <a:lstStyle/>
          <a:p>
            <a:pPr algn="l">
              <a:lnSpc>
                <a:spcPct val="140000"/>
              </a:lnSpc>
            </a:pPr>
            <a:r>
              <a:rPr sz="1300" b="0">
                <a:solidFill>
                  <a:srgbClr val="3D5259"/>
                </a:solidFill>
                <a:latin typeface="Segoe UI"/>
              </a:rPr>
              <a:t>Three-year total cost of ownership against the hosted API, on the efficient tier.</a:t>
            </a:r>
          </a:p>
        </p:txBody>
      </p:sp>
      <p:graphicFrame>
        <p:nvGraphicFramePr>
          <p:cNvPr id="7" name="Table 6"/>
          <p:cNvGraphicFramePr>
            <a:graphicFrameLocks noGrp="1"/>
          </p:cNvGraphicFramePr>
          <p:nvPr/>
        </p:nvGraphicFramePr>
        <p:xfrm>
          <a:off x="713232" y="2377440"/>
          <a:ext cx="10762488" cy="1792224"/>
        </p:xfrm>
        <a:graphic>
          <a:graphicData uri="http://schemas.openxmlformats.org/drawingml/2006/table">
            <a:tbl>
              <a:tblPr>
                <a:tableStyleId>{5C22544A-7EE6-4342-B048-85BDC9FD1C3A}</a:tableStyleId>
              </a:tblPr>
              <a:tblGrid>
                <a:gridCol w="1371600"/>
                <a:gridCol w="2011680"/>
                <a:gridCol w="2148840"/>
                <a:gridCol w="2148840"/>
                <a:gridCol w="3081528"/>
              </a:tblGrid>
              <a:tr h="402336">
                <a:tc>
                  <a:txBody>
                    <a:bodyPr/>
                    <a:lstStyle/>
                    <a:p>
                      <a:pPr algn="l"/>
                      <a:r>
                        <a:rPr sz="950" b="1">
                          <a:solidFill>
                            <a:srgbClr val="6B8087"/>
                          </a:solidFill>
                          <a:latin typeface="Consolas"/>
                        </a:rPr>
                        <a:t>Clients</a:t>
                      </a:r>
                    </a:p>
                  </a:txBody>
                  <a:tcPr anchor="ctr" marL="118872" marR="118872" marT="0" marB="0">
                    <a:solidFill>
                      <a:srgbClr val="EDF2F0"/>
                    </a:solidFill>
                  </a:tcPr>
                </a:tc>
                <a:tc>
                  <a:txBody>
                    <a:bodyPr/>
                    <a:lstStyle/>
                    <a:p>
                      <a:pPr algn="r"/>
                      <a:r>
                        <a:rPr sz="950" b="1">
                          <a:solidFill>
                            <a:srgbClr val="6B8087"/>
                          </a:solidFill>
                          <a:latin typeface="Consolas"/>
                        </a:rPr>
                        <a:t>Builds needed</a:t>
                      </a:r>
                    </a:p>
                  </a:txBody>
                  <a:tcPr anchor="ctr" marL="118872" marR="118872" marT="0" marB="0">
                    <a:solidFill>
                      <a:srgbClr val="EDF2F0"/>
                    </a:solidFill>
                  </a:tcPr>
                </a:tc>
                <a:tc>
                  <a:txBody>
                    <a:bodyPr/>
                    <a:lstStyle/>
                    <a:p>
                      <a:pPr algn="r"/>
                      <a:r>
                        <a:rPr sz="950" b="1">
                          <a:solidFill>
                            <a:srgbClr val="6B8087"/>
                          </a:solidFill>
                          <a:latin typeface="Consolas"/>
                        </a:rPr>
                        <a:t>Owned, 3 yr</a:t>
                      </a:r>
                    </a:p>
                  </a:txBody>
                  <a:tcPr anchor="ctr" marL="118872" marR="118872" marT="0" marB="0">
                    <a:solidFill>
                      <a:srgbClr val="EDF2F0"/>
                    </a:solidFill>
                  </a:tcPr>
                </a:tc>
                <a:tc>
                  <a:txBody>
                    <a:bodyPr/>
                    <a:lstStyle/>
                    <a:p>
                      <a:pPr algn="r"/>
                      <a:r>
                        <a:rPr sz="950" b="1">
                          <a:solidFill>
                            <a:srgbClr val="6B8087"/>
                          </a:solidFill>
                          <a:latin typeface="Consolas"/>
                        </a:rPr>
                        <a:t>API, 3 yr</a:t>
                      </a:r>
                    </a:p>
                  </a:txBody>
                  <a:tcPr anchor="ctr" marL="118872" marR="118872" marT="0" marB="0">
                    <a:solidFill>
                      <a:srgbClr val="EDF2F0"/>
                    </a:solidFill>
                  </a:tcPr>
                </a:tc>
                <a:tc>
                  <a:txBody>
                    <a:bodyPr/>
                    <a:lstStyle/>
                    <a:p>
                      <a:pPr algn="l"/>
                      <a:r>
                        <a:rPr sz="950" b="1">
                          <a:solidFill>
                            <a:srgbClr val="6B8087"/>
                          </a:solidFill>
                          <a:latin typeface="Consolas"/>
                        </a:rPr>
                        <a:t>Cheaper</a:t>
                      </a:r>
                    </a:p>
                  </a:txBody>
                  <a:tcPr anchor="ctr" marL="118872" marR="118872" marT="0" marB="0">
                    <a:solidFill>
                      <a:srgbClr val="EDF2F0"/>
                    </a:solidFill>
                  </a:tcPr>
                </a:tc>
              </a:tr>
              <a:tr h="347472">
                <a:tc>
                  <a:txBody>
                    <a:bodyPr/>
                    <a:lstStyle/>
                    <a:p>
                      <a:pPr algn="l"/>
                      <a:r>
                        <a:rPr sz="1150" b="0">
                          <a:solidFill>
                            <a:srgbClr val="0F1E24"/>
                          </a:solidFill>
                          <a:latin typeface="Segoe UI"/>
                        </a:rPr>
                        <a:t>10</a:t>
                      </a:r>
                    </a:p>
                  </a:txBody>
                  <a:tcPr anchor="ctr" marL="118872" marR="118872" marT="0" marB="0">
                    <a:solidFill>
                      <a:srgbClr val="FFFFFF"/>
                    </a:solidFill>
                  </a:tcPr>
                </a:tc>
                <a:tc>
                  <a:txBody>
                    <a:bodyPr/>
                    <a:lstStyle/>
                    <a:p>
                      <a:pPr algn="r"/>
                      <a:r>
                        <a:rPr sz="1150" b="0">
                          <a:solidFill>
                            <a:srgbClr val="0F1E24"/>
                          </a:solidFill>
                          <a:latin typeface="Consolas"/>
                        </a:rPr>
                        <a:t>1</a:t>
                      </a:r>
                    </a:p>
                  </a:txBody>
                  <a:tcPr anchor="ctr" marL="118872" marR="118872" marT="0" marB="0">
                    <a:solidFill>
                      <a:srgbClr val="FFFFFF"/>
                    </a:solidFill>
                  </a:tcPr>
                </a:tc>
                <a:tc>
                  <a:txBody>
                    <a:bodyPr/>
                    <a:lstStyle/>
                    <a:p>
                      <a:pPr algn="r"/>
                      <a:r>
                        <a:rPr sz="1150" b="0">
                          <a:solidFill>
                            <a:srgbClr val="0F1E24"/>
                          </a:solidFill>
                          <a:latin typeface="Consolas"/>
                        </a:rPr>
                        <a:t>$14,071</a:t>
                      </a:r>
                    </a:p>
                  </a:txBody>
                  <a:tcPr anchor="ctr" marL="118872" marR="118872" marT="0" marB="0">
                    <a:solidFill>
                      <a:srgbClr val="FFFFFF"/>
                    </a:solidFill>
                  </a:tcPr>
                </a:tc>
                <a:tc>
                  <a:txBody>
                    <a:bodyPr/>
                    <a:lstStyle/>
                    <a:p>
                      <a:pPr algn="r"/>
                      <a:r>
                        <a:rPr sz="1150" b="0">
                          <a:solidFill>
                            <a:srgbClr val="0F1E24"/>
                          </a:solidFill>
                          <a:latin typeface="Consolas"/>
                        </a:rPr>
                        <a:t>$2,074</a:t>
                      </a:r>
                    </a:p>
                  </a:txBody>
                  <a:tcPr anchor="ctr" marL="118872" marR="118872" marT="0" marB="0">
                    <a:solidFill>
                      <a:srgbClr val="FFFFFF"/>
                    </a:solidFill>
                  </a:tcPr>
                </a:tc>
                <a:tc>
                  <a:txBody>
                    <a:bodyPr/>
                    <a:lstStyle/>
                    <a:p>
                      <a:pPr algn="l"/>
                      <a:r>
                        <a:rPr sz="1150" b="0">
                          <a:solidFill>
                            <a:srgbClr val="0F1E24"/>
                          </a:solidFill>
                          <a:latin typeface="Segoe UI"/>
                        </a:rPr>
                        <a:t>API, by 7×</a:t>
                      </a:r>
                    </a:p>
                  </a:txBody>
                  <a:tcPr anchor="ctr" marL="118872" marR="118872" marT="0" marB="0">
                    <a:solidFill>
                      <a:srgbClr val="FFFFFF"/>
                    </a:solidFill>
                  </a:tcPr>
                </a:tc>
              </a:tr>
              <a:tr h="347472">
                <a:tc>
                  <a:txBody>
                    <a:bodyPr/>
                    <a:lstStyle/>
                    <a:p>
                      <a:pPr algn="l"/>
                      <a:r>
                        <a:rPr sz="1150" b="0">
                          <a:solidFill>
                            <a:srgbClr val="0F1E24"/>
                          </a:solidFill>
                          <a:latin typeface="Segoe UI"/>
                        </a:rPr>
                        <a:t>50</a:t>
                      </a:r>
                    </a:p>
                  </a:txBody>
                  <a:tcPr anchor="ctr" marL="118872" marR="118872" marT="0" marB="0">
                    <a:solidFill>
                      <a:srgbClr val="FFFFFF"/>
                    </a:solidFill>
                  </a:tcPr>
                </a:tc>
                <a:tc>
                  <a:txBody>
                    <a:bodyPr/>
                    <a:lstStyle/>
                    <a:p>
                      <a:pPr algn="r"/>
                      <a:r>
                        <a:rPr sz="1150" b="0">
                          <a:solidFill>
                            <a:srgbClr val="0F1E24"/>
                          </a:solidFill>
                          <a:latin typeface="Consolas"/>
                        </a:rPr>
                        <a:t>1</a:t>
                      </a:r>
                    </a:p>
                  </a:txBody>
                  <a:tcPr anchor="ctr" marL="118872" marR="118872" marT="0" marB="0">
                    <a:solidFill>
                      <a:srgbClr val="FFFFFF"/>
                    </a:solidFill>
                  </a:tcPr>
                </a:tc>
                <a:tc>
                  <a:txBody>
                    <a:bodyPr/>
                    <a:lstStyle/>
                    <a:p>
                      <a:pPr algn="r"/>
                      <a:r>
                        <a:rPr sz="1150" b="0">
                          <a:solidFill>
                            <a:srgbClr val="0F1E24"/>
                          </a:solidFill>
                          <a:latin typeface="Consolas"/>
                        </a:rPr>
                        <a:t>$14,071</a:t>
                      </a:r>
                    </a:p>
                  </a:txBody>
                  <a:tcPr anchor="ctr" marL="118872" marR="118872" marT="0" marB="0">
                    <a:solidFill>
                      <a:srgbClr val="FFFFFF"/>
                    </a:solidFill>
                  </a:tcPr>
                </a:tc>
                <a:tc>
                  <a:txBody>
                    <a:bodyPr/>
                    <a:lstStyle/>
                    <a:p>
                      <a:pPr algn="r"/>
                      <a:r>
                        <a:rPr sz="1150" b="0">
                          <a:solidFill>
                            <a:srgbClr val="0F1E24"/>
                          </a:solidFill>
                          <a:latin typeface="Consolas"/>
                        </a:rPr>
                        <a:t>$10,368</a:t>
                      </a:r>
                    </a:p>
                  </a:txBody>
                  <a:tcPr anchor="ctr" marL="118872" marR="118872" marT="0" marB="0">
                    <a:solidFill>
                      <a:srgbClr val="FFFFFF"/>
                    </a:solidFill>
                  </a:tcPr>
                </a:tc>
                <a:tc>
                  <a:txBody>
                    <a:bodyPr/>
                    <a:lstStyle/>
                    <a:p>
                      <a:pPr algn="l"/>
                      <a:r>
                        <a:rPr sz="1150" b="0">
                          <a:solidFill>
                            <a:srgbClr val="0F1E24"/>
                          </a:solidFill>
                          <a:latin typeface="Segoe UI"/>
                        </a:rPr>
                        <a:t>API</a:t>
                      </a:r>
                    </a:p>
                  </a:txBody>
                  <a:tcPr anchor="ctr" marL="118872" marR="118872" marT="0" marB="0">
                    <a:solidFill>
                      <a:srgbClr val="FFFFFF"/>
                    </a:solidFill>
                  </a:tcPr>
                </a:tc>
              </a:tr>
              <a:tr h="347472">
                <a:tc>
                  <a:txBody>
                    <a:bodyPr/>
                    <a:lstStyle/>
                    <a:p>
                      <a:pPr algn="l"/>
                      <a:r>
                        <a:rPr sz="1150" b="0">
                          <a:solidFill>
                            <a:srgbClr val="0F1E24"/>
                          </a:solidFill>
                          <a:latin typeface="Segoe UI"/>
                        </a:rPr>
                        <a:t>100</a:t>
                      </a:r>
                    </a:p>
                  </a:txBody>
                  <a:tcPr anchor="ctr" marL="118872" marR="118872" marT="0" marB="0">
                    <a:solidFill>
                      <a:srgbClr val="FFFFFF"/>
                    </a:solidFill>
                  </a:tcPr>
                </a:tc>
                <a:tc>
                  <a:txBody>
                    <a:bodyPr/>
                    <a:lstStyle/>
                    <a:p>
                      <a:pPr algn="r"/>
                      <a:r>
                        <a:rPr sz="1150" b="0">
                          <a:solidFill>
                            <a:srgbClr val="0F1E24"/>
                          </a:solidFill>
                          <a:latin typeface="Consolas"/>
                        </a:rPr>
                        <a:t>2</a:t>
                      </a:r>
                    </a:p>
                  </a:txBody>
                  <a:tcPr anchor="ctr" marL="118872" marR="118872" marT="0" marB="0">
                    <a:solidFill>
                      <a:srgbClr val="FFFFFF"/>
                    </a:solidFill>
                  </a:tcPr>
                </a:tc>
                <a:tc>
                  <a:txBody>
                    <a:bodyPr/>
                    <a:lstStyle/>
                    <a:p>
                      <a:pPr algn="r"/>
                      <a:r>
                        <a:rPr sz="1150" b="0">
                          <a:solidFill>
                            <a:srgbClr val="0F1E24"/>
                          </a:solidFill>
                          <a:latin typeface="Consolas"/>
                        </a:rPr>
                        <a:t>$28,143</a:t>
                      </a:r>
                    </a:p>
                  </a:txBody>
                  <a:tcPr anchor="ctr" marL="118872" marR="118872" marT="0" marB="0">
                    <a:solidFill>
                      <a:srgbClr val="FFFFFF"/>
                    </a:solidFill>
                  </a:tcPr>
                </a:tc>
                <a:tc>
                  <a:txBody>
                    <a:bodyPr/>
                    <a:lstStyle/>
                    <a:p>
                      <a:pPr algn="r"/>
                      <a:r>
                        <a:rPr sz="1150" b="0">
                          <a:solidFill>
                            <a:srgbClr val="0F1E24"/>
                          </a:solidFill>
                          <a:latin typeface="Consolas"/>
                        </a:rPr>
                        <a:t>$20,736</a:t>
                      </a:r>
                    </a:p>
                  </a:txBody>
                  <a:tcPr anchor="ctr" marL="118872" marR="118872" marT="0" marB="0">
                    <a:solidFill>
                      <a:srgbClr val="FFFFFF"/>
                    </a:solidFill>
                  </a:tcPr>
                </a:tc>
                <a:tc>
                  <a:txBody>
                    <a:bodyPr/>
                    <a:lstStyle/>
                    <a:p>
                      <a:pPr algn="l"/>
                      <a:r>
                        <a:rPr sz="1150" b="0">
                          <a:solidFill>
                            <a:srgbClr val="0F1E24"/>
                          </a:solidFill>
                          <a:latin typeface="Segoe UI"/>
                        </a:rPr>
                        <a:t>API</a:t>
                      </a:r>
                    </a:p>
                  </a:txBody>
                  <a:tcPr anchor="ctr" marL="118872" marR="118872" marT="0" marB="0">
                    <a:solidFill>
                      <a:srgbClr val="FFFFFF"/>
                    </a:solidFill>
                  </a:tcPr>
                </a:tc>
              </a:tr>
              <a:tr h="347472">
                <a:tc>
                  <a:txBody>
                    <a:bodyPr/>
                    <a:lstStyle/>
                    <a:p>
                      <a:pPr algn="l"/>
                      <a:r>
                        <a:rPr sz="1150" b="1">
                          <a:solidFill>
                            <a:srgbClr val="0F1E24"/>
                          </a:solidFill>
                          <a:latin typeface="Segoe UI"/>
                        </a:rPr>
                        <a:t>150</a:t>
                      </a:r>
                    </a:p>
                  </a:txBody>
                  <a:tcPr anchor="ctr" marL="118872" marR="118872" marT="0" marB="0">
                    <a:solidFill>
                      <a:srgbClr val="EDF2F0"/>
                    </a:solidFill>
                  </a:tcPr>
                </a:tc>
                <a:tc>
                  <a:txBody>
                    <a:bodyPr/>
                    <a:lstStyle/>
                    <a:p>
                      <a:pPr algn="r"/>
                      <a:r>
                        <a:rPr sz="1150" b="1">
                          <a:solidFill>
                            <a:srgbClr val="0F1E24"/>
                          </a:solidFill>
                          <a:latin typeface="Consolas"/>
                        </a:rPr>
                        <a:t>2</a:t>
                      </a:r>
                    </a:p>
                  </a:txBody>
                  <a:tcPr anchor="ctr" marL="118872" marR="118872" marT="0" marB="0">
                    <a:solidFill>
                      <a:srgbClr val="EDF2F0"/>
                    </a:solidFill>
                  </a:tcPr>
                </a:tc>
                <a:tc>
                  <a:txBody>
                    <a:bodyPr/>
                    <a:lstStyle/>
                    <a:p>
                      <a:pPr algn="r"/>
                      <a:r>
                        <a:rPr sz="1150" b="1">
                          <a:solidFill>
                            <a:srgbClr val="0F1E24"/>
                          </a:solidFill>
                          <a:latin typeface="Consolas"/>
                        </a:rPr>
                        <a:t>$28,143</a:t>
                      </a:r>
                    </a:p>
                  </a:txBody>
                  <a:tcPr anchor="ctr" marL="118872" marR="118872" marT="0" marB="0">
                    <a:solidFill>
                      <a:srgbClr val="EDF2F0"/>
                    </a:solidFill>
                  </a:tcPr>
                </a:tc>
                <a:tc>
                  <a:txBody>
                    <a:bodyPr/>
                    <a:lstStyle/>
                    <a:p>
                      <a:pPr algn="r"/>
                      <a:r>
                        <a:rPr sz="1150" b="1">
                          <a:solidFill>
                            <a:srgbClr val="0F1E24"/>
                          </a:solidFill>
                          <a:latin typeface="Consolas"/>
                        </a:rPr>
                        <a:t>$31,104</a:t>
                      </a:r>
                    </a:p>
                  </a:txBody>
                  <a:tcPr anchor="ctr" marL="118872" marR="118872" marT="0" marB="0">
                    <a:solidFill>
                      <a:srgbClr val="EDF2F0"/>
                    </a:solidFill>
                  </a:tcPr>
                </a:tc>
                <a:tc>
                  <a:txBody>
                    <a:bodyPr/>
                    <a:lstStyle/>
                    <a:p>
                      <a:pPr algn="l"/>
                      <a:r>
                        <a:rPr sz="1150" b="1">
                          <a:solidFill>
                            <a:srgbClr val="0F1E24"/>
                          </a:solidFill>
                          <a:latin typeface="Segoe UI"/>
                        </a:rPr>
                        <a:t>Owned — first crossover</a:t>
                      </a:r>
                    </a:p>
                  </a:txBody>
                  <a:tcPr anchor="ctr" marL="118872" marR="118872" marT="0" marB="0">
                    <a:solidFill>
                      <a:srgbClr val="EDF2F0"/>
                    </a:solidFill>
                  </a:tcPr>
                </a:tc>
              </a:tr>
            </a:tbl>
          </a:graphicData>
        </a:graphic>
      </p:graphicFrame>
      <p:sp>
        <p:nvSpPr>
          <p:cNvPr id="8" name="Rounded Rectangle 7"/>
          <p:cNvSpPr/>
          <p:nvPr/>
        </p:nvSpPr>
        <p:spPr>
          <a:xfrm>
            <a:off x="713232" y="4206240"/>
            <a:ext cx="10765231" cy="169164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13232" y="4261104"/>
            <a:ext cx="38100" cy="1581912"/>
          </a:xfrm>
          <a:prstGeom prst="rect">
            <a:avLst/>
          </a:prstGeom>
          <a:solidFill>
            <a:srgbClr val="A45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4389120"/>
            <a:ext cx="10216591" cy="320040"/>
          </a:xfrm>
          <a:prstGeom prst="rect">
            <a:avLst/>
          </a:prstGeom>
          <a:noFill/>
        </p:spPr>
        <p:txBody>
          <a:bodyPr wrap="square" lIns="0" rIns="0" tIns="0" bIns="0">
            <a:spAutoFit/>
          </a:bodyPr>
          <a:lstStyle/>
          <a:p>
            <a:pPr algn="l">
              <a:lnSpc>
                <a:spcPct val="125000"/>
              </a:lnSpc>
            </a:pPr>
            <a:r>
              <a:rPr sz="1500" b="1">
                <a:solidFill>
                  <a:srgbClr val="0F1E24"/>
                </a:solidFill>
                <a:latin typeface="Georgia"/>
              </a:rPr>
              <a:t>Why the crossover sits so far out</a:t>
            </a:r>
          </a:p>
        </p:txBody>
      </p:sp>
      <p:sp>
        <p:nvSpPr>
          <p:cNvPr id="11" name="TextBox 10"/>
          <p:cNvSpPr txBox="1"/>
          <p:nvPr/>
        </p:nvSpPr>
        <p:spPr>
          <a:xfrm>
            <a:off x="969264" y="4773168"/>
            <a:ext cx="10216591" cy="960120"/>
          </a:xfrm>
          <a:prstGeom prst="rect">
            <a:avLst/>
          </a:prstGeom>
          <a:noFill/>
        </p:spPr>
        <p:txBody>
          <a:bodyPr wrap="square" lIns="0" rIns="0" tIns="0" bIns="0">
            <a:spAutoFit/>
          </a:bodyPr>
          <a:lstStyle/>
          <a:p>
            <a:pPr algn="l">
              <a:lnSpc>
                <a:spcPct val="135000"/>
              </a:lnSpc>
            </a:pPr>
            <a:r>
              <a:rPr sz="1200" b="0">
                <a:solidFill>
                  <a:srgbClr val="3D5259"/>
                </a:solidFill>
                <a:latin typeface="Segoe UI"/>
              </a:rPr>
              <a:t>Hosted inference is priced aggressively enough that owning loses on a three-year view at every scale we are planning for. Capacity also arrives in whole GPUs, so the second build sits mostly idle from client 86 to 150. Three factors push the crossover further still and are not in the table: GPU import duty, generator backup for genuine 24/7 uptime, and the engineering time to operate a cluster rather than consume an API.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548640" cy="274320"/>
          </a:xfrm>
          <a:prstGeom prst="rect">
            <a:avLst/>
          </a:prstGeom>
          <a:noFill/>
        </p:spPr>
        <p:txBody>
          <a:bodyPr wrap="square" lIns="0" rIns="0" tIns="0" bIns="0">
            <a:spAutoFit/>
          </a:bodyPr>
          <a:lstStyle/>
          <a:p>
            <a:pPr algn="l">
              <a:lnSpc>
                <a:spcPct val="125000"/>
              </a:lnSpc>
            </a:pPr>
            <a:r>
              <a:rPr sz="1100" b="1" spc="130">
                <a:solidFill>
                  <a:srgbClr val="0B6E5B"/>
                </a:solidFill>
                <a:latin typeface="Consolas"/>
              </a:rPr>
              <a:t>09</a:t>
            </a:r>
          </a:p>
        </p:txBody>
      </p:sp>
      <p:sp>
        <p:nvSpPr>
          <p:cNvPr id="4" name="TextBox 3"/>
          <p:cNvSpPr txBox="1"/>
          <p:nvPr/>
        </p:nvSpPr>
        <p:spPr>
          <a:xfrm>
            <a:off x="1188720" y="457200"/>
            <a:ext cx="8229600" cy="274320"/>
          </a:xfrm>
          <a:prstGeom prst="rect">
            <a:avLst/>
          </a:prstGeom>
          <a:noFill/>
        </p:spPr>
        <p:txBody>
          <a:bodyPr wrap="square" lIns="0" rIns="0" tIns="0" bIns="0">
            <a:spAutoFit/>
          </a:bodyPr>
          <a:lstStyle/>
          <a:p>
            <a:pPr algn="l">
              <a:lnSpc>
                <a:spcPct val="125000"/>
              </a:lnSpc>
            </a:pPr>
            <a:r>
              <a:rPr sz="1100" b="0" spc="130">
                <a:solidFill>
                  <a:srgbClr val="6B8087"/>
                </a:solidFill>
                <a:latin typeface="Consolas"/>
              </a:rPr>
              <a:t>RECOMMENDATION</a:t>
            </a:r>
          </a:p>
        </p:txBody>
      </p:sp>
      <p:sp>
        <p:nvSpPr>
          <p:cNvPr id="5" name="TextBox 4"/>
          <p:cNvSpPr txBox="1"/>
          <p:nvPr/>
        </p:nvSpPr>
        <p:spPr>
          <a:xfrm>
            <a:off x="713232" y="868680"/>
            <a:ext cx="10765231" cy="914400"/>
          </a:xfrm>
          <a:prstGeom prst="rect">
            <a:avLst/>
          </a:prstGeom>
          <a:noFill/>
        </p:spPr>
        <p:txBody>
          <a:bodyPr wrap="square" lIns="0" rIns="0" tIns="0" bIns="0">
            <a:spAutoFit/>
          </a:bodyPr>
          <a:lstStyle/>
          <a:p>
            <a:pPr algn="l">
              <a:lnSpc>
                <a:spcPct val="106000"/>
              </a:lnSpc>
            </a:pPr>
            <a:r>
              <a:rPr sz="3000" b="1">
                <a:solidFill>
                  <a:srgbClr val="0F1E24"/>
                </a:solidFill>
                <a:latin typeface="Georgia"/>
              </a:rPr>
              <a:t>Buy tokens now, buy hardware later</a:t>
            </a:r>
          </a:p>
        </p:txBody>
      </p:sp>
      <p:sp>
        <p:nvSpPr>
          <p:cNvPr id="6" name="Rounded Rectangle 5"/>
          <p:cNvSpPr/>
          <p:nvPr/>
        </p:nvSpPr>
        <p:spPr>
          <a:xfrm>
            <a:off x="713232" y="1965960"/>
            <a:ext cx="5394960" cy="393192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87552" y="2194560"/>
            <a:ext cx="4846320" cy="274320"/>
          </a:xfrm>
          <a:prstGeom prst="rect">
            <a:avLst/>
          </a:prstGeom>
          <a:noFill/>
        </p:spPr>
        <p:txBody>
          <a:bodyPr wrap="square" lIns="0" rIns="0" tIns="0" bIns="0">
            <a:spAutoFit/>
          </a:bodyPr>
          <a:lstStyle/>
          <a:p>
            <a:pPr algn="l">
              <a:lnSpc>
                <a:spcPct val="125000"/>
              </a:lnSpc>
            </a:pPr>
            <a:r>
              <a:rPr sz="950" b="1" spc="120">
                <a:solidFill>
                  <a:srgbClr val="1F7A4D"/>
                </a:solidFill>
                <a:latin typeface="Consolas"/>
              </a:rPr>
              <a:t>NOW — TO 100 CLIENTS</a:t>
            </a:r>
          </a:p>
        </p:txBody>
      </p:sp>
      <p:sp>
        <p:nvSpPr>
          <p:cNvPr id="8" name="TextBox 7"/>
          <p:cNvSpPr txBox="1"/>
          <p:nvPr/>
        </p:nvSpPr>
        <p:spPr>
          <a:xfrm>
            <a:off x="987552" y="2514600"/>
            <a:ext cx="4846320" cy="365760"/>
          </a:xfrm>
          <a:prstGeom prst="rect">
            <a:avLst/>
          </a:prstGeom>
          <a:noFill/>
        </p:spPr>
        <p:txBody>
          <a:bodyPr wrap="square" lIns="0" rIns="0" tIns="0" bIns="0">
            <a:spAutoFit/>
          </a:bodyPr>
          <a:lstStyle/>
          <a:p>
            <a:pPr algn="l">
              <a:lnSpc>
                <a:spcPct val="125000"/>
              </a:lnSpc>
            </a:pPr>
            <a:r>
              <a:rPr sz="1800" b="1">
                <a:solidFill>
                  <a:srgbClr val="0F1E24"/>
                </a:solidFill>
                <a:latin typeface="Georgia"/>
              </a:rPr>
              <a:t>Hosted APIs only</a:t>
            </a:r>
          </a:p>
        </p:txBody>
      </p:sp>
      <p:sp>
        <p:nvSpPr>
          <p:cNvPr id="9" name="TextBox 8"/>
          <p:cNvSpPr txBox="1"/>
          <p:nvPr/>
        </p:nvSpPr>
        <p:spPr>
          <a:xfrm>
            <a:off x="987552" y="3017520"/>
            <a:ext cx="4846320" cy="731520"/>
          </a:xfrm>
          <a:prstGeom prst="rect">
            <a:avLst/>
          </a:prstGeom>
          <a:noFill/>
        </p:spPr>
        <p:txBody>
          <a:bodyPr wrap="square" lIns="0" rIns="0" tIns="0" bIns="0">
            <a:spAutoFit/>
          </a:bodyPr>
          <a:lstStyle/>
          <a:p>
            <a:pPr algn="l">
              <a:lnSpc>
                <a:spcPct val="135000"/>
              </a:lnSpc>
            </a:pPr>
            <a:r>
              <a:rPr sz="1200" b="0">
                <a:solidFill>
                  <a:srgbClr val="3D5259"/>
                </a:solidFill>
                <a:latin typeface="Segoe UI"/>
              </a:rPr>
              <a:t>Cheapest on every horizon we can see, needs no capital, and scales in increments of one message rather than one GPU.</a:t>
            </a:r>
          </a:p>
        </p:txBody>
      </p:sp>
      <p:sp>
        <p:nvSpPr>
          <p:cNvPr id="10" name="TextBox 9"/>
          <p:cNvSpPr txBox="1"/>
          <p:nvPr/>
        </p:nvSpPr>
        <p:spPr>
          <a:xfrm>
            <a:off x="987552" y="3886200"/>
            <a:ext cx="228600" cy="274320"/>
          </a:xfrm>
          <a:prstGeom prst="rect">
            <a:avLst/>
          </a:prstGeom>
          <a:noFill/>
        </p:spPr>
        <p:txBody>
          <a:bodyPr wrap="square" lIns="0" rIns="0" tIns="0" bIns="0">
            <a:spAutoFit/>
          </a:bodyPr>
          <a:lstStyle/>
          <a:p>
            <a:pPr algn="l">
              <a:lnSpc>
                <a:spcPct val="125000"/>
              </a:lnSpc>
            </a:pPr>
            <a:r>
              <a:rPr sz="1100" b="0">
                <a:solidFill>
                  <a:srgbClr val="1F7A4D"/>
                </a:solidFill>
                <a:latin typeface="Consolas"/>
              </a:rPr>
              <a:t>—</a:t>
            </a:r>
          </a:p>
        </p:txBody>
      </p:sp>
      <p:sp>
        <p:nvSpPr>
          <p:cNvPr id="11" name="TextBox 10"/>
          <p:cNvSpPr txBox="1"/>
          <p:nvPr/>
        </p:nvSpPr>
        <p:spPr>
          <a:xfrm>
            <a:off x="1243584" y="3886200"/>
            <a:ext cx="4572000" cy="365760"/>
          </a:xfrm>
          <a:prstGeom prst="rect">
            <a:avLst/>
          </a:prstGeom>
          <a:noFill/>
        </p:spPr>
        <p:txBody>
          <a:bodyPr wrap="square" lIns="0" rIns="0" tIns="0" bIns="0">
            <a:spAutoFit/>
          </a:bodyPr>
          <a:lstStyle/>
          <a:p>
            <a:pPr algn="l">
              <a:lnSpc>
                <a:spcPct val="125000"/>
              </a:lnSpc>
            </a:pPr>
            <a:r>
              <a:rPr sz="1150" b="0">
                <a:solidFill>
                  <a:srgbClr val="3D5259"/>
                </a:solidFill>
                <a:latin typeface="Segoe UI"/>
              </a:rPr>
              <a:t>No capex, no depreciation, no idle capacity</a:t>
            </a:r>
          </a:p>
        </p:txBody>
      </p:sp>
      <p:sp>
        <p:nvSpPr>
          <p:cNvPr id="12" name="TextBox 11"/>
          <p:cNvSpPr txBox="1"/>
          <p:nvPr/>
        </p:nvSpPr>
        <p:spPr>
          <a:xfrm>
            <a:off x="987552" y="4306824"/>
            <a:ext cx="228600" cy="274320"/>
          </a:xfrm>
          <a:prstGeom prst="rect">
            <a:avLst/>
          </a:prstGeom>
          <a:noFill/>
        </p:spPr>
        <p:txBody>
          <a:bodyPr wrap="square" lIns="0" rIns="0" tIns="0" bIns="0">
            <a:spAutoFit/>
          </a:bodyPr>
          <a:lstStyle/>
          <a:p>
            <a:pPr algn="l">
              <a:lnSpc>
                <a:spcPct val="125000"/>
              </a:lnSpc>
            </a:pPr>
            <a:r>
              <a:rPr sz="1100" b="0">
                <a:solidFill>
                  <a:srgbClr val="1F7A4D"/>
                </a:solidFill>
                <a:latin typeface="Consolas"/>
              </a:rPr>
              <a:t>—</a:t>
            </a:r>
          </a:p>
        </p:txBody>
      </p:sp>
      <p:sp>
        <p:nvSpPr>
          <p:cNvPr id="13" name="TextBox 12"/>
          <p:cNvSpPr txBox="1"/>
          <p:nvPr/>
        </p:nvSpPr>
        <p:spPr>
          <a:xfrm>
            <a:off x="1243584" y="4306824"/>
            <a:ext cx="4572000" cy="365760"/>
          </a:xfrm>
          <a:prstGeom prst="rect">
            <a:avLst/>
          </a:prstGeom>
          <a:noFill/>
        </p:spPr>
        <p:txBody>
          <a:bodyPr wrap="square" lIns="0" rIns="0" tIns="0" bIns="0">
            <a:spAutoFit/>
          </a:bodyPr>
          <a:lstStyle/>
          <a:p>
            <a:pPr algn="l">
              <a:lnSpc>
                <a:spcPct val="125000"/>
              </a:lnSpc>
            </a:pPr>
            <a:r>
              <a:rPr sz="1150" b="0">
                <a:solidFill>
                  <a:srgbClr val="3D5259"/>
                </a:solidFill>
                <a:latin typeface="Segoe UI"/>
              </a:rPr>
              <a:t>Cost falls automatically as providers cut prices</a:t>
            </a:r>
          </a:p>
        </p:txBody>
      </p:sp>
      <p:sp>
        <p:nvSpPr>
          <p:cNvPr id="14" name="TextBox 13"/>
          <p:cNvSpPr txBox="1"/>
          <p:nvPr/>
        </p:nvSpPr>
        <p:spPr>
          <a:xfrm>
            <a:off x="987552" y="4727448"/>
            <a:ext cx="228600" cy="274320"/>
          </a:xfrm>
          <a:prstGeom prst="rect">
            <a:avLst/>
          </a:prstGeom>
          <a:noFill/>
        </p:spPr>
        <p:txBody>
          <a:bodyPr wrap="square" lIns="0" rIns="0" tIns="0" bIns="0">
            <a:spAutoFit/>
          </a:bodyPr>
          <a:lstStyle/>
          <a:p>
            <a:pPr algn="l">
              <a:lnSpc>
                <a:spcPct val="125000"/>
              </a:lnSpc>
            </a:pPr>
            <a:r>
              <a:rPr sz="1100" b="0">
                <a:solidFill>
                  <a:srgbClr val="1F7A4D"/>
                </a:solidFill>
                <a:latin typeface="Consolas"/>
              </a:rPr>
              <a:t>—</a:t>
            </a:r>
          </a:p>
        </p:txBody>
      </p:sp>
      <p:sp>
        <p:nvSpPr>
          <p:cNvPr id="15" name="TextBox 14"/>
          <p:cNvSpPr txBox="1"/>
          <p:nvPr/>
        </p:nvSpPr>
        <p:spPr>
          <a:xfrm>
            <a:off x="1243584" y="4727448"/>
            <a:ext cx="4572000" cy="365760"/>
          </a:xfrm>
          <a:prstGeom prst="rect">
            <a:avLst/>
          </a:prstGeom>
          <a:noFill/>
        </p:spPr>
        <p:txBody>
          <a:bodyPr wrap="square" lIns="0" rIns="0" tIns="0" bIns="0">
            <a:spAutoFit/>
          </a:bodyPr>
          <a:lstStyle/>
          <a:p>
            <a:pPr algn="l">
              <a:lnSpc>
                <a:spcPct val="125000"/>
              </a:lnSpc>
            </a:pPr>
            <a:r>
              <a:rPr sz="1150" b="0">
                <a:solidFill>
                  <a:srgbClr val="3D5259"/>
                </a:solidFill>
                <a:latin typeface="Segoe UI"/>
              </a:rPr>
              <a:t>Self-hosted model retained as offline fallback only</a:t>
            </a:r>
          </a:p>
        </p:txBody>
      </p:sp>
      <p:sp>
        <p:nvSpPr>
          <p:cNvPr id="16" name="TextBox 15"/>
          <p:cNvSpPr txBox="1"/>
          <p:nvPr/>
        </p:nvSpPr>
        <p:spPr>
          <a:xfrm>
            <a:off x="987552" y="5148072"/>
            <a:ext cx="228600" cy="274320"/>
          </a:xfrm>
          <a:prstGeom prst="rect">
            <a:avLst/>
          </a:prstGeom>
          <a:noFill/>
        </p:spPr>
        <p:txBody>
          <a:bodyPr wrap="square" lIns="0" rIns="0" tIns="0" bIns="0">
            <a:spAutoFit/>
          </a:bodyPr>
          <a:lstStyle/>
          <a:p>
            <a:pPr algn="l">
              <a:lnSpc>
                <a:spcPct val="125000"/>
              </a:lnSpc>
            </a:pPr>
            <a:r>
              <a:rPr sz="1100" b="0">
                <a:solidFill>
                  <a:srgbClr val="1F7A4D"/>
                </a:solidFill>
                <a:latin typeface="Consolas"/>
              </a:rPr>
              <a:t>—</a:t>
            </a:r>
          </a:p>
        </p:txBody>
      </p:sp>
      <p:sp>
        <p:nvSpPr>
          <p:cNvPr id="17" name="TextBox 16"/>
          <p:cNvSpPr txBox="1"/>
          <p:nvPr/>
        </p:nvSpPr>
        <p:spPr>
          <a:xfrm>
            <a:off x="1243584" y="5148072"/>
            <a:ext cx="4572000" cy="365760"/>
          </a:xfrm>
          <a:prstGeom prst="rect">
            <a:avLst/>
          </a:prstGeom>
          <a:noFill/>
        </p:spPr>
        <p:txBody>
          <a:bodyPr wrap="square" lIns="0" rIns="0" tIns="0" bIns="0">
            <a:spAutoFit/>
          </a:bodyPr>
          <a:lstStyle/>
          <a:p>
            <a:pPr algn="l">
              <a:lnSpc>
                <a:spcPct val="125000"/>
              </a:lnSpc>
            </a:pPr>
            <a:r>
              <a:rPr sz="1150" b="0">
                <a:solidFill>
                  <a:srgbClr val="3D5259"/>
                </a:solidFill>
                <a:latin typeface="Segoe UI"/>
              </a:rPr>
              <a:t>Growth never gated on a purchase or delivery date</a:t>
            </a:r>
          </a:p>
        </p:txBody>
      </p:sp>
      <p:sp>
        <p:nvSpPr>
          <p:cNvPr id="18" name="Rounded Rectangle 17"/>
          <p:cNvSpPr/>
          <p:nvPr/>
        </p:nvSpPr>
        <p:spPr>
          <a:xfrm>
            <a:off x="6364224" y="1965960"/>
            <a:ext cx="5394960" cy="393192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638544" y="2194560"/>
            <a:ext cx="4846320" cy="274320"/>
          </a:xfrm>
          <a:prstGeom prst="rect">
            <a:avLst/>
          </a:prstGeom>
          <a:noFill/>
        </p:spPr>
        <p:txBody>
          <a:bodyPr wrap="square" lIns="0" rIns="0" tIns="0" bIns="0">
            <a:spAutoFit/>
          </a:bodyPr>
          <a:lstStyle/>
          <a:p>
            <a:pPr algn="l">
              <a:lnSpc>
                <a:spcPct val="125000"/>
              </a:lnSpc>
            </a:pPr>
            <a:r>
              <a:rPr sz="950" b="1" spc="120">
                <a:solidFill>
                  <a:srgbClr val="A45B14"/>
                </a:solidFill>
                <a:latin typeface="Consolas"/>
              </a:rPr>
              <a:t>REVISIT AT 150+ CLIENTS</a:t>
            </a:r>
          </a:p>
        </p:txBody>
      </p:sp>
      <p:sp>
        <p:nvSpPr>
          <p:cNvPr id="20" name="TextBox 19"/>
          <p:cNvSpPr txBox="1"/>
          <p:nvPr/>
        </p:nvSpPr>
        <p:spPr>
          <a:xfrm>
            <a:off x="6638544" y="2514600"/>
            <a:ext cx="4846320" cy="365760"/>
          </a:xfrm>
          <a:prstGeom prst="rect">
            <a:avLst/>
          </a:prstGeom>
          <a:noFill/>
        </p:spPr>
        <p:txBody>
          <a:bodyPr wrap="square" lIns="0" rIns="0" tIns="0" bIns="0">
            <a:spAutoFit/>
          </a:bodyPr>
          <a:lstStyle/>
          <a:p>
            <a:pPr algn="l">
              <a:lnSpc>
                <a:spcPct val="125000"/>
              </a:lnSpc>
            </a:pPr>
            <a:r>
              <a:rPr sz="1800" b="1">
                <a:solidFill>
                  <a:srgbClr val="0F1E24"/>
                </a:solidFill>
                <a:latin typeface="Georgia"/>
              </a:rPr>
              <a:t>Owned hardware for base load</a:t>
            </a:r>
          </a:p>
        </p:txBody>
      </p:sp>
      <p:sp>
        <p:nvSpPr>
          <p:cNvPr id="21" name="TextBox 20"/>
          <p:cNvSpPr txBox="1"/>
          <p:nvPr/>
        </p:nvSpPr>
        <p:spPr>
          <a:xfrm>
            <a:off x="6638544" y="3017520"/>
            <a:ext cx="4846320" cy="731520"/>
          </a:xfrm>
          <a:prstGeom prst="rect">
            <a:avLst/>
          </a:prstGeom>
          <a:noFill/>
        </p:spPr>
        <p:txBody>
          <a:bodyPr wrap="square" lIns="0" rIns="0" tIns="0" bIns="0">
            <a:spAutoFit/>
          </a:bodyPr>
          <a:lstStyle/>
          <a:p>
            <a:pPr algn="l">
              <a:lnSpc>
                <a:spcPct val="135000"/>
              </a:lnSpc>
            </a:pPr>
            <a:r>
              <a:rPr sz="1200" b="0">
                <a:solidFill>
                  <a:srgbClr val="3D5259"/>
                </a:solidFill>
                <a:latin typeface="Segoe UI"/>
              </a:rPr>
              <a:t>Once volume keeps a machine saturated, owning the predictable base load and bursting to the API for peaks becomes cheaper.</a:t>
            </a:r>
          </a:p>
        </p:txBody>
      </p:sp>
      <p:sp>
        <p:nvSpPr>
          <p:cNvPr id="22" name="TextBox 21"/>
          <p:cNvSpPr txBox="1"/>
          <p:nvPr/>
        </p:nvSpPr>
        <p:spPr>
          <a:xfrm>
            <a:off x="6638544" y="3886200"/>
            <a:ext cx="228600" cy="274320"/>
          </a:xfrm>
          <a:prstGeom prst="rect">
            <a:avLst/>
          </a:prstGeom>
          <a:noFill/>
        </p:spPr>
        <p:txBody>
          <a:bodyPr wrap="square" lIns="0" rIns="0" tIns="0" bIns="0">
            <a:spAutoFit/>
          </a:bodyPr>
          <a:lstStyle/>
          <a:p>
            <a:pPr algn="l">
              <a:lnSpc>
                <a:spcPct val="125000"/>
              </a:lnSpc>
            </a:pPr>
            <a:r>
              <a:rPr sz="1100" b="0">
                <a:solidFill>
                  <a:srgbClr val="A45B14"/>
                </a:solidFill>
                <a:latin typeface="Consolas"/>
              </a:rPr>
              <a:t>—</a:t>
            </a:r>
          </a:p>
        </p:txBody>
      </p:sp>
      <p:sp>
        <p:nvSpPr>
          <p:cNvPr id="23" name="TextBox 22"/>
          <p:cNvSpPr txBox="1"/>
          <p:nvPr/>
        </p:nvSpPr>
        <p:spPr>
          <a:xfrm>
            <a:off x="6894576" y="3886200"/>
            <a:ext cx="4572000" cy="365760"/>
          </a:xfrm>
          <a:prstGeom prst="rect">
            <a:avLst/>
          </a:prstGeom>
          <a:noFill/>
        </p:spPr>
        <p:txBody>
          <a:bodyPr wrap="square" lIns="0" rIns="0" tIns="0" bIns="0">
            <a:spAutoFit/>
          </a:bodyPr>
          <a:lstStyle/>
          <a:p>
            <a:pPr algn="l">
              <a:lnSpc>
                <a:spcPct val="125000"/>
              </a:lnSpc>
            </a:pPr>
            <a:r>
              <a:rPr sz="1150" b="0">
                <a:solidFill>
                  <a:srgbClr val="3D5259"/>
                </a:solidFill>
                <a:latin typeface="Segoe UI"/>
              </a:rPr>
              <a:t>Requires production token telemetry to size correctly</a:t>
            </a:r>
          </a:p>
        </p:txBody>
      </p:sp>
      <p:sp>
        <p:nvSpPr>
          <p:cNvPr id="24" name="TextBox 23"/>
          <p:cNvSpPr txBox="1"/>
          <p:nvPr/>
        </p:nvSpPr>
        <p:spPr>
          <a:xfrm>
            <a:off x="6638544" y="4306824"/>
            <a:ext cx="228600" cy="274320"/>
          </a:xfrm>
          <a:prstGeom prst="rect">
            <a:avLst/>
          </a:prstGeom>
          <a:noFill/>
        </p:spPr>
        <p:txBody>
          <a:bodyPr wrap="square" lIns="0" rIns="0" tIns="0" bIns="0">
            <a:spAutoFit/>
          </a:bodyPr>
          <a:lstStyle/>
          <a:p>
            <a:pPr algn="l">
              <a:lnSpc>
                <a:spcPct val="125000"/>
              </a:lnSpc>
            </a:pPr>
            <a:r>
              <a:rPr sz="1100" b="0">
                <a:solidFill>
                  <a:srgbClr val="A45B14"/>
                </a:solidFill>
                <a:latin typeface="Consolas"/>
              </a:rPr>
              <a:t>—</a:t>
            </a:r>
          </a:p>
        </p:txBody>
      </p:sp>
      <p:sp>
        <p:nvSpPr>
          <p:cNvPr id="25" name="TextBox 24"/>
          <p:cNvSpPr txBox="1"/>
          <p:nvPr/>
        </p:nvSpPr>
        <p:spPr>
          <a:xfrm>
            <a:off x="6894576" y="4306824"/>
            <a:ext cx="4572000" cy="365760"/>
          </a:xfrm>
          <a:prstGeom prst="rect">
            <a:avLst/>
          </a:prstGeom>
          <a:noFill/>
        </p:spPr>
        <p:txBody>
          <a:bodyPr wrap="square" lIns="0" rIns="0" tIns="0" bIns="0">
            <a:spAutoFit/>
          </a:bodyPr>
          <a:lstStyle/>
          <a:p>
            <a:pPr algn="l">
              <a:lnSpc>
                <a:spcPct val="125000"/>
              </a:lnSpc>
            </a:pPr>
            <a:r>
              <a:rPr sz="1150" b="0">
                <a:solidFill>
                  <a:srgbClr val="3D5259"/>
                </a:solidFill>
                <a:latin typeface="Segoe UI"/>
              </a:rPr>
              <a:t>Needs generator-backed power for real 24/7 uptime</a:t>
            </a:r>
          </a:p>
        </p:txBody>
      </p:sp>
      <p:sp>
        <p:nvSpPr>
          <p:cNvPr id="26" name="TextBox 25"/>
          <p:cNvSpPr txBox="1"/>
          <p:nvPr/>
        </p:nvSpPr>
        <p:spPr>
          <a:xfrm>
            <a:off x="6638544" y="4727448"/>
            <a:ext cx="228600" cy="274320"/>
          </a:xfrm>
          <a:prstGeom prst="rect">
            <a:avLst/>
          </a:prstGeom>
          <a:noFill/>
        </p:spPr>
        <p:txBody>
          <a:bodyPr wrap="square" lIns="0" rIns="0" tIns="0" bIns="0">
            <a:spAutoFit/>
          </a:bodyPr>
          <a:lstStyle/>
          <a:p>
            <a:pPr algn="l">
              <a:lnSpc>
                <a:spcPct val="125000"/>
              </a:lnSpc>
            </a:pPr>
            <a:r>
              <a:rPr sz="1100" b="0">
                <a:solidFill>
                  <a:srgbClr val="A45B14"/>
                </a:solidFill>
                <a:latin typeface="Consolas"/>
              </a:rPr>
              <a:t>—</a:t>
            </a:r>
          </a:p>
        </p:txBody>
      </p:sp>
      <p:sp>
        <p:nvSpPr>
          <p:cNvPr id="27" name="TextBox 26"/>
          <p:cNvSpPr txBox="1"/>
          <p:nvPr/>
        </p:nvSpPr>
        <p:spPr>
          <a:xfrm>
            <a:off x="6894576" y="4727448"/>
            <a:ext cx="4572000" cy="365760"/>
          </a:xfrm>
          <a:prstGeom prst="rect">
            <a:avLst/>
          </a:prstGeom>
          <a:noFill/>
        </p:spPr>
        <p:txBody>
          <a:bodyPr wrap="square" lIns="0" rIns="0" tIns="0" bIns="0">
            <a:spAutoFit/>
          </a:bodyPr>
          <a:lstStyle/>
          <a:p>
            <a:pPr algn="l">
              <a:lnSpc>
                <a:spcPct val="125000"/>
              </a:lnSpc>
            </a:pPr>
            <a:r>
              <a:rPr sz="1150" b="0">
                <a:solidFill>
                  <a:srgbClr val="3D5259"/>
                </a:solidFill>
                <a:latin typeface="Segoe UI"/>
              </a:rPr>
              <a:t>Adds an operations role the API model does not</a:t>
            </a:r>
          </a:p>
        </p:txBody>
      </p:sp>
      <p:sp>
        <p:nvSpPr>
          <p:cNvPr id="28" name="TextBox 27"/>
          <p:cNvSpPr txBox="1"/>
          <p:nvPr/>
        </p:nvSpPr>
        <p:spPr>
          <a:xfrm>
            <a:off x="6638544" y="5148072"/>
            <a:ext cx="228600" cy="274320"/>
          </a:xfrm>
          <a:prstGeom prst="rect">
            <a:avLst/>
          </a:prstGeom>
          <a:noFill/>
        </p:spPr>
        <p:txBody>
          <a:bodyPr wrap="square" lIns="0" rIns="0" tIns="0" bIns="0">
            <a:spAutoFit/>
          </a:bodyPr>
          <a:lstStyle/>
          <a:p>
            <a:pPr algn="l">
              <a:lnSpc>
                <a:spcPct val="125000"/>
              </a:lnSpc>
            </a:pPr>
            <a:r>
              <a:rPr sz="1100" b="0">
                <a:solidFill>
                  <a:srgbClr val="A45B14"/>
                </a:solidFill>
                <a:latin typeface="Consolas"/>
              </a:rPr>
              <a:t>—</a:t>
            </a:r>
          </a:p>
        </p:txBody>
      </p:sp>
      <p:sp>
        <p:nvSpPr>
          <p:cNvPr id="29" name="TextBox 28"/>
          <p:cNvSpPr txBox="1"/>
          <p:nvPr/>
        </p:nvSpPr>
        <p:spPr>
          <a:xfrm>
            <a:off x="6894576" y="5148072"/>
            <a:ext cx="4572000" cy="365760"/>
          </a:xfrm>
          <a:prstGeom prst="rect">
            <a:avLst/>
          </a:prstGeom>
          <a:noFill/>
        </p:spPr>
        <p:txBody>
          <a:bodyPr wrap="square" lIns="0" rIns="0" tIns="0" bIns="0">
            <a:spAutoFit/>
          </a:bodyPr>
          <a:lstStyle/>
          <a:p>
            <a:pPr algn="l">
              <a:lnSpc>
                <a:spcPct val="125000"/>
              </a:lnSpc>
            </a:pPr>
            <a:r>
              <a:rPr sz="1150" b="0">
                <a:solidFill>
                  <a:srgbClr val="3D5259"/>
                </a:solidFill>
                <a:latin typeface="Segoe UI"/>
              </a:rPr>
              <a:t>Decision made on measured traffic, not forecast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548640" cy="274320"/>
          </a:xfrm>
          <a:prstGeom prst="rect">
            <a:avLst/>
          </a:prstGeom>
          <a:noFill/>
        </p:spPr>
        <p:txBody>
          <a:bodyPr wrap="square" lIns="0" rIns="0" tIns="0" bIns="0">
            <a:spAutoFit/>
          </a:bodyPr>
          <a:lstStyle/>
          <a:p>
            <a:pPr algn="l">
              <a:lnSpc>
                <a:spcPct val="125000"/>
              </a:lnSpc>
            </a:pPr>
            <a:r>
              <a:rPr sz="1100" b="1" spc="130">
                <a:solidFill>
                  <a:srgbClr val="0B6E5B"/>
                </a:solidFill>
                <a:latin typeface="Consolas"/>
              </a:rPr>
              <a:t>10</a:t>
            </a:r>
          </a:p>
        </p:txBody>
      </p:sp>
      <p:sp>
        <p:nvSpPr>
          <p:cNvPr id="4" name="TextBox 3"/>
          <p:cNvSpPr txBox="1"/>
          <p:nvPr/>
        </p:nvSpPr>
        <p:spPr>
          <a:xfrm>
            <a:off x="1188720" y="457200"/>
            <a:ext cx="8229600" cy="274320"/>
          </a:xfrm>
          <a:prstGeom prst="rect">
            <a:avLst/>
          </a:prstGeom>
          <a:noFill/>
        </p:spPr>
        <p:txBody>
          <a:bodyPr wrap="square" lIns="0" rIns="0" tIns="0" bIns="0">
            <a:spAutoFit/>
          </a:bodyPr>
          <a:lstStyle/>
          <a:p>
            <a:pPr algn="l">
              <a:lnSpc>
                <a:spcPct val="125000"/>
              </a:lnSpc>
            </a:pPr>
            <a:r>
              <a:rPr sz="1100" b="0" spc="130">
                <a:solidFill>
                  <a:srgbClr val="6B8087"/>
                </a:solidFill>
                <a:latin typeface="Consolas"/>
              </a:rPr>
              <a:t>PRICING</a:t>
            </a:r>
          </a:p>
        </p:txBody>
      </p:sp>
      <p:sp>
        <p:nvSpPr>
          <p:cNvPr id="5" name="TextBox 4"/>
          <p:cNvSpPr txBox="1"/>
          <p:nvPr/>
        </p:nvSpPr>
        <p:spPr>
          <a:xfrm>
            <a:off x="713232" y="868680"/>
            <a:ext cx="10765231" cy="914400"/>
          </a:xfrm>
          <a:prstGeom prst="rect">
            <a:avLst/>
          </a:prstGeom>
          <a:noFill/>
        </p:spPr>
        <p:txBody>
          <a:bodyPr wrap="square" lIns="0" rIns="0" tIns="0" bIns="0">
            <a:spAutoFit/>
          </a:bodyPr>
          <a:lstStyle/>
          <a:p>
            <a:pPr algn="l">
              <a:lnSpc>
                <a:spcPct val="106000"/>
              </a:lnSpc>
            </a:pPr>
            <a:r>
              <a:rPr sz="3000" b="1">
                <a:solidFill>
                  <a:srgbClr val="0F1E24"/>
                </a:solidFill>
                <a:latin typeface="Georgia"/>
              </a:rPr>
              <a:t>What each plan earns against what it costs to serve</a:t>
            </a:r>
          </a:p>
        </p:txBody>
      </p:sp>
      <p:sp>
        <p:nvSpPr>
          <p:cNvPr id="6" name="TextBox 5"/>
          <p:cNvSpPr txBox="1"/>
          <p:nvPr/>
        </p:nvSpPr>
        <p:spPr>
          <a:xfrm>
            <a:off x="713232" y="1572768"/>
            <a:ext cx="8778240" cy="822960"/>
          </a:xfrm>
          <a:prstGeom prst="rect">
            <a:avLst/>
          </a:prstGeom>
          <a:noFill/>
        </p:spPr>
        <p:txBody>
          <a:bodyPr wrap="square" lIns="0" rIns="0" tIns="0" bIns="0">
            <a:spAutoFit/>
          </a:bodyPr>
          <a:lstStyle/>
          <a:p>
            <a:pPr algn="l">
              <a:lnSpc>
                <a:spcPct val="140000"/>
              </a:lnSpc>
            </a:pPr>
            <a:r>
              <a:rPr sz="1300" b="0">
                <a:solidFill>
                  <a:srgbClr val="3D5259"/>
                </a:solidFill>
                <a:latin typeface="Segoe UI"/>
              </a:rPr>
              <a:t>Plan prices are illustrative and set commercially. What the cost model fixes is the floor: a client cannot cost more than a few dollars a month to serve.</a:t>
            </a:r>
          </a:p>
        </p:txBody>
      </p:sp>
      <p:graphicFrame>
        <p:nvGraphicFramePr>
          <p:cNvPr id="7" name="Table 6"/>
          <p:cNvGraphicFramePr>
            <a:graphicFrameLocks noGrp="1"/>
          </p:cNvGraphicFramePr>
          <p:nvPr/>
        </p:nvGraphicFramePr>
        <p:xfrm>
          <a:off x="713232" y="2606040"/>
          <a:ext cx="10762488" cy="1444752"/>
        </p:xfrm>
        <a:graphic>
          <a:graphicData uri="http://schemas.openxmlformats.org/drawingml/2006/table">
            <a:tbl>
              <a:tblPr>
                <a:tableStyleId>{5C22544A-7EE6-4342-B048-85BDC9FD1C3A}</a:tableStyleId>
              </a:tblPr>
              <a:tblGrid>
                <a:gridCol w="1600200"/>
                <a:gridCol w="1554480"/>
                <a:gridCol w="1554480"/>
                <a:gridCol w="4480560"/>
                <a:gridCol w="1572768"/>
              </a:tblGrid>
              <a:tr h="402336">
                <a:tc>
                  <a:txBody>
                    <a:bodyPr/>
                    <a:lstStyle/>
                    <a:p>
                      <a:pPr algn="l"/>
                      <a:r>
                        <a:rPr sz="950" b="1">
                          <a:solidFill>
                            <a:srgbClr val="6B8087"/>
                          </a:solidFill>
                          <a:latin typeface="Consolas"/>
                        </a:rPr>
                        <a:t>Plan</a:t>
                      </a:r>
                    </a:p>
                  </a:txBody>
                  <a:tcPr anchor="ctr" marL="118872" marR="118872" marT="0" marB="0">
                    <a:solidFill>
                      <a:srgbClr val="EDF2F0"/>
                    </a:solidFill>
                  </a:tcPr>
                </a:tc>
                <a:tc>
                  <a:txBody>
                    <a:bodyPr/>
                    <a:lstStyle/>
                    <a:p>
                      <a:pPr algn="r"/>
                      <a:r>
                        <a:rPr sz="950" b="1">
                          <a:solidFill>
                            <a:srgbClr val="6B8087"/>
                          </a:solidFill>
                          <a:latin typeface="Consolas"/>
                        </a:rPr>
                        <a:t>Price / mo</a:t>
                      </a:r>
                    </a:p>
                  </a:txBody>
                  <a:tcPr anchor="ctr" marL="118872" marR="118872" marT="0" marB="0">
                    <a:solidFill>
                      <a:srgbClr val="EDF2F0"/>
                    </a:solidFill>
                  </a:tcPr>
                </a:tc>
                <a:tc>
                  <a:txBody>
                    <a:bodyPr/>
                    <a:lstStyle/>
                    <a:p>
                      <a:pPr algn="r"/>
                      <a:r>
                        <a:rPr sz="950" b="1">
                          <a:solidFill>
                            <a:srgbClr val="6B8087"/>
                          </a:solidFill>
                          <a:latin typeface="Consolas"/>
                        </a:rPr>
                        <a:t>Messages</a:t>
                      </a:r>
                    </a:p>
                  </a:txBody>
                  <a:tcPr anchor="ctr" marL="118872" marR="118872" marT="0" marB="0">
                    <a:solidFill>
                      <a:srgbClr val="EDF2F0"/>
                    </a:solidFill>
                  </a:tcPr>
                </a:tc>
                <a:tc>
                  <a:txBody>
                    <a:bodyPr/>
                    <a:lstStyle/>
                    <a:p>
                      <a:pPr algn="l"/>
                      <a:r>
                        <a:rPr sz="950" b="1">
                          <a:solidFill>
                            <a:srgbClr val="6B8087"/>
                          </a:solidFill>
                          <a:latin typeface="Consolas"/>
                        </a:rPr>
                        <a:t>Channels and brain</a:t>
                      </a:r>
                    </a:p>
                  </a:txBody>
                  <a:tcPr anchor="ctr" marL="118872" marR="118872" marT="0" marB="0">
                    <a:solidFill>
                      <a:srgbClr val="EDF2F0"/>
                    </a:solidFill>
                  </a:tcPr>
                </a:tc>
                <a:tc>
                  <a:txBody>
                    <a:bodyPr/>
                    <a:lstStyle/>
                    <a:p>
                      <a:pPr algn="r"/>
                      <a:r>
                        <a:rPr sz="950" b="1">
                          <a:solidFill>
                            <a:srgbClr val="6B8087"/>
                          </a:solidFill>
                          <a:latin typeface="Consolas"/>
                        </a:rPr>
                        <a:t>Cost to serve</a:t>
                      </a:r>
                    </a:p>
                  </a:txBody>
                  <a:tcPr anchor="ctr" marL="118872" marR="118872" marT="0" marB="0">
                    <a:solidFill>
                      <a:srgbClr val="EDF2F0"/>
                    </a:solidFill>
                  </a:tcPr>
                </a:tc>
              </a:tr>
              <a:tr h="347472">
                <a:tc>
                  <a:txBody>
                    <a:bodyPr/>
                    <a:lstStyle/>
                    <a:p>
                      <a:pPr algn="l"/>
                      <a:r>
                        <a:rPr sz="1150" b="0">
                          <a:solidFill>
                            <a:srgbClr val="0F1E24"/>
                          </a:solidFill>
                          <a:latin typeface="Segoe UI"/>
                        </a:rPr>
                        <a:t>Starter</a:t>
                      </a:r>
                    </a:p>
                  </a:txBody>
                  <a:tcPr anchor="ctr" marL="118872" marR="118872" marT="0" marB="0">
                    <a:solidFill>
                      <a:srgbClr val="FFFFFF"/>
                    </a:solidFill>
                  </a:tcPr>
                </a:tc>
                <a:tc>
                  <a:txBody>
                    <a:bodyPr/>
                    <a:lstStyle/>
                    <a:p>
                      <a:pPr algn="r"/>
                      <a:r>
                        <a:rPr sz="1150" b="0">
                          <a:solidFill>
                            <a:srgbClr val="0F1E24"/>
                          </a:solidFill>
                          <a:latin typeface="Consolas"/>
                        </a:rPr>
                        <a:t>$49</a:t>
                      </a:r>
                    </a:p>
                  </a:txBody>
                  <a:tcPr anchor="ctr" marL="118872" marR="118872" marT="0" marB="0">
                    <a:solidFill>
                      <a:srgbClr val="FFFFFF"/>
                    </a:solidFill>
                  </a:tcPr>
                </a:tc>
                <a:tc>
                  <a:txBody>
                    <a:bodyPr/>
                    <a:lstStyle/>
                    <a:p>
                      <a:pPr algn="r"/>
                      <a:r>
                        <a:rPr sz="1150" b="0">
                          <a:solidFill>
                            <a:srgbClr val="0F1E24"/>
                          </a:solidFill>
                          <a:latin typeface="Consolas"/>
                        </a:rPr>
                        <a:t>3,000</a:t>
                      </a:r>
                    </a:p>
                  </a:txBody>
                  <a:tcPr anchor="ctr" marL="118872" marR="118872" marT="0" marB="0">
                    <a:solidFill>
                      <a:srgbClr val="FFFFFF"/>
                    </a:solidFill>
                  </a:tcPr>
                </a:tc>
                <a:tc>
                  <a:txBody>
                    <a:bodyPr/>
                    <a:lstStyle/>
                    <a:p>
                      <a:pPr algn="l"/>
                      <a:r>
                        <a:rPr sz="1150" b="0">
                          <a:solidFill>
                            <a:srgbClr val="0F1E24"/>
                          </a:solidFill>
                          <a:latin typeface="Segoe UI"/>
                        </a:rPr>
                        <a:t>One channel, efficient brain</a:t>
                      </a:r>
                    </a:p>
                  </a:txBody>
                  <a:tcPr anchor="ctr" marL="118872" marR="118872" marT="0" marB="0">
                    <a:solidFill>
                      <a:srgbClr val="FFFFFF"/>
                    </a:solidFill>
                  </a:tcPr>
                </a:tc>
                <a:tc>
                  <a:txBody>
                    <a:bodyPr/>
                    <a:lstStyle/>
                    <a:p>
                      <a:pPr algn="r"/>
                      <a:r>
                        <a:rPr sz="1150" b="0">
                          <a:solidFill>
                            <a:srgbClr val="0B6E5B"/>
                          </a:solidFill>
                          <a:latin typeface="Consolas"/>
                        </a:rPr>
                        <a:t>$1.15</a:t>
                      </a:r>
                    </a:p>
                  </a:txBody>
                  <a:tcPr anchor="ctr" marL="118872" marR="118872" marT="0" marB="0">
                    <a:solidFill>
                      <a:srgbClr val="E2F0EB"/>
                    </a:solidFill>
                  </a:tcPr>
                </a:tc>
              </a:tr>
              <a:tr h="347472">
                <a:tc>
                  <a:txBody>
                    <a:bodyPr/>
                    <a:lstStyle/>
                    <a:p>
                      <a:pPr algn="l"/>
                      <a:r>
                        <a:rPr sz="1150" b="0">
                          <a:solidFill>
                            <a:srgbClr val="0F1E24"/>
                          </a:solidFill>
                          <a:latin typeface="Segoe UI"/>
                        </a:rPr>
                        <a:t>Growth</a:t>
                      </a:r>
                    </a:p>
                  </a:txBody>
                  <a:tcPr anchor="ctr" marL="118872" marR="118872" marT="0" marB="0">
                    <a:solidFill>
                      <a:srgbClr val="FFFFFF"/>
                    </a:solidFill>
                  </a:tcPr>
                </a:tc>
                <a:tc>
                  <a:txBody>
                    <a:bodyPr/>
                    <a:lstStyle/>
                    <a:p>
                      <a:pPr algn="r"/>
                      <a:r>
                        <a:rPr sz="1150" b="0">
                          <a:solidFill>
                            <a:srgbClr val="0F1E24"/>
                          </a:solidFill>
                          <a:latin typeface="Consolas"/>
                        </a:rPr>
                        <a:t>$149</a:t>
                      </a:r>
                    </a:p>
                  </a:txBody>
                  <a:tcPr anchor="ctr" marL="118872" marR="118872" marT="0" marB="0">
                    <a:solidFill>
                      <a:srgbClr val="FFFFFF"/>
                    </a:solidFill>
                  </a:tcPr>
                </a:tc>
                <a:tc>
                  <a:txBody>
                    <a:bodyPr/>
                    <a:lstStyle/>
                    <a:p>
                      <a:pPr algn="r"/>
                      <a:r>
                        <a:rPr sz="1150" b="0">
                          <a:solidFill>
                            <a:srgbClr val="0F1E24"/>
                          </a:solidFill>
                          <a:latin typeface="Consolas"/>
                        </a:rPr>
                        <a:t>15,000</a:t>
                      </a:r>
                    </a:p>
                  </a:txBody>
                  <a:tcPr anchor="ctr" marL="118872" marR="118872" marT="0" marB="0">
                    <a:solidFill>
                      <a:srgbClr val="FFFFFF"/>
                    </a:solidFill>
                  </a:tcPr>
                </a:tc>
                <a:tc>
                  <a:txBody>
                    <a:bodyPr/>
                    <a:lstStyle/>
                    <a:p>
                      <a:pPr algn="l"/>
                      <a:r>
                        <a:rPr sz="1150" b="0">
                          <a:solidFill>
                            <a:srgbClr val="0F1E24"/>
                          </a:solidFill>
                          <a:latin typeface="Segoe UI"/>
                        </a:rPr>
                        <a:t>All channels, efficient brain, CRM and flows</a:t>
                      </a:r>
                    </a:p>
                  </a:txBody>
                  <a:tcPr anchor="ctr" marL="118872" marR="118872" marT="0" marB="0">
                    <a:solidFill>
                      <a:srgbClr val="FFFFFF"/>
                    </a:solidFill>
                  </a:tcPr>
                </a:tc>
                <a:tc>
                  <a:txBody>
                    <a:bodyPr/>
                    <a:lstStyle/>
                    <a:p>
                      <a:pPr algn="r"/>
                      <a:r>
                        <a:rPr sz="1150" b="0">
                          <a:solidFill>
                            <a:srgbClr val="0B6E5B"/>
                          </a:solidFill>
                          <a:latin typeface="Consolas"/>
                        </a:rPr>
                        <a:t>$6.65</a:t>
                      </a:r>
                    </a:p>
                  </a:txBody>
                  <a:tcPr anchor="ctr" marL="118872" marR="118872" marT="0" marB="0">
                    <a:solidFill>
                      <a:srgbClr val="E2F0EB"/>
                    </a:solidFill>
                  </a:tcPr>
                </a:tc>
              </a:tr>
              <a:tr h="347472">
                <a:tc>
                  <a:txBody>
                    <a:bodyPr/>
                    <a:lstStyle/>
                    <a:p>
                      <a:pPr algn="l"/>
                      <a:r>
                        <a:rPr sz="1150" b="0">
                          <a:solidFill>
                            <a:srgbClr val="0F1E24"/>
                          </a:solidFill>
                          <a:latin typeface="Segoe UI"/>
                        </a:rPr>
                        <a:t>Scale</a:t>
                      </a:r>
                    </a:p>
                  </a:txBody>
                  <a:tcPr anchor="ctr" marL="118872" marR="118872" marT="0" marB="0">
                    <a:solidFill>
                      <a:srgbClr val="FFFFFF"/>
                    </a:solidFill>
                  </a:tcPr>
                </a:tc>
                <a:tc>
                  <a:txBody>
                    <a:bodyPr/>
                    <a:lstStyle/>
                    <a:p>
                      <a:pPr algn="r"/>
                      <a:r>
                        <a:rPr sz="1150" b="0">
                          <a:solidFill>
                            <a:srgbClr val="0F1E24"/>
                          </a:solidFill>
                          <a:latin typeface="Consolas"/>
                        </a:rPr>
                        <a:t>$399</a:t>
                      </a:r>
                    </a:p>
                  </a:txBody>
                  <a:tcPr anchor="ctr" marL="118872" marR="118872" marT="0" marB="0">
                    <a:solidFill>
                      <a:srgbClr val="FFFFFF"/>
                    </a:solidFill>
                  </a:tcPr>
                </a:tc>
                <a:tc>
                  <a:txBody>
                    <a:bodyPr/>
                    <a:lstStyle/>
                    <a:p>
                      <a:pPr algn="r"/>
                      <a:r>
                        <a:rPr sz="1150" b="0">
                          <a:solidFill>
                            <a:srgbClr val="0F1E24"/>
                          </a:solidFill>
                          <a:latin typeface="Consolas"/>
                        </a:rPr>
                        <a:t>50,000</a:t>
                      </a:r>
                    </a:p>
                  </a:txBody>
                  <a:tcPr anchor="ctr" marL="118872" marR="118872" marT="0" marB="0">
                    <a:solidFill>
                      <a:srgbClr val="FFFFFF"/>
                    </a:solidFill>
                  </a:tcPr>
                </a:tc>
                <a:tc>
                  <a:txBody>
                    <a:bodyPr/>
                    <a:lstStyle/>
                    <a:p>
                      <a:pPr algn="l"/>
                      <a:r>
                        <a:rPr sz="1150" b="0">
                          <a:solidFill>
                            <a:srgbClr val="0F1E24"/>
                          </a:solidFill>
                          <a:latin typeface="Segoe UI"/>
                        </a:rPr>
                        <a:t>All channels, fastest brain, voice, priority support</a:t>
                      </a:r>
                    </a:p>
                  </a:txBody>
                  <a:tcPr anchor="ctr" marL="118872" marR="118872" marT="0" marB="0">
                    <a:solidFill>
                      <a:srgbClr val="FFFFFF"/>
                    </a:solidFill>
                  </a:tcPr>
                </a:tc>
                <a:tc>
                  <a:txBody>
                    <a:bodyPr/>
                    <a:lstStyle/>
                    <a:p>
                      <a:pPr algn="r"/>
                      <a:r>
                        <a:rPr sz="1150" b="0">
                          <a:solidFill>
                            <a:srgbClr val="0B6E5B"/>
                          </a:solidFill>
                          <a:latin typeface="Consolas"/>
                        </a:rPr>
                        <a:t>$90.52</a:t>
                      </a:r>
                    </a:p>
                  </a:txBody>
                  <a:tcPr anchor="ctr" marL="118872" marR="118872" marT="0" marB="0">
                    <a:solidFill>
                      <a:srgbClr val="E2F0EB"/>
                    </a:solidFill>
                  </a:tcPr>
                </a:tc>
              </a:tr>
            </a:tbl>
          </a:graphicData>
        </a:graphic>
      </p:graphicFrame>
      <p:sp>
        <p:nvSpPr>
          <p:cNvPr id="8" name="Rounded Rectangle 7"/>
          <p:cNvSpPr/>
          <p:nvPr/>
        </p:nvSpPr>
        <p:spPr>
          <a:xfrm>
            <a:off x="713232" y="4343400"/>
            <a:ext cx="10765231" cy="123444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13232" y="4398264"/>
            <a:ext cx="38100" cy="1124712"/>
          </a:xfrm>
          <a:prstGeom prst="rect">
            <a:avLst/>
          </a:prstGeom>
          <a:solidFill>
            <a:srgbClr val="0B6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4526280"/>
            <a:ext cx="10216591" cy="320040"/>
          </a:xfrm>
          <a:prstGeom prst="rect">
            <a:avLst/>
          </a:prstGeom>
          <a:noFill/>
        </p:spPr>
        <p:txBody>
          <a:bodyPr wrap="square" lIns="0" rIns="0" tIns="0" bIns="0">
            <a:spAutoFit/>
          </a:bodyPr>
          <a:lstStyle/>
          <a:p>
            <a:pPr algn="l">
              <a:lnSpc>
                <a:spcPct val="125000"/>
              </a:lnSpc>
            </a:pPr>
            <a:r>
              <a:rPr sz="1500" b="1">
                <a:solidFill>
                  <a:srgbClr val="0F1E24"/>
                </a:solidFill>
                <a:latin typeface="Georgia"/>
              </a:rPr>
              <a:t>Gross margin on every plan</a:t>
            </a:r>
          </a:p>
        </p:txBody>
      </p:sp>
      <p:sp>
        <p:nvSpPr>
          <p:cNvPr id="11" name="TextBox 10"/>
          <p:cNvSpPr txBox="1"/>
          <p:nvPr/>
        </p:nvSpPr>
        <p:spPr>
          <a:xfrm>
            <a:off x="969264" y="4910328"/>
            <a:ext cx="10216591" cy="502920"/>
          </a:xfrm>
          <a:prstGeom prst="rect">
            <a:avLst/>
          </a:prstGeom>
          <a:noFill/>
        </p:spPr>
        <p:txBody>
          <a:bodyPr wrap="square" lIns="0" rIns="0" tIns="0" bIns="0">
            <a:spAutoFit/>
          </a:bodyPr>
          <a:lstStyle/>
          <a:p>
            <a:pPr algn="l">
              <a:lnSpc>
                <a:spcPct val="135000"/>
              </a:lnSpc>
            </a:pPr>
            <a:r>
              <a:rPr sz="1200" b="0">
                <a:solidFill>
                  <a:srgbClr val="3D5259"/>
                </a:solidFill>
                <a:latin typeface="Segoe UI"/>
              </a:rPr>
              <a:t>Starter returns 97.7% on infrastructure, Growth 95.5%, and Scale — running the premium brain at fifty thousand messages — still returns 77.3%. No plan is sold below its cost to serve.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548640" cy="274320"/>
          </a:xfrm>
          <a:prstGeom prst="rect">
            <a:avLst/>
          </a:prstGeom>
          <a:noFill/>
        </p:spPr>
        <p:txBody>
          <a:bodyPr wrap="square" lIns="0" rIns="0" tIns="0" bIns="0">
            <a:spAutoFit/>
          </a:bodyPr>
          <a:lstStyle/>
          <a:p>
            <a:pPr algn="l">
              <a:lnSpc>
                <a:spcPct val="125000"/>
              </a:lnSpc>
            </a:pPr>
            <a:r>
              <a:rPr sz="1100" b="1" spc="130">
                <a:solidFill>
                  <a:srgbClr val="0B6E5B"/>
                </a:solidFill>
                <a:latin typeface="Consolas"/>
              </a:rPr>
              <a:t>11</a:t>
            </a:r>
          </a:p>
        </p:txBody>
      </p:sp>
      <p:sp>
        <p:nvSpPr>
          <p:cNvPr id="4" name="TextBox 3"/>
          <p:cNvSpPr txBox="1"/>
          <p:nvPr/>
        </p:nvSpPr>
        <p:spPr>
          <a:xfrm>
            <a:off x="1188720" y="457200"/>
            <a:ext cx="8229600" cy="274320"/>
          </a:xfrm>
          <a:prstGeom prst="rect">
            <a:avLst/>
          </a:prstGeom>
          <a:noFill/>
        </p:spPr>
        <p:txBody>
          <a:bodyPr wrap="square" lIns="0" rIns="0" tIns="0" bIns="0">
            <a:spAutoFit/>
          </a:bodyPr>
          <a:lstStyle/>
          <a:p>
            <a:pPr algn="l">
              <a:lnSpc>
                <a:spcPct val="125000"/>
              </a:lnSpc>
            </a:pPr>
            <a:r>
              <a:rPr sz="1100" b="0" spc="130">
                <a:solidFill>
                  <a:srgbClr val="6B8087"/>
                </a:solidFill>
                <a:latin typeface="Consolas"/>
              </a:rPr>
              <a:t>MARGIN</a:t>
            </a:r>
          </a:p>
        </p:txBody>
      </p:sp>
      <p:sp>
        <p:nvSpPr>
          <p:cNvPr id="5" name="TextBox 4"/>
          <p:cNvSpPr txBox="1"/>
          <p:nvPr/>
        </p:nvSpPr>
        <p:spPr>
          <a:xfrm>
            <a:off x="713232" y="868680"/>
            <a:ext cx="10765231" cy="914400"/>
          </a:xfrm>
          <a:prstGeom prst="rect">
            <a:avLst/>
          </a:prstGeom>
          <a:noFill/>
        </p:spPr>
        <p:txBody>
          <a:bodyPr wrap="square" lIns="0" rIns="0" tIns="0" bIns="0">
            <a:spAutoFit/>
          </a:bodyPr>
          <a:lstStyle/>
          <a:p>
            <a:pPr algn="l">
              <a:lnSpc>
                <a:spcPct val="106000"/>
              </a:lnSpc>
            </a:pPr>
            <a:r>
              <a:rPr sz="3000" b="1">
                <a:solidFill>
                  <a:srgbClr val="0F1E24"/>
                </a:solidFill>
                <a:latin typeface="Georgia"/>
              </a:rPr>
              <a:t>Infrastructure gross margin at $99 blended ARPU</a:t>
            </a:r>
          </a:p>
        </p:txBody>
      </p:sp>
      <p:graphicFrame>
        <p:nvGraphicFramePr>
          <p:cNvPr id="6" name="Table 5"/>
          <p:cNvGraphicFramePr>
            <a:graphicFrameLocks noGrp="1"/>
          </p:cNvGraphicFramePr>
          <p:nvPr/>
        </p:nvGraphicFramePr>
        <p:xfrm>
          <a:off x="713232" y="1965960"/>
          <a:ext cx="10762487" cy="1444752"/>
        </p:xfrm>
        <a:graphic>
          <a:graphicData uri="http://schemas.openxmlformats.org/drawingml/2006/table">
            <a:tbl>
              <a:tblPr>
                <a:tableStyleId>{5C22544A-7EE6-4342-B048-85BDC9FD1C3A}</a:tableStyleId>
              </a:tblPr>
              <a:tblGrid>
                <a:gridCol w="1280160"/>
                <a:gridCol w="1783080"/>
                <a:gridCol w="1874519"/>
                <a:gridCol w="1965960"/>
                <a:gridCol w="1691640"/>
                <a:gridCol w="2167128"/>
              </a:tblGrid>
              <a:tr h="402336">
                <a:tc>
                  <a:txBody>
                    <a:bodyPr/>
                    <a:lstStyle/>
                    <a:p>
                      <a:pPr algn="l"/>
                      <a:r>
                        <a:rPr sz="950" b="1">
                          <a:solidFill>
                            <a:srgbClr val="6B8087"/>
                          </a:solidFill>
                          <a:latin typeface="Consolas"/>
                        </a:rPr>
                        <a:t>Clients</a:t>
                      </a:r>
                    </a:p>
                  </a:txBody>
                  <a:tcPr anchor="ctr" marL="118872" marR="118872" marT="0" marB="0">
                    <a:solidFill>
                      <a:srgbClr val="EDF2F0"/>
                    </a:solidFill>
                  </a:tcPr>
                </a:tc>
                <a:tc>
                  <a:txBody>
                    <a:bodyPr/>
                    <a:lstStyle/>
                    <a:p>
                      <a:pPr algn="r"/>
                      <a:r>
                        <a:rPr sz="950" b="1">
                          <a:solidFill>
                            <a:srgbClr val="6B8087"/>
                          </a:solidFill>
                          <a:latin typeface="Consolas"/>
                        </a:rPr>
                        <a:t>Revenue / yr</a:t>
                      </a:r>
                    </a:p>
                  </a:txBody>
                  <a:tcPr anchor="ctr" marL="118872" marR="118872" marT="0" marB="0">
                    <a:solidFill>
                      <a:srgbClr val="EDF2F0"/>
                    </a:solidFill>
                  </a:tcPr>
                </a:tc>
                <a:tc>
                  <a:txBody>
                    <a:bodyPr/>
                    <a:lstStyle/>
                    <a:p>
                      <a:pPr algn="r"/>
                      <a:r>
                        <a:rPr sz="950" b="1">
                          <a:solidFill>
                            <a:srgbClr val="6B8087"/>
                          </a:solidFill>
                          <a:latin typeface="Consolas"/>
                        </a:rPr>
                        <a:t>Infra cost / yr</a:t>
                      </a:r>
                    </a:p>
                  </a:txBody>
                  <a:tcPr anchor="ctr" marL="118872" marR="118872" marT="0" marB="0">
                    <a:solidFill>
                      <a:srgbClr val="EDF2F0"/>
                    </a:solidFill>
                  </a:tcPr>
                </a:tc>
                <a:tc>
                  <a:txBody>
                    <a:bodyPr/>
                    <a:lstStyle/>
                    <a:p>
                      <a:pPr algn="r"/>
                      <a:r>
                        <a:rPr sz="950" b="1">
                          <a:solidFill>
                            <a:srgbClr val="6B8087"/>
                          </a:solidFill>
                          <a:latin typeface="Consolas"/>
                        </a:rPr>
                        <a:t>Gross profit / yr</a:t>
                      </a:r>
                    </a:p>
                  </a:txBody>
                  <a:tcPr anchor="ctr" marL="118872" marR="118872" marT="0" marB="0">
                    <a:solidFill>
                      <a:srgbClr val="EDF2F0"/>
                    </a:solidFill>
                  </a:tcPr>
                </a:tc>
                <a:tc>
                  <a:txBody>
                    <a:bodyPr/>
                    <a:lstStyle/>
                    <a:p>
                      <a:pPr algn="r"/>
                      <a:r>
                        <a:rPr sz="950" b="1">
                          <a:solidFill>
                            <a:srgbClr val="6B8087"/>
                          </a:solidFill>
                          <a:latin typeface="Consolas"/>
                        </a:rPr>
                        <a:t>Gross margin</a:t>
                      </a:r>
                    </a:p>
                  </a:txBody>
                  <a:tcPr anchor="ctr" marL="118872" marR="118872" marT="0" marB="0">
                    <a:solidFill>
                      <a:srgbClr val="EDF2F0"/>
                    </a:solidFill>
                  </a:tcPr>
                </a:tc>
                <a:tc>
                  <a:txBody>
                    <a:bodyPr/>
                    <a:lstStyle/>
                    <a:p>
                      <a:pPr algn="r"/>
                      <a:r>
                        <a:rPr sz="950" b="1">
                          <a:solidFill>
                            <a:srgbClr val="6B8087"/>
                          </a:solidFill>
                          <a:latin typeface="Consolas"/>
                        </a:rPr>
                        <a:t>Infra % of revenue</a:t>
                      </a:r>
                    </a:p>
                  </a:txBody>
                  <a:tcPr anchor="ctr" marL="118872" marR="118872" marT="0" marB="0">
                    <a:solidFill>
                      <a:srgbClr val="EDF2F0"/>
                    </a:solidFill>
                  </a:tcPr>
                </a:tc>
              </a:tr>
              <a:tr h="347472">
                <a:tc>
                  <a:txBody>
                    <a:bodyPr/>
                    <a:lstStyle/>
                    <a:p>
                      <a:pPr algn="l"/>
                      <a:r>
                        <a:rPr sz="1150" b="0">
                          <a:solidFill>
                            <a:srgbClr val="0F1E24"/>
                          </a:solidFill>
                          <a:latin typeface="Segoe UI"/>
                        </a:rPr>
                        <a:t>10</a:t>
                      </a:r>
                    </a:p>
                  </a:txBody>
                  <a:tcPr anchor="ctr" marL="118872" marR="118872" marT="0" marB="0">
                    <a:solidFill>
                      <a:srgbClr val="FFFFFF"/>
                    </a:solidFill>
                  </a:tcPr>
                </a:tc>
                <a:tc>
                  <a:txBody>
                    <a:bodyPr/>
                    <a:lstStyle/>
                    <a:p>
                      <a:pPr algn="r"/>
                      <a:r>
                        <a:rPr sz="1150" b="0">
                          <a:solidFill>
                            <a:srgbClr val="0F1E24"/>
                          </a:solidFill>
                          <a:latin typeface="Consolas"/>
                        </a:rPr>
                        <a:t>$11,880</a:t>
                      </a:r>
                    </a:p>
                  </a:txBody>
                  <a:tcPr anchor="ctr" marL="118872" marR="118872" marT="0" marB="0">
                    <a:solidFill>
                      <a:srgbClr val="FFFFFF"/>
                    </a:solidFill>
                  </a:tcPr>
                </a:tc>
                <a:tc>
                  <a:txBody>
                    <a:bodyPr/>
                    <a:lstStyle/>
                    <a:p>
                      <a:pPr algn="r"/>
                      <a:r>
                        <a:rPr sz="1150" b="0">
                          <a:solidFill>
                            <a:srgbClr val="0F1E24"/>
                          </a:solidFill>
                          <a:latin typeface="Consolas"/>
                        </a:rPr>
                        <a:t>$905</a:t>
                      </a:r>
                    </a:p>
                  </a:txBody>
                  <a:tcPr anchor="ctr" marL="118872" marR="118872" marT="0" marB="0">
                    <a:solidFill>
                      <a:srgbClr val="FFFFFF"/>
                    </a:solidFill>
                  </a:tcPr>
                </a:tc>
                <a:tc>
                  <a:txBody>
                    <a:bodyPr/>
                    <a:lstStyle/>
                    <a:p>
                      <a:pPr algn="r"/>
                      <a:r>
                        <a:rPr sz="1150" b="0">
                          <a:solidFill>
                            <a:srgbClr val="0F1E24"/>
                          </a:solidFill>
                          <a:latin typeface="Consolas"/>
                        </a:rPr>
                        <a:t>$10,975</a:t>
                      </a:r>
                    </a:p>
                  </a:txBody>
                  <a:tcPr anchor="ctr" marL="118872" marR="118872" marT="0" marB="0">
                    <a:solidFill>
                      <a:srgbClr val="FFFFFF"/>
                    </a:solidFill>
                  </a:tcPr>
                </a:tc>
                <a:tc>
                  <a:txBody>
                    <a:bodyPr/>
                    <a:lstStyle/>
                    <a:p>
                      <a:pPr algn="r"/>
                      <a:r>
                        <a:rPr sz="1150" b="0">
                          <a:solidFill>
                            <a:srgbClr val="0B6E5B"/>
                          </a:solidFill>
                          <a:latin typeface="Consolas"/>
                        </a:rPr>
                        <a:t>92.4%</a:t>
                      </a:r>
                    </a:p>
                  </a:txBody>
                  <a:tcPr anchor="ctr" marL="118872" marR="118872" marT="0" marB="0">
                    <a:solidFill>
                      <a:srgbClr val="E2F0EB"/>
                    </a:solidFill>
                  </a:tcPr>
                </a:tc>
                <a:tc>
                  <a:txBody>
                    <a:bodyPr/>
                    <a:lstStyle/>
                    <a:p>
                      <a:pPr algn="r"/>
                      <a:r>
                        <a:rPr sz="1150" b="0">
                          <a:solidFill>
                            <a:srgbClr val="0F1E24"/>
                          </a:solidFill>
                          <a:latin typeface="Consolas"/>
                        </a:rPr>
                        <a:t>7.6%</a:t>
                      </a:r>
                    </a:p>
                  </a:txBody>
                  <a:tcPr anchor="ctr" marL="118872" marR="118872" marT="0" marB="0">
                    <a:solidFill>
                      <a:srgbClr val="FFFFFF"/>
                    </a:solidFill>
                  </a:tcPr>
                </a:tc>
              </a:tr>
              <a:tr h="347472">
                <a:tc>
                  <a:txBody>
                    <a:bodyPr/>
                    <a:lstStyle/>
                    <a:p>
                      <a:pPr algn="l"/>
                      <a:r>
                        <a:rPr sz="1150" b="0">
                          <a:solidFill>
                            <a:srgbClr val="0F1E24"/>
                          </a:solidFill>
                          <a:latin typeface="Segoe UI"/>
                        </a:rPr>
                        <a:t>50</a:t>
                      </a:r>
                    </a:p>
                  </a:txBody>
                  <a:tcPr anchor="ctr" marL="118872" marR="118872" marT="0" marB="0">
                    <a:solidFill>
                      <a:srgbClr val="FFFFFF"/>
                    </a:solidFill>
                  </a:tcPr>
                </a:tc>
                <a:tc>
                  <a:txBody>
                    <a:bodyPr/>
                    <a:lstStyle/>
                    <a:p>
                      <a:pPr algn="r"/>
                      <a:r>
                        <a:rPr sz="1150" b="0">
                          <a:solidFill>
                            <a:srgbClr val="0F1E24"/>
                          </a:solidFill>
                          <a:latin typeface="Consolas"/>
                        </a:rPr>
                        <a:t>$59,400</a:t>
                      </a:r>
                    </a:p>
                  </a:txBody>
                  <a:tcPr anchor="ctr" marL="118872" marR="118872" marT="0" marB="0">
                    <a:solidFill>
                      <a:srgbClr val="FFFFFF"/>
                    </a:solidFill>
                  </a:tcPr>
                </a:tc>
                <a:tc>
                  <a:txBody>
                    <a:bodyPr/>
                    <a:lstStyle/>
                    <a:p>
                      <a:pPr algn="r"/>
                      <a:r>
                        <a:rPr sz="1150" b="0">
                          <a:solidFill>
                            <a:srgbClr val="0F1E24"/>
                          </a:solidFill>
                          <a:latin typeface="Consolas"/>
                        </a:rPr>
                        <a:t>$4,099</a:t>
                      </a:r>
                    </a:p>
                  </a:txBody>
                  <a:tcPr anchor="ctr" marL="118872" marR="118872" marT="0" marB="0">
                    <a:solidFill>
                      <a:srgbClr val="FFFFFF"/>
                    </a:solidFill>
                  </a:tcPr>
                </a:tc>
                <a:tc>
                  <a:txBody>
                    <a:bodyPr/>
                    <a:lstStyle/>
                    <a:p>
                      <a:pPr algn="r"/>
                      <a:r>
                        <a:rPr sz="1150" b="0">
                          <a:solidFill>
                            <a:srgbClr val="0F1E24"/>
                          </a:solidFill>
                          <a:latin typeface="Consolas"/>
                        </a:rPr>
                        <a:t>$55,301</a:t>
                      </a:r>
                    </a:p>
                  </a:txBody>
                  <a:tcPr anchor="ctr" marL="118872" marR="118872" marT="0" marB="0">
                    <a:solidFill>
                      <a:srgbClr val="FFFFFF"/>
                    </a:solidFill>
                  </a:tcPr>
                </a:tc>
                <a:tc>
                  <a:txBody>
                    <a:bodyPr/>
                    <a:lstStyle/>
                    <a:p>
                      <a:pPr algn="r"/>
                      <a:r>
                        <a:rPr sz="1150" b="0">
                          <a:solidFill>
                            <a:srgbClr val="0B6E5B"/>
                          </a:solidFill>
                          <a:latin typeface="Consolas"/>
                        </a:rPr>
                        <a:t>93.1%</a:t>
                      </a:r>
                    </a:p>
                  </a:txBody>
                  <a:tcPr anchor="ctr" marL="118872" marR="118872" marT="0" marB="0">
                    <a:solidFill>
                      <a:srgbClr val="E2F0EB"/>
                    </a:solidFill>
                  </a:tcPr>
                </a:tc>
                <a:tc>
                  <a:txBody>
                    <a:bodyPr/>
                    <a:lstStyle/>
                    <a:p>
                      <a:pPr algn="r"/>
                      <a:r>
                        <a:rPr sz="1150" b="0">
                          <a:solidFill>
                            <a:srgbClr val="0F1E24"/>
                          </a:solidFill>
                          <a:latin typeface="Consolas"/>
                        </a:rPr>
                        <a:t>6.9%</a:t>
                      </a:r>
                    </a:p>
                  </a:txBody>
                  <a:tcPr anchor="ctr" marL="118872" marR="118872" marT="0" marB="0">
                    <a:solidFill>
                      <a:srgbClr val="FFFFFF"/>
                    </a:solidFill>
                  </a:tcPr>
                </a:tc>
              </a:tr>
              <a:tr h="347472">
                <a:tc>
                  <a:txBody>
                    <a:bodyPr/>
                    <a:lstStyle/>
                    <a:p>
                      <a:pPr algn="l"/>
                      <a:r>
                        <a:rPr sz="1150" b="1">
                          <a:solidFill>
                            <a:srgbClr val="0F1E24"/>
                          </a:solidFill>
                          <a:latin typeface="Segoe UI"/>
                        </a:rPr>
                        <a:t>100</a:t>
                      </a:r>
                    </a:p>
                  </a:txBody>
                  <a:tcPr anchor="ctr" marL="118872" marR="118872" marT="0" marB="0">
                    <a:solidFill>
                      <a:srgbClr val="EDF2F0"/>
                    </a:solidFill>
                  </a:tcPr>
                </a:tc>
                <a:tc>
                  <a:txBody>
                    <a:bodyPr/>
                    <a:lstStyle/>
                    <a:p>
                      <a:pPr algn="r"/>
                      <a:r>
                        <a:rPr sz="1150" b="1">
                          <a:solidFill>
                            <a:srgbClr val="0F1E24"/>
                          </a:solidFill>
                          <a:latin typeface="Consolas"/>
                        </a:rPr>
                        <a:t>$118,800</a:t>
                      </a:r>
                    </a:p>
                  </a:txBody>
                  <a:tcPr anchor="ctr" marL="118872" marR="118872" marT="0" marB="0">
                    <a:solidFill>
                      <a:srgbClr val="EDF2F0"/>
                    </a:solidFill>
                  </a:tcPr>
                </a:tc>
                <a:tc>
                  <a:txBody>
                    <a:bodyPr/>
                    <a:lstStyle/>
                    <a:p>
                      <a:pPr algn="r"/>
                      <a:r>
                        <a:rPr sz="1150" b="1">
                          <a:solidFill>
                            <a:srgbClr val="0F1E24"/>
                          </a:solidFill>
                          <a:latin typeface="Consolas"/>
                        </a:rPr>
                        <a:t>$7,983</a:t>
                      </a:r>
                    </a:p>
                  </a:txBody>
                  <a:tcPr anchor="ctr" marL="118872" marR="118872" marT="0" marB="0">
                    <a:solidFill>
                      <a:srgbClr val="EDF2F0"/>
                    </a:solidFill>
                  </a:tcPr>
                </a:tc>
                <a:tc>
                  <a:txBody>
                    <a:bodyPr/>
                    <a:lstStyle/>
                    <a:p>
                      <a:pPr algn="r"/>
                      <a:r>
                        <a:rPr sz="1150" b="1">
                          <a:solidFill>
                            <a:srgbClr val="0F1E24"/>
                          </a:solidFill>
                          <a:latin typeface="Consolas"/>
                        </a:rPr>
                        <a:t>$110,817</a:t>
                      </a:r>
                    </a:p>
                  </a:txBody>
                  <a:tcPr anchor="ctr" marL="118872" marR="118872" marT="0" marB="0">
                    <a:solidFill>
                      <a:srgbClr val="EDF2F0"/>
                    </a:solidFill>
                  </a:tcPr>
                </a:tc>
                <a:tc>
                  <a:txBody>
                    <a:bodyPr/>
                    <a:lstStyle/>
                    <a:p>
                      <a:pPr algn="r"/>
                      <a:r>
                        <a:rPr sz="1150" b="1">
                          <a:solidFill>
                            <a:srgbClr val="0B6E5B"/>
                          </a:solidFill>
                          <a:latin typeface="Consolas"/>
                        </a:rPr>
                        <a:t>93.3%</a:t>
                      </a:r>
                    </a:p>
                  </a:txBody>
                  <a:tcPr anchor="ctr" marL="118872" marR="118872" marT="0" marB="0">
                    <a:solidFill>
                      <a:srgbClr val="E2F0EB"/>
                    </a:solidFill>
                  </a:tcPr>
                </a:tc>
                <a:tc>
                  <a:txBody>
                    <a:bodyPr/>
                    <a:lstStyle/>
                    <a:p>
                      <a:pPr algn="r"/>
                      <a:r>
                        <a:rPr sz="1150" b="1">
                          <a:solidFill>
                            <a:srgbClr val="0F1E24"/>
                          </a:solidFill>
                          <a:latin typeface="Consolas"/>
                        </a:rPr>
                        <a:t>6.7%</a:t>
                      </a:r>
                    </a:p>
                  </a:txBody>
                  <a:tcPr anchor="ctr" marL="118872" marR="118872" marT="0" marB="0">
                    <a:solidFill>
                      <a:srgbClr val="EDF2F0"/>
                    </a:solidFill>
                  </a:tcPr>
                </a:tc>
              </a:tr>
            </a:tbl>
          </a:graphicData>
        </a:graphic>
      </p:graphicFrame>
      <p:sp>
        <p:nvSpPr>
          <p:cNvPr id="7" name="Rounded Rectangle 6"/>
          <p:cNvSpPr/>
          <p:nvPr/>
        </p:nvSpPr>
        <p:spPr>
          <a:xfrm>
            <a:off x="713232" y="3703320"/>
            <a:ext cx="10765231" cy="146304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13232" y="3758184"/>
            <a:ext cx="38100" cy="1353312"/>
          </a:xfrm>
          <a:prstGeom prst="rect">
            <a:avLst/>
          </a:prstGeom>
          <a:solidFill>
            <a:srgbClr val="0B6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3886200"/>
            <a:ext cx="10216591" cy="320040"/>
          </a:xfrm>
          <a:prstGeom prst="rect">
            <a:avLst/>
          </a:prstGeom>
          <a:noFill/>
        </p:spPr>
        <p:txBody>
          <a:bodyPr wrap="square" lIns="0" rIns="0" tIns="0" bIns="0">
            <a:spAutoFit/>
          </a:bodyPr>
          <a:lstStyle/>
          <a:p>
            <a:pPr algn="l">
              <a:lnSpc>
                <a:spcPct val="125000"/>
              </a:lnSpc>
            </a:pPr>
            <a:r>
              <a:rPr sz="1500" b="1">
                <a:solidFill>
                  <a:srgbClr val="0F1E24"/>
                </a:solidFill>
                <a:latin typeface="Georgia"/>
              </a:rPr>
              <a:t>Margin survives the premium tier</a:t>
            </a:r>
          </a:p>
        </p:txBody>
      </p:sp>
      <p:sp>
        <p:nvSpPr>
          <p:cNvPr id="10" name="TextBox 9"/>
          <p:cNvSpPr txBox="1"/>
          <p:nvPr/>
        </p:nvSpPr>
        <p:spPr>
          <a:xfrm>
            <a:off x="969264" y="4270248"/>
            <a:ext cx="10216591" cy="731520"/>
          </a:xfrm>
          <a:prstGeom prst="rect">
            <a:avLst/>
          </a:prstGeom>
          <a:noFill/>
        </p:spPr>
        <p:txBody>
          <a:bodyPr wrap="square" lIns="0" rIns="0" tIns="0" bIns="0">
            <a:spAutoFit/>
          </a:bodyPr>
          <a:lstStyle/>
          <a:p>
            <a:pPr algn="l">
              <a:lnSpc>
                <a:spcPct val="135000"/>
              </a:lnSpc>
            </a:pPr>
            <a:r>
              <a:rPr sz="1200" b="0">
                <a:solidFill>
                  <a:srgbClr val="3D5259"/>
                </a:solidFill>
                <a:latin typeface="Segoe UI"/>
              </a:rPr>
              <a:t>If every client ran the fastest brain, infrastructure at 100 clients is $33,656 a year against $118,800 of revenue — a 71.7% gross margin. The business does not depend on keeping clients on the cheap model, so the premium tier can be sold on its merits rather than rationed to protect margin.</a:t>
            </a:r>
          </a:p>
        </p:txBody>
      </p:sp>
      <p:sp>
        <p:nvSpPr>
          <p:cNvPr id="11" name="Rounded Rectangle 10"/>
          <p:cNvSpPr/>
          <p:nvPr/>
        </p:nvSpPr>
        <p:spPr>
          <a:xfrm>
            <a:off x="713232" y="5303520"/>
            <a:ext cx="10765231" cy="114300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13232" y="5358384"/>
            <a:ext cx="38100" cy="1033272"/>
          </a:xfrm>
          <a:prstGeom prst="rect">
            <a:avLst/>
          </a:prstGeom>
          <a:solidFill>
            <a:srgbClr val="6B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5486400"/>
            <a:ext cx="10216591" cy="320040"/>
          </a:xfrm>
          <a:prstGeom prst="rect">
            <a:avLst/>
          </a:prstGeom>
          <a:noFill/>
        </p:spPr>
        <p:txBody>
          <a:bodyPr wrap="square" lIns="0" rIns="0" tIns="0" bIns="0">
            <a:spAutoFit/>
          </a:bodyPr>
          <a:lstStyle/>
          <a:p>
            <a:pPr algn="l">
              <a:lnSpc>
                <a:spcPct val="125000"/>
              </a:lnSpc>
            </a:pPr>
            <a:r>
              <a:rPr sz="1500" b="1">
                <a:solidFill>
                  <a:srgbClr val="0F1E24"/>
                </a:solidFill>
                <a:latin typeface="Georgia"/>
              </a:rPr>
              <a:t>What sits below this line</a:t>
            </a:r>
          </a:p>
        </p:txBody>
      </p:sp>
      <p:sp>
        <p:nvSpPr>
          <p:cNvPr id="14" name="TextBox 13"/>
          <p:cNvSpPr txBox="1"/>
          <p:nvPr/>
        </p:nvSpPr>
        <p:spPr>
          <a:xfrm>
            <a:off x="969264" y="5870448"/>
            <a:ext cx="10216591" cy="411480"/>
          </a:xfrm>
          <a:prstGeom prst="rect">
            <a:avLst/>
          </a:prstGeom>
          <a:noFill/>
        </p:spPr>
        <p:txBody>
          <a:bodyPr wrap="square" lIns="0" rIns="0" tIns="0" bIns="0">
            <a:spAutoFit/>
          </a:bodyPr>
          <a:lstStyle/>
          <a:p>
            <a:pPr algn="l">
              <a:lnSpc>
                <a:spcPct val="135000"/>
              </a:lnSpc>
            </a:pPr>
            <a:r>
              <a:rPr sz="1200" b="0">
                <a:solidFill>
                  <a:srgbClr val="3D5259"/>
                </a:solidFill>
                <a:latin typeface="Segoe UI"/>
              </a:rPr>
              <a:t>Meta messaging fees, human agent capacity, sales and marketing determine net margin. Infrastructure determines whether net margin is reachable at all — and at 6.7% of revenue, it is not the constraint.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548640" cy="274320"/>
          </a:xfrm>
          <a:prstGeom prst="rect">
            <a:avLst/>
          </a:prstGeom>
          <a:noFill/>
        </p:spPr>
        <p:txBody>
          <a:bodyPr wrap="square" lIns="0" rIns="0" tIns="0" bIns="0">
            <a:spAutoFit/>
          </a:bodyPr>
          <a:lstStyle/>
          <a:p>
            <a:pPr algn="l">
              <a:lnSpc>
                <a:spcPct val="125000"/>
              </a:lnSpc>
            </a:pPr>
            <a:r>
              <a:rPr sz="1100" b="1" spc="130">
                <a:solidFill>
                  <a:srgbClr val="0B6E5B"/>
                </a:solidFill>
                <a:latin typeface="Consolas"/>
              </a:rPr>
              <a:t>12</a:t>
            </a:r>
          </a:p>
        </p:txBody>
      </p:sp>
      <p:sp>
        <p:nvSpPr>
          <p:cNvPr id="4" name="TextBox 3"/>
          <p:cNvSpPr txBox="1"/>
          <p:nvPr/>
        </p:nvSpPr>
        <p:spPr>
          <a:xfrm>
            <a:off x="1188720" y="457200"/>
            <a:ext cx="8229600" cy="274320"/>
          </a:xfrm>
          <a:prstGeom prst="rect">
            <a:avLst/>
          </a:prstGeom>
          <a:noFill/>
        </p:spPr>
        <p:txBody>
          <a:bodyPr wrap="square" lIns="0" rIns="0" tIns="0" bIns="0">
            <a:spAutoFit/>
          </a:bodyPr>
          <a:lstStyle/>
          <a:p>
            <a:pPr algn="l">
              <a:lnSpc>
                <a:spcPct val="125000"/>
              </a:lnSpc>
            </a:pPr>
            <a:r>
              <a:rPr sz="1100" b="0" spc="130">
                <a:solidFill>
                  <a:srgbClr val="6B8087"/>
                </a:solidFill>
                <a:latin typeface="Consolas"/>
              </a:rPr>
              <a:t>ENGINEERING LEVERAGE</a:t>
            </a:r>
          </a:p>
        </p:txBody>
      </p:sp>
      <p:sp>
        <p:nvSpPr>
          <p:cNvPr id="5" name="TextBox 4"/>
          <p:cNvSpPr txBox="1"/>
          <p:nvPr/>
        </p:nvSpPr>
        <p:spPr>
          <a:xfrm>
            <a:off x="713232" y="868680"/>
            <a:ext cx="10765231" cy="914400"/>
          </a:xfrm>
          <a:prstGeom prst="rect">
            <a:avLst/>
          </a:prstGeom>
          <a:noFill/>
        </p:spPr>
        <p:txBody>
          <a:bodyPr wrap="square" lIns="0" rIns="0" tIns="0" bIns="0">
            <a:spAutoFit/>
          </a:bodyPr>
          <a:lstStyle/>
          <a:p>
            <a:pPr algn="l">
              <a:lnSpc>
                <a:spcPct val="106000"/>
              </a:lnSpc>
            </a:pPr>
            <a:r>
              <a:rPr sz="3000" b="1">
                <a:solidFill>
                  <a:srgbClr val="0F1E24"/>
                </a:solidFill>
                <a:latin typeface="Georgia"/>
              </a:rPr>
              <a:t>Taking 40% out of the per-message cost</a:t>
            </a:r>
          </a:p>
        </p:txBody>
      </p:sp>
      <p:sp>
        <p:nvSpPr>
          <p:cNvPr id="6" name="TextBox 5"/>
          <p:cNvSpPr txBox="1"/>
          <p:nvPr/>
        </p:nvSpPr>
        <p:spPr>
          <a:xfrm>
            <a:off x="713232" y="1572768"/>
            <a:ext cx="8778240" cy="822960"/>
          </a:xfrm>
          <a:prstGeom prst="rect">
            <a:avLst/>
          </a:prstGeom>
          <a:noFill/>
        </p:spPr>
        <p:txBody>
          <a:bodyPr wrap="square" lIns="0" rIns="0" tIns="0" bIns="0">
            <a:spAutoFit/>
          </a:bodyPr>
          <a:lstStyle/>
          <a:p>
            <a:pPr algn="l">
              <a:lnSpc>
                <a:spcPct val="140000"/>
              </a:lnSpc>
            </a:pPr>
            <a:r>
              <a:rPr sz="1300" b="0">
                <a:solidFill>
                  <a:srgbClr val="3D5259"/>
                </a:solidFill>
                <a:latin typeface="Segoe UI"/>
              </a:rPr>
              <a:t>The rate card is the optimised figure. These changes reach it, each identified by reading the system as it runs today.</a:t>
            </a:r>
          </a:p>
        </p:txBody>
      </p:sp>
      <p:sp>
        <p:nvSpPr>
          <p:cNvPr id="7" name="TextBox 6"/>
          <p:cNvSpPr txBox="1"/>
          <p:nvPr/>
        </p:nvSpPr>
        <p:spPr>
          <a:xfrm>
            <a:off x="713232" y="2468880"/>
            <a:ext cx="365760" cy="274320"/>
          </a:xfrm>
          <a:prstGeom prst="rect">
            <a:avLst/>
          </a:prstGeom>
          <a:noFill/>
        </p:spPr>
        <p:txBody>
          <a:bodyPr wrap="square" lIns="0" rIns="0" tIns="0" bIns="0">
            <a:spAutoFit/>
          </a:bodyPr>
          <a:lstStyle/>
          <a:p>
            <a:pPr algn="l">
              <a:lnSpc>
                <a:spcPct val="125000"/>
              </a:lnSpc>
            </a:pPr>
            <a:r>
              <a:rPr sz="1100" b="1">
                <a:solidFill>
                  <a:srgbClr val="0B6E5B"/>
                </a:solidFill>
                <a:latin typeface="Consolas"/>
              </a:rPr>
              <a:t>01</a:t>
            </a:r>
          </a:p>
        </p:txBody>
      </p:sp>
      <p:sp>
        <p:nvSpPr>
          <p:cNvPr id="8" name="TextBox 7"/>
          <p:cNvSpPr txBox="1"/>
          <p:nvPr/>
        </p:nvSpPr>
        <p:spPr>
          <a:xfrm>
            <a:off x="1124712" y="2450592"/>
            <a:ext cx="4937760" cy="274320"/>
          </a:xfrm>
          <a:prstGeom prst="rect">
            <a:avLst/>
          </a:prstGeom>
          <a:noFill/>
        </p:spPr>
        <p:txBody>
          <a:bodyPr wrap="square" lIns="0" rIns="0" tIns="0" bIns="0">
            <a:spAutoFit/>
          </a:bodyPr>
          <a:lstStyle/>
          <a:p>
            <a:pPr algn="l">
              <a:lnSpc>
                <a:spcPct val="125000"/>
              </a:lnSpc>
            </a:pPr>
            <a:r>
              <a:rPr sz="1350" b="1">
                <a:solidFill>
                  <a:srgbClr val="0F1E24"/>
                </a:solidFill>
                <a:latin typeface="Georgia"/>
              </a:rPr>
              <a:t>Rolling conversation summary</a:t>
            </a:r>
          </a:p>
        </p:txBody>
      </p:sp>
      <p:sp>
        <p:nvSpPr>
          <p:cNvPr id="9" name="TextBox 8"/>
          <p:cNvSpPr txBox="1"/>
          <p:nvPr/>
        </p:nvSpPr>
        <p:spPr>
          <a:xfrm>
            <a:off x="1124712" y="2761488"/>
            <a:ext cx="4892040" cy="731520"/>
          </a:xfrm>
          <a:prstGeom prst="rect">
            <a:avLst/>
          </a:prstGeom>
          <a:noFill/>
        </p:spPr>
        <p:txBody>
          <a:bodyPr wrap="square" lIns="0" rIns="0" tIns="0" bIns="0">
            <a:spAutoFit/>
          </a:bodyPr>
          <a:lstStyle/>
          <a:p>
            <a:pPr algn="l">
              <a:lnSpc>
                <a:spcPct val="130000"/>
              </a:lnSpc>
            </a:pPr>
            <a:r>
              <a:rPr sz="1100" b="0">
                <a:solidFill>
                  <a:srgbClr val="3D5259"/>
                </a:solidFill>
                <a:latin typeface="Segoe UI"/>
              </a:rPr>
              <a:t>Replaces long verbatim history with a summary plus recent turns. Cuts tokens and improves months-old threads.</a:t>
            </a:r>
          </a:p>
        </p:txBody>
      </p:sp>
      <p:sp>
        <p:nvSpPr>
          <p:cNvPr id="10" name="TextBox 9"/>
          <p:cNvSpPr txBox="1"/>
          <p:nvPr/>
        </p:nvSpPr>
        <p:spPr>
          <a:xfrm>
            <a:off x="6364224" y="2468880"/>
            <a:ext cx="365760" cy="274320"/>
          </a:xfrm>
          <a:prstGeom prst="rect">
            <a:avLst/>
          </a:prstGeom>
          <a:noFill/>
        </p:spPr>
        <p:txBody>
          <a:bodyPr wrap="square" lIns="0" rIns="0" tIns="0" bIns="0">
            <a:spAutoFit/>
          </a:bodyPr>
          <a:lstStyle/>
          <a:p>
            <a:pPr algn="l">
              <a:lnSpc>
                <a:spcPct val="125000"/>
              </a:lnSpc>
            </a:pPr>
            <a:r>
              <a:rPr sz="1100" b="1">
                <a:solidFill>
                  <a:srgbClr val="0B6E5B"/>
                </a:solidFill>
                <a:latin typeface="Consolas"/>
              </a:rPr>
              <a:t>02</a:t>
            </a:r>
          </a:p>
        </p:txBody>
      </p:sp>
      <p:sp>
        <p:nvSpPr>
          <p:cNvPr id="11" name="TextBox 10"/>
          <p:cNvSpPr txBox="1"/>
          <p:nvPr/>
        </p:nvSpPr>
        <p:spPr>
          <a:xfrm>
            <a:off x="6775704" y="2450592"/>
            <a:ext cx="4937760" cy="274320"/>
          </a:xfrm>
          <a:prstGeom prst="rect">
            <a:avLst/>
          </a:prstGeom>
          <a:noFill/>
        </p:spPr>
        <p:txBody>
          <a:bodyPr wrap="square" lIns="0" rIns="0" tIns="0" bIns="0">
            <a:spAutoFit/>
          </a:bodyPr>
          <a:lstStyle/>
          <a:p>
            <a:pPr algn="l">
              <a:lnSpc>
                <a:spcPct val="125000"/>
              </a:lnSpc>
            </a:pPr>
            <a:r>
              <a:rPr sz="1350" b="1">
                <a:solidFill>
                  <a:srgbClr val="0F1E24"/>
                </a:solidFill>
                <a:latin typeface="Georgia"/>
              </a:rPr>
              <a:t>Bounded reference data</a:t>
            </a:r>
          </a:p>
        </p:txBody>
      </p:sp>
      <p:sp>
        <p:nvSpPr>
          <p:cNvPr id="12" name="TextBox 11"/>
          <p:cNvSpPr txBox="1"/>
          <p:nvPr/>
        </p:nvSpPr>
        <p:spPr>
          <a:xfrm>
            <a:off x="6775704" y="2761488"/>
            <a:ext cx="4892040" cy="731520"/>
          </a:xfrm>
          <a:prstGeom prst="rect">
            <a:avLst/>
          </a:prstGeom>
          <a:noFill/>
        </p:spPr>
        <p:txBody>
          <a:bodyPr wrap="square" lIns="0" rIns="0" tIns="0" bIns="0">
            <a:spAutoFit/>
          </a:bodyPr>
          <a:lstStyle/>
          <a:p>
            <a:pPr algn="l">
              <a:lnSpc>
                <a:spcPct val="130000"/>
              </a:lnSpc>
            </a:pPr>
            <a:r>
              <a:rPr sz="1100" b="0">
                <a:solidFill>
                  <a:srgbClr val="3D5259"/>
                </a:solidFill>
                <a:latin typeface="Segoe UI"/>
              </a:rPr>
              <a:t>Retrieved passages are currently unlimited per reply. Capping to the top few is the single largest saving.</a:t>
            </a:r>
          </a:p>
        </p:txBody>
      </p:sp>
      <p:sp>
        <p:nvSpPr>
          <p:cNvPr id="13" name="TextBox 12"/>
          <p:cNvSpPr txBox="1"/>
          <p:nvPr/>
        </p:nvSpPr>
        <p:spPr>
          <a:xfrm>
            <a:off x="713232" y="3703320"/>
            <a:ext cx="365760" cy="274320"/>
          </a:xfrm>
          <a:prstGeom prst="rect">
            <a:avLst/>
          </a:prstGeom>
          <a:noFill/>
        </p:spPr>
        <p:txBody>
          <a:bodyPr wrap="square" lIns="0" rIns="0" tIns="0" bIns="0">
            <a:spAutoFit/>
          </a:bodyPr>
          <a:lstStyle/>
          <a:p>
            <a:pPr algn="l">
              <a:lnSpc>
                <a:spcPct val="125000"/>
              </a:lnSpc>
            </a:pPr>
            <a:r>
              <a:rPr sz="1100" b="1">
                <a:solidFill>
                  <a:srgbClr val="0B6E5B"/>
                </a:solidFill>
                <a:latin typeface="Consolas"/>
              </a:rPr>
              <a:t>03</a:t>
            </a:r>
          </a:p>
        </p:txBody>
      </p:sp>
      <p:sp>
        <p:nvSpPr>
          <p:cNvPr id="14" name="TextBox 13"/>
          <p:cNvSpPr txBox="1"/>
          <p:nvPr/>
        </p:nvSpPr>
        <p:spPr>
          <a:xfrm>
            <a:off x="1124712" y="3685032"/>
            <a:ext cx="4937760" cy="274320"/>
          </a:xfrm>
          <a:prstGeom prst="rect">
            <a:avLst/>
          </a:prstGeom>
          <a:noFill/>
        </p:spPr>
        <p:txBody>
          <a:bodyPr wrap="square" lIns="0" rIns="0" tIns="0" bIns="0">
            <a:spAutoFit/>
          </a:bodyPr>
          <a:lstStyle/>
          <a:p>
            <a:pPr algn="l">
              <a:lnSpc>
                <a:spcPct val="125000"/>
              </a:lnSpc>
            </a:pPr>
            <a:r>
              <a:rPr sz="1350" b="1">
                <a:solidFill>
                  <a:srgbClr val="0F1E24"/>
                </a:solidFill>
                <a:latin typeface="Georgia"/>
              </a:rPr>
              <a:t>Message coalescing</a:t>
            </a:r>
          </a:p>
        </p:txBody>
      </p:sp>
      <p:sp>
        <p:nvSpPr>
          <p:cNvPr id="15" name="TextBox 14"/>
          <p:cNvSpPr txBox="1"/>
          <p:nvPr/>
        </p:nvSpPr>
        <p:spPr>
          <a:xfrm>
            <a:off x="1124712" y="3995928"/>
            <a:ext cx="4892040" cy="731520"/>
          </a:xfrm>
          <a:prstGeom prst="rect">
            <a:avLst/>
          </a:prstGeom>
          <a:noFill/>
        </p:spPr>
        <p:txBody>
          <a:bodyPr wrap="square" lIns="0" rIns="0" tIns="0" bIns="0">
            <a:spAutoFit/>
          </a:bodyPr>
          <a:lstStyle/>
          <a:p>
            <a:pPr algn="l">
              <a:lnSpc>
                <a:spcPct val="130000"/>
              </a:lnSpc>
            </a:pPr>
            <a:r>
              <a:rPr sz="1100" b="0">
                <a:solidFill>
                  <a:srgbClr val="3D5259"/>
                </a:solidFill>
                <a:latin typeface="Segoe UI"/>
              </a:rPr>
              <a:t>Customers send three messages meaning one sentence. Grouping them removes a quarter of all model calls.</a:t>
            </a:r>
          </a:p>
        </p:txBody>
      </p:sp>
      <p:sp>
        <p:nvSpPr>
          <p:cNvPr id="16" name="TextBox 15"/>
          <p:cNvSpPr txBox="1"/>
          <p:nvPr/>
        </p:nvSpPr>
        <p:spPr>
          <a:xfrm>
            <a:off x="6364224" y="3703320"/>
            <a:ext cx="365760" cy="274320"/>
          </a:xfrm>
          <a:prstGeom prst="rect">
            <a:avLst/>
          </a:prstGeom>
          <a:noFill/>
        </p:spPr>
        <p:txBody>
          <a:bodyPr wrap="square" lIns="0" rIns="0" tIns="0" bIns="0">
            <a:spAutoFit/>
          </a:bodyPr>
          <a:lstStyle/>
          <a:p>
            <a:pPr algn="l">
              <a:lnSpc>
                <a:spcPct val="125000"/>
              </a:lnSpc>
            </a:pPr>
            <a:r>
              <a:rPr sz="1100" b="1">
                <a:solidFill>
                  <a:srgbClr val="0B6E5B"/>
                </a:solidFill>
                <a:latin typeface="Consolas"/>
              </a:rPr>
              <a:t>04</a:t>
            </a:r>
          </a:p>
        </p:txBody>
      </p:sp>
      <p:sp>
        <p:nvSpPr>
          <p:cNvPr id="17" name="TextBox 16"/>
          <p:cNvSpPr txBox="1"/>
          <p:nvPr/>
        </p:nvSpPr>
        <p:spPr>
          <a:xfrm>
            <a:off x="6775704" y="3685032"/>
            <a:ext cx="4937760" cy="274320"/>
          </a:xfrm>
          <a:prstGeom prst="rect">
            <a:avLst/>
          </a:prstGeom>
          <a:noFill/>
        </p:spPr>
        <p:txBody>
          <a:bodyPr wrap="square" lIns="0" rIns="0" tIns="0" bIns="0">
            <a:spAutoFit/>
          </a:bodyPr>
          <a:lstStyle/>
          <a:p>
            <a:pPr algn="l">
              <a:lnSpc>
                <a:spcPct val="125000"/>
              </a:lnSpc>
            </a:pPr>
            <a:r>
              <a:rPr sz="1350" b="1">
                <a:solidFill>
                  <a:srgbClr val="0F1E24"/>
                </a:solidFill>
                <a:latin typeface="Georgia"/>
              </a:rPr>
              <a:t>Prompt caching</a:t>
            </a:r>
          </a:p>
        </p:txBody>
      </p:sp>
      <p:sp>
        <p:nvSpPr>
          <p:cNvPr id="18" name="TextBox 17"/>
          <p:cNvSpPr txBox="1"/>
          <p:nvPr/>
        </p:nvSpPr>
        <p:spPr>
          <a:xfrm>
            <a:off x="6775704" y="3995928"/>
            <a:ext cx="4892040" cy="731520"/>
          </a:xfrm>
          <a:prstGeom prst="rect">
            <a:avLst/>
          </a:prstGeom>
          <a:noFill/>
        </p:spPr>
        <p:txBody>
          <a:bodyPr wrap="square" lIns="0" rIns="0" tIns="0" bIns="0">
            <a:spAutoFit/>
          </a:bodyPr>
          <a:lstStyle/>
          <a:p>
            <a:pPr algn="l">
              <a:lnSpc>
                <a:spcPct val="130000"/>
              </a:lnSpc>
            </a:pPr>
            <a:r>
              <a:rPr sz="1100" b="0">
                <a:solidFill>
                  <a:srgbClr val="3D5259"/>
                </a:solidFill>
                <a:latin typeface="Segoe UI"/>
              </a:rPr>
              <a:t>The unchanging part of every prompt is re-sent each call. Ordering it first makes it cacheable.</a:t>
            </a:r>
          </a:p>
        </p:txBody>
      </p:sp>
      <p:sp>
        <p:nvSpPr>
          <p:cNvPr id="19" name="TextBox 18"/>
          <p:cNvSpPr txBox="1"/>
          <p:nvPr/>
        </p:nvSpPr>
        <p:spPr>
          <a:xfrm>
            <a:off x="713232" y="4937760"/>
            <a:ext cx="365760" cy="274320"/>
          </a:xfrm>
          <a:prstGeom prst="rect">
            <a:avLst/>
          </a:prstGeom>
          <a:noFill/>
        </p:spPr>
        <p:txBody>
          <a:bodyPr wrap="square" lIns="0" rIns="0" tIns="0" bIns="0">
            <a:spAutoFit/>
          </a:bodyPr>
          <a:lstStyle/>
          <a:p>
            <a:pPr algn="l">
              <a:lnSpc>
                <a:spcPct val="125000"/>
              </a:lnSpc>
            </a:pPr>
            <a:r>
              <a:rPr sz="1100" b="1">
                <a:solidFill>
                  <a:srgbClr val="0B6E5B"/>
                </a:solidFill>
                <a:latin typeface="Consolas"/>
              </a:rPr>
              <a:t>05</a:t>
            </a:r>
          </a:p>
        </p:txBody>
      </p:sp>
      <p:sp>
        <p:nvSpPr>
          <p:cNvPr id="20" name="TextBox 19"/>
          <p:cNvSpPr txBox="1"/>
          <p:nvPr/>
        </p:nvSpPr>
        <p:spPr>
          <a:xfrm>
            <a:off x="1124712" y="4919472"/>
            <a:ext cx="4937760" cy="274320"/>
          </a:xfrm>
          <a:prstGeom prst="rect">
            <a:avLst/>
          </a:prstGeom>
          <a:noFill/>
        </p:spPr>
        <p:txBody>
          <a:bodyPr wrap="square" lIns="0" rIns="0" tIns="0" bIns="0">
            <a:spAutoFit/>
          </a:bodyPr>
          <a:lstStyle/>
          <a:p>
            <a:pPr algn="l">
              <a:lnSpc>
                <a:spcPct val="125000"/>
              </a:lnSpc>
            </a:pPr>
            <a:r>
              <a:rPr sz="1350" b="1">
                <a:solidFill>
                  <a:srgbClr val="0F1E24"/>
                </a:solidFill>
                <a:latin typeface="Georgia"/>
              </a:rPr>
              <a:t>Batch pricing on capture</a:t>
            </a:r>
          </a:p>
        </p:txBody>
      </p:sp>
      <p:sp>
        <p:nvSpPr>
          <p:cNvPr id="21" name="TextBox 20"/>
          <p:cNvSpPr txBox="1"/>
          <p:nvPr/>
        </p:nvSpPr>
        <p:spPr>
          <a:xfrm>
            <a:off x="1124712" y="5230368"/>
            <a:ext cx="4892040" cy="731520"/>
          </a:xfrm>
          <a:prstGeom prst="rect">
            <a:avLst/>
          </a:prstGeom>
          <a:noFill/>
        </p:spPr>
        <p:txBody>
          <a:bodyPr wrap="square" lIns="0" rIns="0" tIns="0" bIns="0">
            <a:spAutoFit/>
          </a:bodyPr>
          <a:lstStyle/>
          <a:p>
            <a:pPr algn="l">
              <a:lnSpc>
                <a:spcPct val="130000"/>
              </a:lnSpc>
            </a:pPr>
            <a:r>
              <a:rPr sz="1100" b="0">
                <a:solidFill>
                  <a:srgbClr val="3D5259"/>
                </a:solidFill>
                <a:latin typeface="Segoe UI"/>
              </a:rPr>
              <a:t>Lead extraction already runs in background, so it qualifies for 50%-off batch rates.</a:t>
            </a:r>
          </a:p>
        </p:txBody>
      </p:sp>
      <p:sp>
        <p:nvSpPr>
          <p:cNvPr id="22" name="TextBox 21"/>
          <p:cNvSpPr txBox="1"/>
          <p:nvPr/>
        </p:nvSpPr>
        <p:spPr>
          <a:xfrm>
            <a:off x="6364224" y="4937760"/>
            <a:ext cx="365760" cy="274320"/>
          </a:xfrm>
          <a:prstGeom prst="rect">
            <a:avLst/>
          </a:prstGeom>
          <a:noFill/>
        </p:spPr>
        <p:txBody>
          <a:bodyPr wrap="square" lIns="0" rIns="0" tIns="0" bIns="0">
            <a:spAutoFit/>
          </a:bodyPr>
          <a:lstStyle/>
          <a:p>
            <a:pPr algn="l">
              <a:lnSpc>
                <a:spcPct val="125000"/>
              </a:lnSpc>
            </a:pPr>
            <a:r>
              <a:rPr sz="1100" b="1">
                <a:solidFill>
                  <a:srgbClr val="0B6E5B"/>
                </a:solidFill>
                <a:latin typeface="Consolas"/>
              </a:rPr>
              <a:t>06</a:t>
            </a:r>
          </a:p>
        </p:txBody>
      </p:sp>
      <p:sp>
        <p:nvSpPr>
          <p:cNvPr id="23" name="TextBox 22"/>
          <p:cNvSpPr txBox="1"/>
          <p:nvPr/>
        </p:nvSpPr>
        <p:spPr>
          <a:xfrm>
            <a:off x="6775704" y="4919472"/>
            <a:ext cx="4937760" cy="274320"/>
          </a:xfrm>
          <a:prstGeom prst="rect">
            <a:avLst/>
          </a:prstGeom>
          <a:noFill/>
        </p:spPr>
        <p:txBody>
          <a:bodyPr wrap="square" lIns="0" rIns="0" tIns="0" bIns="0">
            <a:spAutoFit/>
          </a:bodyPr>
          <a:lstStyle/>
          <a:p>
            <a:pPr algn="l">
              <a:lnSpc>
                <a:spcPct val="125000"/>
              </a:lnSpc>
            </a:pPr>
            <a:r>
              <a:rPr sz="1350" b="1">
                <a:solidFill>
                  <a:srgbClr val="0F1E24"/>
                </a:solidFill>
                <a:latin typeface="Georgia"/>
              </a:rPr>
              <a:t>Per-call model routing</a:t>
            </a:r>
          </a:p>
        </p:txBody>
      </p:sp>
      <p:sp>
        <p:nvSpPr>
          <p:cNvPr id="24" name="TextBox 23"/>
          <p:cNvSpPr txBox="1"/>
          <p:nvPr/>
        </p:nvSpPr>
        <p:spPr>
          <a:xfrm>
            <a:off x="6775704" y="5230368"/>
            <a:ext cx="4892040" cy="731520"/>
          </a:xfrm>
          <a:prstGeom prst="rect">
            <a:avLst/>
          </a:prstGeom>
          <a:noFill/>
        </p:spPr>
        <p:txBody>
          <a:bodyPr wrap="square" lIns="0" rIns="0" tIns="0" bIns="0">
            <a:spAutoFit/>
          </a:bodyPr>
          <a:lstStyle/>
          <a:p>
            <a:pPr algn="l">
              <a:lnSpc>
                <a:spcPct val="130000"/>
              </a:lnSpc>
            </a:pPr>
            <a:r>
              <a:rPr sz="1100" b="0">
                <a:solidFill>
                  <a:srgbClr val="3D5259"/>
                </a:solidFill>
                <a:latin typeface="Segoe UI"/>
              </a:rPr>
              <a:t>Routing and capture run on the cheapest model; only the customer-facing reply needs a stronger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548640" cy="274320"/>
          </a:xfrm>
          <a:prstGeom prst="rect">
            <a:avLst/>
          </a:prstGeom>
          <a:noFill/>
        </p:spPr>
        <p:txBody>
          <a:bodyPr wrap="square" lIns="0" rIns="0" tIns="0" bIns="0">
            <a:spAutoFit/>
          </a:bodyPr>
          <a:lstStyle/>
          <a:p>
            <a:pPr algn="l">
              <a:lnSpc>
                <a:spcPct val="125000"/>
              </a:lnSpc>
            </a:pPr>
            <a:r>
              <a:rPr sz="1100" b="1" spc="130">
                <a:solidFill>
                  <a:srgbClr val="0B6E5B"/>
                </a:solidFill>
                <a:latin typeface="Consolas"/>
              </a:rPr>
              <a:t>13</a:t>
            </a:r>
          </a:p>
        </p:txBody>
      </p:sp>
      <p:sp>
        <p:nvSpPr>
          <p:cNvPr id="4" name="TextBox 3"/>
          <p:cNvSpPr txBox="1"/>
          <p:nvPr/>
        </p:nvSpPr>
        <p:spPr>
          <a:xfrm>
            <a:off x="1188720" y="457200"/>
            <a:ext cx="8229600" cy="274320"/>
          </a:xfrm>
          <a:prstGeom prst="rect">
            <a:avLst/>
          </a:prstGeom>
          <a:noFill/>
        </p:spPr>
        <p:txBody>
          <a:bodyPr wrap="square" lIns="0" rIns="0" tIns="0" bIns="0">
            <a:spAutoFit/>
          </a:bodyPr>
          <a:lstStyle/>
          <a:p>
            <a:pPr algn="l">
              <a:lnSpc>
                <a:spcPct val="125000"/>
              </a:lnSpc>
            </a:pPr>
            <a:r>
              <a:rPr sz="1100" b="0" spc="130">
                <a:solidFill>
                  <a:srgbClr val="6B8087"/>
                </a:solidFill>
                <a:latin typeface="Consolas"/>
              </a:rPr>
              <a:t>ARCHITECTURE</a:t>
            </a:r>
          </a:p>
        </p:txBody>
      </p:sp>
      <p:sp>
        <p:nvSpPr>
          <p:cNvPr id="5" name="TextBox 4"/>
          <p:cNvSpPr txBox="1"/>
          <p:nvPr/>
        </p:nvSpPr>
        <p:spPr>
          <a:xfrm>
            <a:off x="713232" y="868680"/>
            <a:ext cx="10765231" cy="914400"/>
          </a:xfrm>
          <a:prstGeom prst="rect">
            <a:avLst/>
          </a:prstGeom>
          <a:noFill/>
        </p:spPr>
        <p:txBody>
          <a:bodyPr wrap="square" lIns="0" rIns="0" tIns="0" bIns="0">
            <a:spAutoFit/>
          </a:bodyPr>
          <a:lstStyle/>
          <a:p>
            <a:pPr algn="l">
              <a:lnSpc>
                <a:spcPct val="106000"/>
              </a:lnSpc>
            </a:pPr>
            <a:r>
              <a:rPr sz="3000" b="1">
                <a:solidFill>
                  <a:srgbClr val="0F1E24"/>
                </a:solidFill>
                <a:latin typeface="Georgia"/>
              </a:rPr>
              <a:t>No vendor lock-in on the most volatile input</a:t>
            </a:r>
          </a:p>
        </p:txBody>
      </p:sp>
      <p:sp>
        <p:nvSpPr>
          <p:cNvPr id="6" name="Rounded Rectangle 5"/>
          <p:cNvSpPr/>
          <p:nvPr/>
        </p:nvSpPr>
        <p:spPr>
          <a:xfrm>
            <a:off x="713232" y="1965960"/>
            <a:ext cx="5394960" cy="338328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87552" y="2240280"/>
            <a:ext cx="4846320" cy="365760"/>
          </a:xfrm>
          <a:prstGeom prst="rect">
            <a:avLst/>
          </a:prstGeom>
          <a:noFill/>
        </p:spPr>
        <p:txBody>
          <a:bodyPr wrap="square" lIns="0" rIns="0" tIns="0" bIns="0">
            <a:spAutoFit/>
          </a:bodyPr>
          <a:lstStyle/>
          <a:p>
            <a:pPr algn="l">
              <a:lnSpc>
                <a:spcPct val="125000"/>
              </a:lnSpc>
            </a:pPr>
            <a:r>
              <a:rPr sz="1700" b="1">
                <a:solidFill>
                  <a:srgbClr val="0F1E24"/>
                </a:solidFill>
                <a:latin typeface="Georgia"/>
              </a:rPr>
              <a:t>Five interchangeable backends</a:t>
            </a:r>
          </a:p>
        </p:txBody>
      </p:sp>
      <p:sp>
        <p:nvSpPr>
          <p:cNvPr id="8" name="TextBox 7"/>
          <p:cNvSpPr txBox="1"/>
          <p:nvPr/>
        </p:nvSpPr>
        <p:spPr>
          <a:xfrm>
            <a:off x="987552" y="2724912"/>
            <a:ext cx="4846320" cy="914400"/>
          </a:xfrm>
          <a:prstGeom prst="rect">
            <a:avLst/>
          </a:prstGeom>
          <a:noFill/>
        </p:spPr>
        <p:txBody>
          <a:bodyPr wrap="square" lIns="0" rIns="0" tIns="0" bIns="0">
            <a:spAutoFit/>
          </a:bodyPr>
          <a:lstStyle/>
          <a:p>
            <a:pPr algn="l">
              <a:lnSpc>
                <a:spcPct val="135000"/>
              </a:lnSpc>
            </a:pPr>
            <a:r>
              <a:rPr sz="1200" b="0">
                <a:solidFill>
                  <a:srgbClr val="3D5259"/>
                </a:solidFill>
                <a:latin typeface="Segoe UI"/>
              </a:rPr>
              <a:t>The platform speaks to Gemini, Groq, Cerebras, Anthropic and a self-hosted model through one interface. Changing provider is configuration, not an engineering project.</a:t>
            </a:r>
          </a:p>
        </p:txBody>
      </p:sp>
      <p:sp>
        <p:nvSpPr>
          <p:cNvPr id="9" name="TextBox 8"/>
          <p:cNvSpPr txBox="1"/>
          <p:nvPr/>
        </p:nvSpPr>
        <p:spPr>
          <a:xfrm>
            <a:off x="987552" y="3840480"/>
            <a:ext cx="228600" cy="274320"/>
          </a:xfrm>
          <a:prstGeom prst="rect">
            <a:avLst/>
          </a:prstGeom>
          <a:noFill/>
        </p:spPr>
        <p:txBody>
          <a:bodyPr wrap="square" lIns="0" rIns="0" tIns="0" bIns="0">
            <a:spAutoFit/>
          </a:bodyPr>
          <a:lstStyle/>
          <a:p>
            <a:pPr algn="l">
              <a:lnSpc>
                <a:spcPct val="125000"/>
              </a:lnSpc>
            </a:pPr>
            <a:r>
              <a:rPr sz="1100" b="0">
                <a:solidFill>
                  <a:srgbClr val="0B6E5B"/>
                </a:solidFill>
                <a:latin typeface="Consolas"/>
              </a:rPr>
              <a:t>—</a:t>
            </a:r>
          </a:p>
        </p:txBody>
      </p:sp>
      <p:sp>
        <p:nvSpPr>
          <p:cNvPr id="10" name="TextBox 9"/>
          <p:cNvSpPr txBox="1"/>
          <p:nvPr/>
        </p:nvSpPr>
        <p:spPr>
          <a:xfrm>
            <a:off x="1243584" y="3840480"/>
            <a:ext cx="4572000" cy="411480"/>
          </a:xfrm>
          <a:prstGeom prst="rect">
            <a:avLst/>
          </a:prstGeom>
          <a:noFill/>
        </p:spPr>
        <p:txBody>
          <a:bodyPr wrap="square" lIns="0" rIns="0" tIns="0" bIns="0">
            <a:spAutoFit/>
          </a:bodyPr>
          <a:lstStyle/>
          <a:p>
            <a:pPr algn="l">
              <a:lnSpc>
                <a:spcPct val="125000"/>
              </a:lnSpc>
            </a:pPr>
            <a:r>
              <a:rPr sz="1150" b="0">
                <a:solidFill>
                  <a:srgbClr val="3D5259"/>
                </a:solidFill>
                <a:latin typeface="Segoe UI"/>
              </a:rPr>
              <a:t>Automatic failover on provider error or exhausted quota</a:t>
            </a:r>
          </a:p>
        </p:txBody>
      </p:sp>
      <p:sp>
        <p:nvSpPr>
          <p:cNvPr id="11" name="TextBox 10"/>
          <p:cNvSpPr txBox="1"/>
          <p:nvPr/>
        </p:nvSpPr>
        <p:spPr>
          <a:xfrm>
            <a:off x="987552" y="4297680"/>
            <a:ext cx="228600" cy="274320"/>
          </a:xfrm>
          <a:prstGeom prst="rect">
            <a:avLst/>
          </a:prstGeom>
          <a:noFill/>
        </p:spPr>
        <p:txBody>
          <a:bodyPr wrap="square" lIns="0" rIns="0" tIns="0" bIns="0">
            <a:spAutoFit/>
          </a:bodyPr>
          <a:lstStyle/>
          <a:p>
            <a:pPr algn="l">
              <a:lnSpc>
                <a:spcPct val="125000"/>
              </a:lnSpc>
            </a:pPr>
            <a:r>
              <a:rPr sz="1100" b="0">
                <a:solidFill>
                  <a:srgbClr val="0B6E5B"/>
                </a:solidFill>
                <a:latin typeface="Consolas"/>
              </a:rPr>
              <a:t>—</a:t>
            </a:r>
          </a:p>
        </p:txBody>
      </p:sp>
      <p:sp>
        <p:nvSpPr>
          <p:cNvPr id="12" name="TextBox 11"/>
          <p:cNvSpPr txBox="1"/>
          <p:nvPr/>
        </p:nvSpPr>
        <p:spPr>
          <a:xfrm>
            <a:off x="1243584" y="4297680"/>
            <a:ext cx="4572000" cy="411480"/>
          </a:xfrm>
          <a:prstGeom prst="rect">
            <a:avLst/>
          </a:prstGeom>
          <a:noFill/>
        </p:spPr>
        <p:txBody>
          <a:bodyPr wrap="square" lIns="0" rIns="0" tIns="0" bIns="0">
            <a:spAutoFit/>
          </a:bodyPr>
          <a:lstStyle/>
          <a:p>
            <a:pPr algn="l">
              <a:lnSpc>
                <a:spcPct val="125000"/>
              </a:lnSpc>
            </a:pPr>
            <a:r>
              <a:rPr sz="1150" b="0">
                <a:solidFill>
                  <a:srgbClr val="3D5259"/>
                </a:solidFill>
                <a:latin typeface="Segoe UI"/>
              </a:rPr>
              <a:t>Self-hosted fallback, so an outage degrades instead of stopping</a:t>
            </a:r>
          </a:p>
        </p:txBody>
      </p:sp>
      <p:sp>
        <p:nvSpPr>
          <p:cNvPr id="13" name="TextBox 12"/>
          <p:cNvSpPr txBox="1"/>
          <p:nvPr/>
        </p:nvSpPr>
        <p:spPr>
          <a:xfrm>
            <a:off x="987552" y="4754880"/>
            <a:ext cx="228600" cy="274320"/>
          </a:xfrm>
          <a:prstGeom prst="rect">
            <a:avLst/>
          </a:prstGeom>
          <a:noFill/>
        </p:spPr>
        <p:txBody>
          <a:bodyPr wrap="square" lIns="0" rIns="0" tIns="0" bIns="0">
            <a:spAutoFit/>
          </a:bodyPr>
          <a:lstStyle/>
          <a:p>
            <a:pPr algn="l">
              <a:lnSpc>
                <a:spcPct val="125000"/>
              </a:lnSpc>
            </a:pPr>
            <a:r>
              <a:rPr sz="1100" b="0">
                <a:solidFill>
                  <a:srgbClr val="0B6E5B"/>
                </a:solidFill>
                <a:latin typeface="Consolas"/>
              </a:rPr>
              <a:t>—</a:t>
            </a:r>
          </a:p>
        </p:txBody>
      </p:sp>
      <p:sp>
        <p:nvSpPr>
          <p:cNvPr id="14" name="TextBox 13"/>
          <p:cNvSpPr txBox="1"/>
          <p:nvPr/>
        </p:nvSpPr>
        <p:spPr>
          <a:xfrm>
            <a:off x="1243584" y="4754880"/>
            <a:ext cx="4572000" cy="411480"/>
          </a:xfrm>
          <a:prstGeom prst="rect">
            <a:avLst/>
          </a:prstGeom>
          <a:noFill/>
        </p:spPr>
        <p:txBody>
          <a:bodyPr wrap="square" lIns="0" rIns="0" tIns="0" bIns="0">
            <a:spAutoFit/>
          </a:bodyPr>
          <a:lstStyle/>
          <a:p>
            <a:pPr algn="l">
              <a:lnSpc>
                <a:spcPct val="125000"/>
              </a:lnSpc>
            </a:pPr>
            <a:r>
              <a:rPr sz="1150" b="0">
                <a:solidFill>
                  <a:srgbClr val="3D5259"/>
                </a:solidFill>
                <a:latin typeface="Segoe UI"/>
              </a:rPr>
              <a:t>Model choice settable per call, per client and per tier</a:t>
            </a:r>
          </a:p>
        </p:txBody>
      </p:sp>
      <p:sp>
        <p:nvSpPr>
          <p:cNvPr id="15" name="Rounded Rectangle 14"/>
          <p:cNvSpPr/>
          <p:nvPr/>
        </p:nvSpPr>
        <p:spPr>
          <a:xfrm>
            <a:off x="6364224" y="1965960"/>
            <a:ext cx="5394960" cy="3383280"/>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38544" y="2240280"/>
            <a:ext cx="4846320" cy="365760"/>
          </a:xfrm>
          <a:prstGeom prst="rect">
            <a:avLst/>
          </a:prstGeom>
          <a:noFill/>
        </p:spPr>
        <p:txBody>
          <a:bodyPr wrap="square" lIns="0" rIns="0" tIns="0" bIns="0">
            <a:spAutoFit/>
          </a:bodyPr>
          <a:lstStyle/>
          <a:p>
            <a:pPr algn="l">
              <a:lnSpc>
                <a:spcPct val="125000"/>
              </a:lnSpc>
            </a:pPr>
            <a:r>
              <a:rPr sz="1700" b="1">
                <a:solidFill>
                  <a:srgbClr val="0F1E24"/>
                </a:solidFill>
                <a:latin typeface="Georgia"/>
              </a:rPr>
              <a:t>Why that matters commercially</a:t>
            </a:r>
          </a:p>
        </p:txBody>
      </p:sp>
      <p:sp>
        <p:nvSpPr>
          <p:cNvPr id="17" name="TextBox 16"/>
          <p:cNvSpPr txBox="1"/>
          <p:nvPr/>
        </p:nvSpPr>
        <p:spPr>
          <a:xfrm>
            <a:off x="6638544" y="2724912"/>
            <a:ext cx="4846320" cy="914400"/>
          </a:xfrm>
          <a:prstGeom prst="rect">
            <a:avLst/>
          </a:prstGeom>
          <a:noFill/>
        </p:spPr>
        <p:txBody>
          <a:bodyPr wrap="square" lIns="0" rIns="0" tIns="0" bIns="0">
            <a:spAutoFit/>
          </a:bodyPr>
          <a:lstStyle/>
          <a:p>
            <a:pPr algn="l">
              <a:lnSpc>
                <a:spcPct val="135000"/>
              </a:lnSpc>
            </a:pPr>
            <a:r>
              <a:rPr sz="1200" b="0">
                <a:solidFill>
                  <a:srgbClr val="3D5259"/>
                </a:solidFill>
                <a:latin typeface="Segoe UI"/>
              </a:rPr>
              <a:t>Inference pricing is the fastest-moving cost in this business and has fallen steadily. No part of the product assumes a vendor.</a:t>
            </a:r>
          </a:p>
        </p:txBody>
      </p:sp>
      <p:sp>
        <p:nvSpPr>
          <p:cNvPr id="18" name="TextBox 17"/>
          <p:cNvSpPr txBox="1"/>
          <p:nvPr/>
        </p:nvSpPr>
        <p:spPr>
          <a:xfrm>
            <a:off x="6638544" y="3840480"/>
            <a:ext cx="228600" cy="274320"/>
          </a:xfrm>
          <a:prstGeom prst="rect">
            <a:avLst/>
          </a:prstGeom>
          <a:noFill/>
        </p:spPr>
        <p:txBody>
          <a:bodyPr wrap="square" lIns="0" rIns="0" tIns="0" bIns="0">
            <a:spAutoFit/>
          </a:bodyPr>
          <a:lstStyle/>
          <a:p>
            <a:pPr algn="l">
              <a:lnSpc>
                <a:spcPct val="125000"/>
              </a:lnSpc>
            </a:pPr>
            <a:r>
              <a:rPr sz="1100" b="0">
                <a:solidFill>
                  <a:srgbClr val="0B6E5B"/>
                </a:solidFill>
                <a:latin typeface="Consolas"/>
              </a:rPr>
              <a:t>—</a:t>
            </a:r>
          </a:p>
        </p:txBody>
      </p:sp>
      <p:sp>
        <p:nvSpPr>
          <p:cNvPr id="19" name="TextBox 18"/>
          <p:cNvSpPr txBox="1"/>
          <p:nvPr/>
        </p:nvSpPr>
        <p:spPr>
          <a:xfrm>
            <a:off x="6894576" y="3840480"/>
            <a:ext cx="4572000" cy="411480"/>
          </a:xfrm>
          <a:prstGeom prst="rect">
            <a:avLst/>
          </a:prstGeom>
          <a:noFill/>
        </p:spPr>
        <p:txBody>
          <a:bodyPr wrap="square" lIns="0" rIns="0" tIns="0" bIns="0">
            <a:spAutoFit/>
          </a:bodyPr>
          <a:lstStyle/>
          <a:p>
            <a:pPr algn="l">
              <a:lnSpc>
                <a:spcPct val="125000"/>
              </a:lnSpc>
            </a:pPr>
            <a:r>
              <a:rPr sz="1150" b="0">
                <a:solidFill>
                  <a:srgbClr val="3D5259"/>
                </a:solidFill>
                <a:latin typeface="Segoe UI"/>
              </a:rPr>
              <a:t>Every price cut is captured automatically</a:t>
            </a:r>
          </a:p>
        </p:txBody>
      </p:sp>
      <p:sp>
        <p:nvSpPr>
          <p:cNvPr id="20" name="TextBox 19"/>
          <p:cNvSpPr txBox="1"/>
          <p:nvPr/>
        </p:nvSpPr>
        <p:spPr>
          <a:xfrm>
            <a:off x="6638544" y="4297680"/>
            <a:ext cx="228600" cy="274320"/>
          </a:xfrm>
          <a:prstGeom prst="rect">
            <a:avLst/>
          </a:prstGeom>
          <a:noFill/>
        </p:spPr>
        <p:txBody>
          <a:bodyPr wrap="square" lIns="0" rIns="0" tIns="0" bIns="0">
            <a:spAutoFit/>
          </a:bodyPr>
          <a:lstStyle/>
          <a:p>
            <a:pPr algn="l">
              <a:lnSpc>
                <a:spcPct val="125000"/>
              </a:lnSpc>
            </a:pPr>
            <a:r>
              <a:rPr sz="1100" b="0">
                <a:solidFill>
                  <a:srgbClr val="0B6E5B"/>
                </a:solidFill>
                <a:latin typeface="Consolas"/>
              </a:rPr>
              <a:t>—</a:t>
            </a:r>
          </a:p>
        </p:txBody>
      </p:sp>
      <p:sp>
        <p:nvSpPr>
          <p:cNvPr id="21" name="TextBox 20"/>
          <p:cNvSpPr txBox="1"/>
          <p:nvPr/>
        </p:nvSpPr>
        <p:spPr>
          <a:xfrm>
            <a:off x="6894576" y="4297680"/>
            <a:ext cx="4572000" cy="411480"/>
          </a:xfrm>
          <a:prstGeom prst="rect">
            <a:avLst/>
          </a:prstGeom>
          <a:noFill/>
        </p:spPr>
        <p:txBody>
          <a:bodyPr wrap="square" lIns="0" rIns="0" tIns="0" bIns="0">
            <a:spAutoFit/>
          </a:bodyPr>
          <a:lstStyle/>
          <a:p>
            <a:pPr algn="l">
              <a:lnSpc>
                <a:spcPct val="125000"/>
              </a:lnSpc>
            </a:pPr>
            <a:r>
              <a:rPr sz="1150" b="0">
                <a:solidFill>
                  <a:srgbClr val="3D5259"/>
                </a:solidFill>
                <a:latin typeface="Segoe UI"/>
              </a:rPr>
              <a:t>Every price rise is answered by re-pointing configuration</a:t>
            </a:r>
          </a:p>
        </p:txBody>
      </p:sp>
      <p:sp>
        <p:nvSpPr>
          <p:cNvPr id="22" name="TextBox 21"/>
          <p:cNvSpPr txBox="1"/>
          <p:nvPr/>
        </p:nvSpPr>
        <p:spPr>
          <a:xfrm>
            <a:off x="6638544" y="4754880"/>
            <a:ext cx="228600" cy="274320"/>
          </a:xfrm>
          <a:prstGeom prst="rect">
            <a:avLst/>
          </a:prstGeom>
          <a:noFill/>
        </p:spPr>
        <p:txBody>
          <a:bodyPr wrap="square" lIns="0" rIns="0" tIns="0" bIns="0">
            <a:spAutoFit/>
          </a:bodyPr>
          <a:lstStyle/>
          <a:p>
            <a:pPr algn="l">
              <a:lnSpc>
                <a:spcPct val="125000"/>
              </a:lnSpc>
            </a:pPr>
            <a:r>
              <a:rPr sz="1100" b="0">
                <a:solidFill>
                  <a:srgbClr val="0B6E5B"/>
                </a:solidFill>
                <a:latin typeface="Consolas"/>
              </a:rPr>
              <a:t>—</a:t>
            </a:r>
          </a:p>
        </p:txBody>
      </p:sp>
      <p:sp>
        <p:nvSpPr>
          <p:cNvPr id="23" name="TextBox 22"/>
          <p:cNvSpPr txBox="1"/>
          <p:nvPr/>
        </p:nvSpPr>
        <p:spPr>
          <a:xfrm>
            <a:off x="6894576" y="4754880"/>
            <a:ext cx="4572000" cy="411480"/>
          </a:xfrm>
          <a:prstGeom prst="rect">
            <a:avLst/>
          </a:prstGeom>
          <a:noFill/>
        </p:spPr>
        <p:txBody>
          <a:bodyPr wrap="square" lIns="0" rIns="0" tIns="0" bIns="0">
            <a:spAutoFit/>
          </a:bodyPr>
          <a:lstStyle/>
          <a:p>
            <a:pPr algn="l">
              <a:lnSpc>
                <a:spcPct val="125000"/>
              </a:lnSpc>
            </a:pPr>
            <a:r>
              <a:rPr sz="1150" b="0">
                <a:solidFill>
                  <a:srgbClr val="3D5259"/>
                </a:solidFill>
                <a:latin typeface="Segoe UI"/>
              </a:rPr>
              <a:t>Hardware can be introduced later without rewriting the product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548640" cy="274320"/>
          </a:xfrm>
          <a:prstGeom prst="rect">
            <a:avLst/>
          </a:prstGeom>
          <a:noFill/>
        </p:spPr>
        <p:txBody>
          <a:bodyPr wrap="square" lIns="0" rIns="0" tIns="0" bIns="0">
            <a:spAutoFit/>
          </a:bodyPr>
          <a:lstStyle/>
          <a:p>
            <a:pPr algn="l">
              <a:lnSpc>
                <a:spcPct val="125000"/>
              </a:lnSpc>
            </a:pPr>
            <a:r>
              <a:rPr sz="1100" b="1" spc="130">
                <a:solidFill>
                  <a:srgbClr val="0B6E5B"/>
                </a:solidFill>
                <a:latin typeface="Consolas"/>
              </a:rPr>
              <a:t>14</a:t>
            </a:r>
          </a:p>
        </p:txBody>
      </p:sp>
      <p:sp>
        <p:nvSpPr>
          <p:cNvPr id="4" name="TextBox 3"/>
          <p:cNvSpPr txBox="1"/>
          <p:nvPr/>
        </p:nvSpPr>
        <p:spPr>
          <a:xfrm>
            <a:off x="1188720" y="457200"/>
            <a:ext cx="8229600" cy="274320"/>
          </a:xfrm>
          <a:prstGeom prst="rect">
            <a:avLst/>
          </a:prstGeom>
          <a:noFill/>
        </p:spPr>
        <p:txBody>
          <a:bodyPr wrap="square" lIns="0" rIns="0" tIns="0" bIns="0">
            <a:spAutoFit/>
          </a:bodyPr>
          <a:lstStyle/>
          <a:p>
            <a:pPr algn="l">
              <a:lnSpc>
                <a:spcPct val="125000"/>
              </a:lnSpc>
            </a:pPr>
            <a:r>
              <a:rPr sz="1100" b="0" spc="130">
                <a:solidFill>
                  <a:srgbClr val="6B8087"/>
                </a:solidFill>
                <a:latin typeface="Consolas"/>
              </a:rPr>
              <a:t>NOT IN THESE FIGURES</a:t>
            </a:r>
          </a:p>
        </p:txBody>
      </p:sp>
      <p:sp>
        <p:nvSpPr>
          <p:cNvPr id="5" name="TextBox 4"/>
          <p:cNvSpPr txBox="1"/>
          <p:nvPr/>
        </p:nvSpPr>
        <p:spPr>
          <a:xfrm>
            <a:off x="713232" y="868680"/>
            <a:ext cx="10765231" cy="914400"/>
          </a:xfrm>
          <a:prstGeom prst="rect">
            <a:avLst/>
          </a:prstGeom>
          <a:noFill/>
        </p:spPr>
        <p:txBody>
          <a:bodyPr wrap="square" lIns="0" rIns="0" tIns="0" bIns="0">
            <a:spAutoFit/>
          </a:bodyPr>
          <a:lstStyle/>
          <a:p>
            <a:pPr algn="l">
              <a:lnSpc>
                <a:spcPct val="106000"/>
              </a:lnSpc>
            </a:pPr>
            <a:r>
              <a:rPr sz="3000" b="1">
                <a:solidFill>
                  <a:srgbClr val="0F1E24"/>
                </a:solidFill>
                <a:latin typeface="Georgia"/>
              </a:rPr>
              <a:t>What else appears on the bill</a:t>
            </a:r>
          </a:p>
        </p:txBody>
      </p:sp>
      <p:sp>
        <p:nvSpPr>
          <p:cNvPr id="6" name="TextBox 5"/>
          <p:cNvSpPr txBox="1"/>
          <p:nvPr/>
        </p:nvSpPr>
        <p:spPr>
          <a:xfrm>
            <a:off x="713232" y="1572768"/>
            <a:ext cx="8778240" cy="822960"/>
          </a:xfrm>
          <a:prstGeom prst="rect">
            <a:avLst/>
          </a:prstGeom>
          <a:noFill/>
        </p:spPr>
        <p:txBody>
          <a:bodyPr wrap="square" lIns="0" rIns="0" tIns="0" bIns="0">
            <a:spAutoFit/>
          </a:bodyPr>
          <a:lstStyle/>
          <a:p>
            <a:pPr algn="l">
              <a:lnSpc>
                <a:spcPct val="140000"/>
              </a:lnSpc>
            </a:pPr>
            <a:r>
              <a:rPr sz="1300" b="0">
                <a:solidFill>
                  <a:srgbClr val="3D5259"/>
                </a:solidFill>
                <a:latin typeface="Segoe UI"/>
              </a:rPr>
              <a:t>Stated openly rather than buried — these determine net margin, and the first is potentially larger than the AI line.</a:t>
            </a:r>
          </a:p>
        </p:txBody>
      </p:sp>
      <p:sp>
        <p:nvSpPr>
          <p:cNvPr id="7" name="Rounded Rectangle 6"/>
          <p:cNvSpPr/>
          <p:nvPr/>
        </p:nvSpPr>
        <p:spPr>
          <a:xfrm>
            <a:off x="713232" y="2423160"/>
            <a:ext cx="5394960" cy="1572768"/>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9264" y="2587752"/>
            <a:ext cx="4882896" cy="228600"/>
          </a:xfrm>
          <a:prstGeom prst="rect">
            <a:avLst/>
          </a:prstGeom>
          <a:noFill/>
        </p:spPr>
        <p:txBody>
          <a:bodyPr wrap="square" lIns="0" rIns="0" tIns="0" bIns="0">
            <a:spAutoFit/>
          </a:bodyPr>
          <a:lstStyle/>
          <a:p>
            <a:pPr algn="l">
              <a:lnSpc>
                <a:spcPct val="125000"/>
              </a:lnSpc>
            </a:pPr>
            <a:r>
              <a:rPr sz="900" b="1" spc="120">
                <a:solidFill>
                  <a:srgbClr val="A32E2E"/>
                </a:solidFill>
                <a:latin typeface="Consolas"/>
              </a:rPr>
              <a:t>LARGEST OMISSION</a:t>
            </a:r>
          </a:p>
        </p:txBody>
      </p:sp>
      <p:sp>
        <p:nvSpPr>
          <p:cNvPr id="9" name="TextBox 8"/>
          <p:cNvSpPr txBox="1"/>
          <p:nvPr/>
        </p:nvSpPr>
        <p:spPr>
          <a:xfrm>
            <a:off x="969264" y="2862072"/>
            <a:ext cx="4882896" cy="292608"/>
          </a:xfrm>
          <a:prstGeom prst="rect">
            <a:avLst/>
          </a:prstGeom>
          <a:noFill/>
        </p:spPr>
        <p:txBody>
          <a:bodyPr wrap="square" lIns="0" rIns="0" tIns="0" bIns="0">
            <a:spAutoFit/>
          </a:bodyPr>
          <a:lstStyle/>
          <a:p>
            <a:pPr algn="l">
              <a:lnSpc>
                <a:spcPct val="125000"/>
              </a:lnSpc>
            </a:pPr>
            <a:r>
              <a:rPr sz="1500" b="1">
                <a:solidFill>
                  <a:srgbClr val="0F1E24"/>
                </a:solidFill>
                <a:latin typeface="Georgia"/>
              </a:rPr>
              <a:t>Meta messaging fees</a:t>
            </a:r>
          </a:p>
        </p:txBody>
      </p:sp>
      <p:sp>
        <p:nvSpPr>
          <p:cNvPr id="10" name="TextBox 9"/>
          <p:cNvSpPr txBox="1"/>
          <p:nvPr/>
        </p:nvSpPr>
        <p:spPr>
          <a:xfrm>
            <a:off x="969264" y="3200400"/>
            <a:ext cx="4882896" cy="731520"/>
          </a:xfrm>
          <a:prstGeom prst="rect">
            <a:avLst/>
          </a:prstGeom>
          <a:noFill/>
        </p:spPr>
        <p:txBody>
          <a:bodyPr wrap="square" lIns="0" rIns="0" tIns="0" bIns="0">
            <a:spAutoFit/>
          </a:bodyPr>
          <a:lstStyle/>
          <a:p>
            <a:pPr algn="l">
              <a:lnSpc>
                <a:spcPct val="128000"/>
              </a:lnSpc>
            </a:pPr>
            <a:r>
              <a:rPr sz="1050" b="0">
                <a:solidFill>
                  <a:srgbClr val="3D5259"/>
                </a:solidFill>
                <a:latin typeface="Segoe UI"/>
              </a:rPr>
              <a:t>WhatsApp bills per conversation by category, independently of AI cost. Customer-initiated service conversations are cheapest; marketing and template sends cost materially more.</a:t>
            </a:r>
          </a:p>
        </p:txBody>
      </p:sp>
      <p:sp>
        <p:nvSpPr>
          <p:cNvPr id="11" name="Rounded Rectangle 10"/>
          <p:cNvSpPr/>
          <p:nvPr/>
        </p:nvSpPr>
        <p:spPr>
          <a:xfrm>
            <a:off x="6364224" y="2423160"/>
            <a:ext cx="5394960" cy="1572768"/>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620256" y="2587752"/>
            <a:ext cx="4882896" cy="228600"/>
          </a:xfrm>
          <a:prstGeom prst="rect">
            <a:avLst/>
          </a:prstGeom>
          <a:noFill/>
        </p:spPr>
        <p:txBody>
          <a:bodyPr wrap="square" lIns="0" rIns="0" tIns="0" bIns="0">
            <a:spAutoFit/>
          </a:bodyPr>
          <a:lstStyle/>
          <a:p>
            <a:pPr algn="l">
              <a:lnSpc>
                <a:spcPct val="125000"/>
              </a:lnSpc>
            </a:pPr>
            <a:r>
              <a:rPr sz="900" b="1" spc="120">
                <a:solidFill>
                  <a:srgbClr val="A45B14"/>
                </a:solidFill>
                <a:latin typeface="Consolas"/>
              </a:rPr>
              <a:t>SCALING CONSTRAINT</a:t>
            </a:r>
          </a:p>
        </p:txBody>
      </p:sp>
      <p:sp>
        <p:nvSpPr>
          <p:cNvPr id="13" name="TextBox 12"/>
          <p:cNvSpPr txBox="1"/>
          <p:nvPr/>
        </p:nvSpPr>
        <p:spPr>
          <a:xfrm>
            <a:off x="6620256" y="2862072"/>
            <a:ext cx="4882896" cy="292608"/>
          </a:xfrm>
          <a:prstGeom prst="rect">
            <a:avLst/>
          </a:prstGeom>
          <a:noFill/>
        </p:spPr>
        <p:txBody>
          <a:bodyPr wrap="square" lIns="0" rIns="0" tIns="0" bIns="0">
            <a:spAutoFit/>
          </a:bodyPr>
          <a:lstStyle/>
          <a:p>
            <a:pPr algn="l">
              <a:lnSpc>
                <a:spcPct val="125000"/>
              </a:lnSpc>
            </a:pPr>
            <a:r>
              <a:rPr sz="1500" b="1">
                <a:solidFill>
                  <a:srgbClr val="0F1E24"/>
                </a:solidFill>
                <a:latin typeface="Georgia"/>
              </a:rPr>
              <a:t>Voice pipeline replicas</a:t>
            </a:r>
          </a:p>
        </p:txBody>
      </p:sp>
      <p:sp>
        <p:nvSpPr>
          <p:cNvPr id="14" name="TextBox 13"/>
          <p:cNvSpPr txBox="1"/>
          <p:nvPr/>
        </p:nvSpPr>
        <p:spPr>
          <a:xfrm>
            <a:off x="6620256" y="3200400"/>
            <a:ext cx="4882896" cy="731520"/>
          </a:xfrm>
          <a:prstGeom prst="rect">
            <a:avLst/>
          </a:prstGeom>
          <a:noFill/>
        </p:spPr>
        <p:txBody>
          <a:bodyPr wrap="square" lIns="0" rIns="0" tIns="0" bIns="0">
            <a:spAutoFit/>
          </a:bodyPr>
          <a:lstStyle/>
          <a:p>
            <a:pPr algn="l">
              <a:lnSpc>
                <a:spcPct val="128000"/>
              </a:lnSpc>
            </a:pPr>
            <a:r>
              <a:rPr sz="1050" b="0">
                <a:solidFill>
                  <a:srgbClr val="3D5259"/>
                </a:solidFill>
                <a:latin typeface="Segoe UI"/>
              </a:rPr>
              <a:t>The voice service is limited to one instance by its embedded data store. Text channels scale horizontally today; lifting this is scoped work, not an unknown.</a:t>
            </a:r>
          </a:p>
        </p:txBody>
      </p:sp>
      <p:sp>
        <p:nvSpPr>
          <p:cNvPr id="15" name="Rounded Rectangle 14"/>
          <p:cNvSpPr/>
          <p:nvPr/>
        </p:nvSpPr>
        <p:spPr>
          <a:xfrm>
            <a:off x="713232" y="4197096"/>
            <a:ext cx="5394960" cy="1572768"/>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69264" y="4361688"/>
            <a:ext cx="4882896" cy="228600"/>
          </a:xfrm>
          <a:prstGeom prst="rect">
            <a:avLst/>
          </a:prstGeom>
          <a:noFill/>
        </p:spPr>
        <p:txBody>
          <a:bodyPr wrap="square" lIns="0" rIns="0" tIns="0" bIns="0">
            <a:spAutoFit/>
          </a:bodyPr>
          <a:lstStyle/>
          <a:p>
            <a:pPr algn="l">
              <a:lnSpc>
                <a:spcPct val="125000"/>
              </a:lnSpc>
            </a:pPr>
            <a:r>
              <a:rPr sz="900" b="1" spc="120">
                <a:solidFill>
                  <a:srgbClr val="1F7A4D"/>
                </a:solidFill>
                <a:latin typeface="Consolas"/>
              </a:rPr>
              <a:t>IN PROGRESS</a:t>
            </a:r>
          </a:p>
        </p:txBody>
      </p:sp>
      <p:sp>
        <p:nvSpPr>
          <p:cNvPr id="17" name="TextBox 16"/>
          <p:cNvSpPr txBox="1"/>
          <p:nvPr/>
        </p:nvSpPr>
        <p:spPr>
          <a:xfrm>
            <a:off x="969264" y="4636008"/>
            <a:ext cx="4882896" cy="292608"/>
          </a:xfrm>
          <a:prstGeom prst="rect">
            <a:avLst/>
          </a:prstGeom>
          <a:noFill/>
        </p:spPr>
        <p:txBody>
          <a:bodyPr wrap="square" lIns="0" rIns="0" tIns="0" bIns="0">
            <a:spAutoFit/>
          </a:bodyPr>
          <a:lstStyle/>
          <a:p>
            <a:pPr algn="l">
              <a:lnSpc>
                <a:spcPct val="125000"/>
              </a:lnSpc>
            </a:pPr>
            <a:r>
              <a:rPr sz="1500" b="1">
                <a:solidFill>
                  <a:srgbClr val="0F1E24"/>
                </a:solidFill>
                <a:latin typeface="Georgia"/>
              </a:rPr>
              <a:t>Usage measurement</a:t>
            </a:r>
          </a:p>
        </p:txBody>
      </p:sp>
      <p:sp>
        <p:nvSpPr>
          <p:cNvPr id="18" name="TextBox 17"/>
          <p:cNvSpPr txBox="1"/>
          <p:nvPr/>
        </p:nvSpPr>
        <p:spPr>
          <a:xfrm>
            <a:off x="969264" y="4974336"/>
            <a:ext cx="4882896" cy="731520"/>
          </a:xfrm>
          <a:prstGeom prst="rect">
            <a:avLst/>
          </a:prstGeom>
          <a:noFill/>
        </p:spPr>
        <p:txBody>
          <a:bodyPr wrap="square" lIns="0" rIns="0" tIns="0" bIns="0">
            <a:spAutoFit/>
          </a:bodyPr>
          <a:lstStyle/>
          <a:p>
            <a:pPr algn="l">
              <a:lnSpc>
                <a:spcPct val="128000"/>
              </a:lnSpc>
            </a:pPr>
            <a:r>
              <a:rPr sz="1050" b="0">
                <a:solidFill>
                  <a:srgbClr val="3D5259"/>
                </a:solidFill>
                <a:latin typeface="Segoe UI"/>
              </a:rPr>
              <a:t>Per-call token accounting is being added. Every figure here derives from prompt structure and typical message sizes; production traffic will replace estimate with measurement.</a:t>
            </a:r>
          </a:p>
        </p:txBody>
      </p:sp>
      <p:sp>
        <p:nvSpPr>
          <p:cNvPr id="19" name="Rounded Rectangle 18"/>
          <p:cNvSpPr/>
          <p:nvPr/>
        </p:nvSpPr>
        <p:spPr>
          <a:xfrm>
            <a:off x="6364224" y="4197096"/>
            <a:ext cx="5394960" cy="1572768"/>
          </a:xfrm>
          <a:prstGeom prst="roundRect">
            <a:avLst>
              <a:gd name="adj" fmla="val 4000"/>
            </a:avLst>
          </a:prstGeom>
          <a:solidFill>
            <a:srgbClr val="FFFFFF"/>
          </a:solidFill>
          <a:ln w="9525">
            <a:solidFill>
              <a:srgbClr val="D8E2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20256" y="4361688"/>
            <a:ext cx="4882896" cy="228600"/>
          </a:xfrm>
          <a:prstGeom prst="rect">
            <a:avLst/>
          </a:prstGeom>
          <a:noFill/>
        </p:spPr>
        <p:txBody>
          <a:bodyPr wrap="square" lIns="0" rIns="0" tIns="0" bIns="0">
            <a:spAutoFit/>
          </a:bodyPr>
          <a:lstStyle/>
          <a:p>
            <a:pPr algn="l">
              <a:lnSpc>
                <a:spcPct val="125000"/>
              </a:lnSpc>
            </a:pPr>
            <a:r>
              <a:rPr sz="900" b="1" spc="120">
                <a:solidFill>
                  <a:srgbClr val="1F7A4D"/>
                </a:solidFill>
                <a:latin typeface="Consolas"/>
              </a:rPr>
              <a:t>VOLUME-DRIVEN</a:t>
            </a:r>
          </a:p>
        </p:txBody>
      </p:sp>
      <p:sp>
        <p:nvSpPr>
          <p:cNvPr id="21" name="TextBox 20"/>
          <p:cNvSpPr txBox="1"/>
          <p:nvPr/>
        </p:nvSpPr>
        <p:spPr>
          <a:xfrm>
            <a:off x="6620256" y="4636008"/>
            <a:ext cx="4882896" cy="292608"/>
          </a:xfrm>
          <a:prstGeom prst="rect">
            <a:avLst/>
          </a:prstGeom>
          <a:noFill/>
        </p:spPr>
        <p:txBody>
          <a:bodyPr wrap="square" lIns="0" rIns="0" tIns="0" bIns="0">
            <a:spAutoFit/>
          </a:bodyPr>
          <a:lstStyle/>
          <a:p>
            <a:pPr algn="l">
              <a:lnSpc>
                <a:spcPct val="125000"/>
              </a:lnSpc>
            </a:pPr>
            <a:r>
              <a:rPr sz="1500" b="1">
                <a:solidFill>
                  <a:srgbClr val="0F1E24"/>
                </a:solidFill>
                <a:latin typeface="Georgia"/>
              </a:rPr>
              <a:t>Human review capacity</a:t>
            </a:r>
          </a:p>
        </p:txBody>
      </p:sp>
      <p:sp>
        <p:nvSpPr>
          <p:cNvPr id="22" name="TextBox 21"/>
          <p:cNvSpPr txBox="1"/>
          <p:nvPr/>
        </p:nvSpPr>
        <p:spPr>
          <a:xfrm>
            <a:off x="6620256" y="4974336"/>
            <a:ext cx="4882896" cy="731520"/>
          </a:xfrm>
          <a:prstGeom prst="rect">
            <a:avLst/>
          </a:prstGeom>
          <a:noFill/>
        </p:spPr>
        <p:txBody>
          <a:bodyPr wrap="square" lIns="0" rIns="0" tIns="0" bIns="0">
            <a:spAutoFit/>
          </a:bodyPr>
          <a:lstStyle/>
          <a:p>
            <a:pPr algn="l">
              <a:lnSpc>
                <a:spcPct val="128000"/>
              </a:lnSpc>
            </a:pPr>
            <a:r>
              <a:rPr sz="1050" b="0">
                <a:solidFill>
                  <a:srgbClr val="3D5259"/>
                </a:solidFill>
                <a:latin typeface="Segoe UI"/>
              </a:rPr>
              <a:t>The platform hands a conversation to a person when the AI escalates. A staffing cost sized by escalation rate, falling as each knowledge base matures.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777240"/>
            <a:ext cx="8229600" cy="457200"/>
          </a:xfrm>
          <a:prstGeom prst="rect">
            <a:avLst/>
          </a:prstGeom>
          <a:noFill/>
        </p:spPr>
        <p:txBody>
          <a:bodyPr wrap="square" lIns="0" rIns="0" tIns="0" bIns="0">
            <a:spAutoFit/>
          </a:bodyPr>
          <a:lstStyle/>
          <a:p>
            <a:pPr algn="l">
              <a:lnSpc>
                <a:spcPct val="125000"/>
              </a:lnSpc>
            </a:pPr>
            <a:r>
              <a:rPr sz="1300" b="0" spc="150">
                <a:solidFill>
                  <a:srgbClr val="4FBFA0"/>
                </a:solidFill>
                <a:latin typeface="Consolas"/>
              </a:rPr>
              <a:t>BASIS OF PREPARATION</a:t>
            </a:r>
          </a:p>
        </p:txBody>
      </p:sp>
      <p:sp>
        <p:nvSpPr>
          <p:cNvPr id="4" name="TextBox 3"/>
          <p:cNvSpPr txBox="1"/>
          <p:nvPr/>
        </p:nvSpPr>
        <p:spPr>
          <a:xfrm>
            <a:off x="713232" y="1600200"/>
            <a:ext cx="2743200" cy="320040"/>
          </a:xfrm>
          <a:prstGeom prst="rect">
            <a:avLst/>
          </a:prstGeom>
          <a:noFill/>
        </p:spPr>
        <p:txBody>
          <a:bodyPr wrap="square" lIns="0" rIns="0" tIns="0" bIns="0">
            <a:spAutoFit/>
          </a:bodyPr>
          <a:lstStyle/>
          <a:p>
            <a:pPr algn="l">
              <a:lnSpc>
                <a:spcPct val="125000"/>
              </a:lnSpc>
            </a:pPr>
            <a:r>
              <a:rPr sz="1500" b="1">
                <a:solidFill>
                  <a:srgbClr val="FFFFFF"/>
                </a:solidFill>
                <a:latin typeface="Georgia"/>
              </a:rPr>
              <a:t>Cost model</a:t>
            </a:r>
          </a:p>
        </p:txBody>
      </p:sp>
      <p:sp>
        <p:nvSpPr>
          <p:cNvPr id="5" name="TextBox 4"/>
          <p:cNvSpPr txBox="1"/>
          <p:nvPr/>
        </p:nvSpPr>
        <p:spPr>
          <a:xfrm>
            <a:off x="3730752" y="1600200"/>
            <a:ext cx="7772400" cy="1371600"/>
          </a:xfrm>
          <a:prstGeom prst="rect">
            <a:avLst/>
          </a:prstGeom>
          <a:noFill/>
        </p:spPr>
        <p:txBody>
          <a:bodyPr wrap="square" lIns="0" rIns="0" tIns="0" bIns="0">
            <a:spAutoFit/>
          </a:bodyPr>
          <a:lstStyle/>
          <a:p>
            <a:pPr algn="l">
              <a:lnSpc>
                <a:spcPct val="140000"/>
              </a:lnSpc>
            </a:pPr>
            <a:r>
              <a:rPr sz="1150" b="0">
                <a:solidFill>
                  <a:srgbClr val="A9BFC3"/>
                </a:solidFill>
                <a:latin typeface="Segoe UI"/>
              </a:rPr>
              <a:t>Model rates are published list prices for Gemini 2.5 Flash-Lite, Gemini 2.5 Flash and Groq Llama 3.3 70B. Token counts per message are derived from the production prompt structure — system instructions, captured customer facts, retrieved reference data and a bounded history window — across the three-call pipeline. Volume is assumed at 15,000 inbound customer messages per client per month.</a:t>
            </a:r>
          </a:p>
        </p:txBody>
      </p:sp>
      <p:sp>
        <p:nvSpPr>
          <p:cNvPr id="6" name="TextBox 5"/>
          <p:cNvSpPr txBox="1"/>
          <p:nvPr/>
        </p:nvSpPr>
        <p:spPr>
          <a:xfrm>
            <a:off x="713232" y="3172968"/>
            <a:ext cx="2743200" cy="320040"/>
          </a:xfrm>
          <a:prstGeom prst="rect">
            <a:avLst/>
          </a:prstGeom>
          <a:noFill/>
        </p:spPr>
        <p:txBody>
          <a:bodyPr wrap="square" lIns="0" rIns="0" tIns="0" bIns="0">
            <a:spAutoFit/>
          </a:bodyPr>
          <a:lstStyle/>
          <a:p>
            <a:pPr algn="l">
              <a:lnSpc>
                <a:spcPct val="125000"/>
              </a:lnSpc>
            </a:pPr>
            <a:r>
              <a:rPr sz="1500" b="1">
                <a:solidFill>
                  <a:srgbClr val="FFFFFF"/>
                </a:solidFill>
                <a:latin typeface="Georgia"/>
              </a:rPr>
              <a:t>Hardware figures</a:t>
            </a:r>
          </a:p>
        </p:txBody>
      </p:sp>
      <p:sp>
        <p:nvSpPr>
          <p:cNvPr id="7" name="TextBox 6"/>
          <p:cNvSpPr txBox="1"/>
          <p:nvPr/>
        </p:nvSpPr>
        <p:spPr>
          <a:xfrm>
            <a:off x="3730752" y="3172968"/>
            <a:ext cx="7772400" cy="1371600"/>
          </a:xfrm>
          <a:prstGeom prst="rect">
            <a:avLst/>
          </a:prstGeom>
          <a:noFill/>
        </p:spPr>
        <p:txBody>
          <a:bodyPr wrap="square" lIns="0" rIns="0" tIns="0" bIns="0">
            <a:spAutoFit/>
          </a:bodyPr>
          <a:lstStyle/>
          <a:p>
            <a:pPr algn="l">
              <a:lnSpc>
                <a:spcPct val="140000"/>
              </a:lnSpc>
            </a:pPr>
            <a:r>
              <a:rPr sz="1150" b="0">
                <a:solidFill>
                  <a:srgbClr val="A9BFC3"/>
                </a:solidFill>
                <a:latin typeface="Segoe UI"/>
              </a:rPr>
              <a:t>Rented GPU rates reflect on-demand pricing from competitive providers at $0.75/hr for L4 24GB and $1.50/hr for A100 80GB. Throughput and client capacity are engineering estimates at 60% sustainable utilisation, not benchmarks. Owned-hardware capital excludes Pakistani import duty; electricity is costed at PKR 45 per kWh with a 25% uplift for cooling, assuming uninterrupted supply.</a:t>
            </a:r>
          </a:p>
        </p:txBody>
      </p:sp>
      <p:sp>
        <p:nvSpPr>
          <p:cNvPr id="8" name="TextBox 7"/>
          <p:cNvSpPr txBox="1"/>
          <p:nvPr/>
        </p:nvSpPr>
        <p:spPr>
          <a:xfrm>
            <a:off x="713232" y="4745736"/>
            <a:ext cx="2743200" cy="320040"/>
          </a:xfrm>
          <a:prstGeom prst="rect">
            <a:avLst/>
          </a:prstGeom>
          <a:noFill/>
        </p:spPr>
        <p:txBody>
          <a:bodyPr wrap="square" lIns="0" rIns="0" tIns="0" bIns="0">
            <a:spAutoFit/>
          </a:bodyPr>
          <a:lstStyle/>
          <a:p>
            <a:pPr algn="l">
              <a:lnSpc>
                <a:spcPct val="125000"/>
              </a:lnSpc>
            </a:pPr>
            <a:r>
              <a:rPr sz="1500" b="1">
                <a:solidFill>
                  <a:srgbClr val="FFFFFF"/>
                </a:solidFill>
                <a:latin typeface="Georgia"/>
              </a:rPr>
              <a:t>Commercial figures</a:t>
            </a:r>
          </a:p>
        </p:txBody>
      </p:sp>
      <p:sp>
        <p:nvSpPr>
          <p:cNvPr id="9" name="TextBox 8"/>
          <p:cNvSpPr txBox="1"/>
          <p:nvPr/>
        </p:nvSpPr>
        <p:spPr>
          <a:xfrm>
            <a:off x="3730752" y="4745736"/>
            <a:ext cx="7772400" cy="1371600"/>
          </a:xfrm>
          <a:prstGeom prst="rect">
            <a:avLst/>
          </a:prstGeom>
          <a:noFill/>
        </p:spPr>
        <p:txBody>
          <a:bodyPr wrap="square" lIns="0" rIns="0" tIns="0" bIns="0">
            <a:spAutoFit/>
          </a:bodyPr>
          <a:lstStyle/>
          <a:p>
            <a:pPr algn="l">
              <a:lnSpc>
                <a:spcPct val="140000"/>
              </a:lnSpc>
            </a:pPr>
            <a:r>
              <a:rPr sz="1150" b="0">
                <a:solidFill>
                  <a:srgbClr val="A9BFC3"/>
                </a:solidFill>
                <a:latin typeface="Segoe UI"/>
              </a:rPr>
              <a:t>Plan prices and the $99 blended ARPU are illustrative and set commercially. Gross margin is stated on infrastructure only; Meta messaging fees, payment processing, staffing, sales and marketing sit below that line. Currency converted at 280 PKR to the US dollar. Server cost of PKR 60,000 per year reflects current infrastructure, scaled linearly beyond 30 clients.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